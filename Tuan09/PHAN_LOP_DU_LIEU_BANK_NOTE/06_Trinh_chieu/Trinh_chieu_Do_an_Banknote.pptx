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109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Dataset list and project setup: /mnt/data/final_prjoject.pdf
- Dataset description: /mnt/data/DoAn_CoSoTriTueNhanTao_Banknote/02_Du_lieu/01_Dataset_da_chon_banknote/banknote_authentication.names
- Title image: https://images.unsplash.com/photo-1609152490680-74583ad665b3 (downloaded from turn0image0)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Workflow adapted from /mnt/data/[BOOK] Machine Learning Mastery With Python Understand Your Data Create Accurate Models and Work Projects End-To-End.pdf
- Assignment requirements from /mnt/data/final_prjoject.pdf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Dataset description and features: /mnt/data/DoAn_CoSoTriTueNhanTao_Banknote/02_Du_lieu/01_Dataset_da_chon_banknote/banknote_authentication.names
- Dataset size and duplicate removal: /mnt/data/FinalProject_Banknote_Classification_Updated_Executed.ipynb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EDA outputs and charts: /mnt/data/FinalProject_Banknote_Classification_Updated_Executed.ipynb
- Heatmap image: /mnt/data/DoAn_CoSoTriTueNhanTao_Banknote/07_Ket_qua/01_Hinh_anh/heatmap_tuong_quan.png
- Class distribution image: /mnt/data/DoAn_CoSoTriTueNhanTao_Banknote/07_Ket_qua/01_Hinh_anh/phan_bo_lop_muc_tieu.png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Assignment requirement for split, CV and algorithms: /mnt/data/final_prjoject.pdf
- Experiment implementation: /mnt/data/FinalProject_Banknote_Classification_Updated_Executed.ipynb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Baseline results table: /mnt/data/DoAn_CoSoTriTueNhanTao_Banknote/07_Ket_qua/02_Bang_bieu/bang_ket_qua_baseline_day_du.csv
- Accuracy chart: /mnt/data/DoAn_CoSoTriTueNhanTao_Banknote/07_Ket_qua/01_Hinh_anh/so_sanh_test_accuracy_baseline.png
- AUC chart: /mnt/data/DoAn_CoSoTriTueNhanTao_Banknote/07_Ket_qua/01_Hinh_anh/so_sanh_test_auc_baseline.png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Top-2 tables by metric: /mnt/data/DoAn_CoSoTriTueNhanTao_Banknote/07_Ket_qua/02_Bang_bieu/top2_theo_accuracy.csv and related CSV files
- Final candidate comparison: /mnt/data/DoAn_CoSoTriTueNhanTao_Banknote/07_Ket_qua/02_Bang_bieu/so_sanh_cac_mo_hinh_tot_nhat_sau_tuning.csv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KNN tuning results: /mnt/data/DoAn_CoSoTriTueNhanTao_Banknote/07_Ket_qua/02_Bang_bieu/ket_qua_tuning_knn.csv and danh_gia_knn_toi_uu_tren_test.csv
- SVM tuning results: /mnt/data/DoAn_CoSoTriTueNhanTao_Banknote/07_Ket_qua/02_Bang_bieu/ket_qua_tuning_svm.csv and danh_gia_svm_toi_uu_tren_test.csv
- Candidate comparison chart: /mnt/data/DoAn_CoSoTriTueNhanTao_Banknote/07_Ket_qua/01_Hinh_anh/so_sanh_ung_vien_sau_tuning.png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Final candidate scores: /mnt/data/DoAn_CoSoTriTueNhanTao_Banknote/07_Ket_qua/02_Bang_bieu/bang_diem_cuoi_cung_cua_cac_mo_hinh_ung_vien.csv
- Confusion matrix image: /mnt/data/DoAn_CoSoTriTueNhanTao_Banknote/07_Ket_qua/01_Hinh_anh/confusion_matrix_mo_hinh_cuoi_cung.png
- ROC image: /mnt/data/DoAn_CoSoTriTueNhanTao_Banknote/07_Ket_qua/01_Hinh_anh/roc_curve_mo_hinh_cuoi_cung.png
- Classification report and saved model: /mnt/data/DoAn_CoSoTriTueNhanTao_Banknote/07_Ket_qua/02_Bang_bieu/classification_report_mo_hinh_cuoi_cung.txt and /mnt/data/DoAn_CoSoTriTueNhanTao_Banknote/07_Ket_qua/03_Mo_hinh/best_model_banknote.pkl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Conclusions synthesized from: /mnt/data/FinalProject_Banknote_Classification_Updated_Executed.ipynb
- Final metrics: /mnt/data/DoAn_CoSoTriTueNhanTao_Banknote/07_Ket_qua/02_Bang_bieu/bang_diem_cuoi_cung_cua_cac_mo_hinh_ung_vien.csv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KNOTE_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Note Authentication · Artificial Intelligence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itle_bg_bankn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804672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 ÁN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SỞ TRÍ TUỆ NHÂN TẠO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713232" y="224028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lớp dữ liệu Bank Note Authentication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31520" y="29077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với scikit-learn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thuật toán baseline · 5-fold CV · Tuning KNN &amp; SVM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3749040"/>
            <a:ext cx="2423160" cy="329184"/>
          </a:xfrm>
          <a:prstGeom prst="roundRect">
            <a:avLst>
              <a:gd name="adj" fmla="val 13889"/>
            </a:avLst>
          </a:prstGeom>
          <a:solidFill>
            <a:srgbClr val="DDF7F4"/>
          </a:solidFill>
          <a:ln w="12700">
            <a:solidFill>
              <a:srgbClr val="BFE9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38130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được chọn: banknote_authentication.csv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48006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1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viên: </a:t>
            </a:r>
            <a:r>
              <a:rPr lang="en-US" sz="14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TS.Đỗ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Như Tài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Khoa/Bộ môn: Công </a:t>
            </a:r>
            <a:r>
              <a:rPr lang="en-US" sz="14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Nghệ</a:t>
            </a: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Thông Tin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5943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SGU / Học </a:t>
            </a:r>
            <a:r>
              <a:rPr lang="en-US" sz="1100" i="1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kỳ</a:t>
            </a: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 / 2025-2026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4343400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129284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777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00200" y="78638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Bám theo luồng end-to-end của một dự án machine learning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98448" y="1508760"/>
            <a:ext cx="0" cy="4297680"/>
          </a:xfrm>
          <a:prstGeom prst="line">
            <a:avLst/>
          </a:prstGeom>
          <a:noFill/>
          <a:ln w="25400">
            <a:solidFill>
              <a:srgbClr val="C7ED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24712" y="1389888"/>
            <a:ext cx="347472" cy="347472"/>
          </a:xfrm>
          <a:prstGeom prst="ellipse">
            <a:avLst/>
          </a:prstGeom>
          <a:solidFill>
            <a:srgbClr val="DDF7F4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3258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&amp; mục tiêu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24712" y="2304288"/>
            <a:ext cx="347472" cy="347472"/>
          </a:xfrm>
          <a:prstGeom prst="ellipse">
            <a:avLst/>
          </a:prstGeom>
          <a:solidFill>
            <a:srgbClr val="DDF7F4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2402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&amp; EDA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24712" y="3218688"/>
            <a:ext cx="347472" cy="347472"/>
          </a:xfrm>
          <a:prstGeom prst="ellipse">
            <a:avLst/>
          </a:prstGeom>
          <a:solidFill>
            <a:srgbClr val="DDF7F4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thực nghiệm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24712" y="413308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0690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baseline &amp; tuning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124712" y="5047488"/>
            <a:ext cx="347472" cy="347472"/>
          </a:xfrm>
          <a:prstGeom prst="ellipse">
            <a:avLst/>
          </a:prstGeom>
          <a:solidFill>
            <a:srgbClr val="DDF7F4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4983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9834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1554480"/>
            <a:ext cx="466344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Trọng tâm của bài trình bày là so sánh 10 thuật toán phân lớp trên cùng một bộ dữ liệu, sau đó tối ưu 2 mô hình tiêu biểu và chọn mô hình cuối cùng theo hiệu năng thực tế trên tập test.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37960" y="3703320"/>
            <a:ext cx="1389888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6E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37960" y="389534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70/30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11112" y="425196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split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65008" y="3703320"/>
            <a:ext cx="1389888" cy="10515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D6E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65008" y="389534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138160" y="425196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validation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92056" y="3703320"/>
            <a:ext cx="1389888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6E7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92056" y="389534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metrics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665208" y="425196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 · Prec · Recall · F1 · AUC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5257800"/>
            <a:ext cx="4754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cuối cùng: chọn mô hình có độ chính xác cao, ổn định theo nhiều metric và đủ dễ giải thích để trình bày trong báo cáo.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29284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0BD9056-C2B9-D6C7-BEAF-79A126C50E74}"/>
              </a:ext>
            </a:extLst>
          </p:cNvPr>
          <p:cNvSpPr/>
          <p:nvPr/>
        </p:nvSpPr>
        <p:spPr>
          <a:xfrm>
            <a:off x="0" y="2347361"/>
            <a:ext cx="12192000" cy="207665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40080" y="31089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và mục tiêu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777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00200" y="78638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biệt tiền thật/giả từ 4 đặc trưng trích xuất bằng Wavelet Transform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65836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đầu vào là một bộ dữ liệu tabular gồm các đặc trưng số của ảnh banknote. Mục tiêu là dự đoán biến mục tiêu "class" (0/1) và so sánh hiệu năng của nhiều thuật toán classification trong scikit-learn.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đặc trưng đầu vào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7432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skewness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curtosis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đo đánh giá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49040" y="2788920"/>
            <a:ext cx="228600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thực nghiệm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788920"/>
            <a:ext cx="43891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10 mô hình baseline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tác động của tiền xử lý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KNN và SVM</a:t>
            </a:r>
            <a:endParaRPr lang="en-US" sz="17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mô hình cuối cùng cho test set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5349240"/>
            <a:ext cx="2240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8E5">
                <a:alpha val="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5532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1248" y="58704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mẫu ban đầu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20440" y="5349240"/>
            <a:ext cx="2240280" cy="9144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D7E8E5">
                <a:alpha val="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0440" y="5532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30168" y="58704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bị loại bỏ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5349240"/>
            <a:ext cx="2240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8E5">
                <a:alpha val="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5532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1348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19088" y="58704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mẫu sau làm sạch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280" y="5349240"/>
            <a:ext cx="2240280" cy="9144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D7E8E5">
                <a:alpha val="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98280" y="5532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08008" y="58704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 toán baseline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29284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và EDA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777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00200" y="78638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missing values, duplicate, cân bằng lớp và tương quan đặc trưng</a:t>
            </a:r>
            <a:endParaRPr lang="en-US" sz="1100" dirty="0"/>
          </a:p>
        </p:txBody>
      </p:sp>
      <p:pic>
        <p:nvPicPr>
          <p:cNvPr id="5" name="Image 0" descr="/mnt/data/DoAn_CoSoTriTueNhanTao_Banknote/07_Ket_qua/01_Hinh_anh/heatmap_tuong_qu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502" y="1325880"/>
            <a:ext cx="4409835" cy="3429000"/>
          </a:xfrm>
          <a:prstGeom prst="rect">
            <a:avLst/>
          </a:prstGeom>
        </p:spPr>
      </p:pic>
      <p:pic>
        <p:nvPicPr>
          <p:cNvPr id="6" name="Image 1" descr="/mnt/data/DoAn_CoSoTriTueNhanTao_Banknote/07_Ket_qua/01_Hinh_anh/phan_bo_lop_muc_tie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962" y="1417320"/>
            <a:ext cx="3425157" cy="2240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508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xét chính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355080" y="4160520"/>
            <a:ext cx="50749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missing values; dữ liệu thuận lợi cho mô hình scikit-learn.</a:t>
            </a:r>
            <a:endParaRPr lang="en-US" sz="15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hiện 24 dòng trùng lặp và loại bỏ trước khi chia train/test.</a:t>
            </a:r>
            <a:endParaRPr lang="en-US" sz="15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bố lớp khá cân bằng: lớp 0 = 54.75%, lớp 1 = 45.25%.</a:t>
            </a:r>
            <a:endParaRPr lang="en-US" sz="15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tương quan âm mạnh với class; skewness và curtosis có quan hệ chặt với nhau.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749808" y="5074920"/>
            <a:ext cx="521208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DE5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14400" y="5321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tiền xử lý: giữ lại 3 biến thể để so sánh công bằng — raw, MinMaxScaler và StandardScaler.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129284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6827532-6570-8C01-63D2-FCAB6D7B56FC}"/>
              </a:ext>
            </a:extLst>
          </p:cNvPr>
          <p:cNvSpPr/>
          <p:nvPr/>
        </p:nvSpPr>
        <p:spPr>
          <a:xfrm>
            <a:off x="0" y="3610917"/>
            <a:ext cx="12192000" cy="2131996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40080" y="31089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thực nghiệm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777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00200" y="78638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hiện đúng yêu cầu: random_state = 42, train/test = 70/30, CV = 5-fold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97480" y="2039112"/>
            <a:ext cx="292608" cy="347472"/>
          </a:xfrm>
          <a:prstGeom prst="chevron">
            <a:avLst/>
          </a:prstGeom>
          <a:solidFill>
            <a:srgbClr val="B6E6E1"/>
          </a:solidFill>
          <a:ln w="12700">
            <a:solidFill>
              <a:srgbClr val="B6E6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56048" y="2039112"/>
            <a:ext cx="292608" cy="347472"/>
          </a:xfrm>
          <a:prstGeom prst="chevron">
            <a:avLst/>
          </a:prstGeom>
          <a:solidFill>
            <a:srgbClr val="B6E6E1"/>
          </a:solidFill>
          <a:ln w="12700">
            <a:solidFill>
              <a:srgbClr val="B6E6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14616" y="2039112"/>
            <a:ext cx="292608" cy="347472"/>
          </a:xfrm>
          <a:prstGeom prst="chevron">
            <a:avLst/>
          </a:prstGeom>
          <a:solidFill>
            <a:srgbClr val="B6E6E1"/>
          </a:solidFill>
          <a:ln w="12700">
            <a:solidFill>
              <a:srgbClr val="B6E6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473184" y="2039112"/>
            <a:ext cx="292608" cy="347472"/>
          </a:xfrm>
          <a:prstGeom prst="chevron">
            <a:avLst/>
          </a:prstGeom>
          <a:solidFill>
            <a:srgbClr val="B6E6E1"/>
          </a:solidFill>
          <a:ln w="12700">
            <a:solidFill>
              <a:srgbClr val="B6E6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1783080"/>
            <a:ext cx="1874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E3"/>
            </a:solidFill>
            <a:prstDash val="solid"/>
          </a:ln>
          <a:effectLst>
            <a:outerShdw blurRad="1778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9264" y="190195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Load &amp; clean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69264" y="229514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dữ liệu, gán tên cột, loại duplicate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081528" y="1783080"/>
            <a:ext cx="1874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E3"/>
            </a:solidFill>
            <a:prstDash val="solid"/>
          </a:ln>
          <a:effectLst>
            <a:outerShdw blurRad="1778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27832" y="190195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Train/Test split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3227832" y="229514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train · 30% test · stratify · seed 42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340096" y="1783080"/>
            <a:ext cx="1874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E3"/>
            </a:solidFill>
            <a:prstDash val="solid"/>
          </a:ln>
          <a:effectLst>
            <a:outerShdw blurRad="1778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0" y="190195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5-fold CV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5486400" y="229514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trên train set bằng StratifiedKFold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7598664" y="1783080"/>
            <a:ext cx="1874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5E3"/>
            </a:solidFill>
            <a:prstDash val="solid"/>
          </a:ln>
          <a:effectLst>
            <a:outerShdw blurRad="1778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44968" y="190195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10 baseline models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744968" y="229514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mô hình chạy với raw / minmax / standard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9857232" y="1783080"/>
            <a:ext cx="1874520" cy="86868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F766E"/>
            </a:solidFill>
            <a:prstDash val="solid"/>
          </a:ln>
          <a:effectLst>
            <a:outerShdw blurRad="1778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03536" y="190195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Tuning &amp; final test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0003536" y="229514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cho KNN, SVM và đánh giá cuối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77724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thuật toán baseline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" y="41605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97480" y="41605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AdaBoost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lập đánh giá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00800" y="4114800"/>
            <a:ext cx="466344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metrics: Accuracy, Precision, Recall, F1, AUC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metrics: Accuracy, Precision, Recall, F1, AUC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train: 943 mẫu · tập test: 405 mẫu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công bằng trên cùng một cách chia dữ liệu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29284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baseline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777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00200" y="78638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hiệu năng của 10 mô hình dưới 3 cách tiền xử lý</a:t>
            </a:r>
            <a:endParaRPr lang="en-US" sz="1100" dirty="0"/>
          </a:p>
        </p:txBody>
      </p:sp>
      <p:pic>
        <p:nvPicPr>
          <p:cNvPr id="5" name="Image 0" descr="/mnt/data/DoAn_CoSoTriTueNhanTao_Banknote/07_Ket_qua/01_Hinh_anh/so_sanh_test_accuracy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36467"/>
            <a:ext cx="5486400" cy="2482147"/>
          </a:xfrm>
          <a:prstGeom prst="rect">
            <a:avLst/>
          </a:prstGeom>
        </p:spPr>
      </p:pic>
      <p:pic>
        <p:nvPicPr>
          <p:cNvPr id="6" name="Image 1" descr="/mnt/data/DoAn_CoSoTriTueNhanTao_Banknote/07_Ket_qua/01_Hinh_anh/so_sanh_test_auc_bas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008863"/>
            <a:ext cx="5166360" cy="233735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9808" y="525780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32688" y="546811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nổi bật: GradientBoosting đạt Accuracy = AUC = 1.00 ở cả 3 biến thể; MLP cũng đạt Accuracy/F1 = 1.00 trên dữ liệu raw; NaiveBayes là mô hình yếu nhất trong bộ so sánh này.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129284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mô hình nổi bật theo từng metric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777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00200" y="78638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metric nào cũng cho cùng một kết luận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 theo từng metric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64208"/>
            <a:ext cx="5257800" cy="420624"/>
          </a:xfrm>
          <a:prstGeom prst="rect">
            <a:avLst/>
          </a:prstGeom>
          <a:solidFill>
            <a:srgbClr val="0F766E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17739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29968" y="177393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77640" y="1773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57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5856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29968" y="22585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(raw)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77640" y="2258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GradientBoosting (raw)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2633472"/>
            <a:ext cx="5257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" y="27432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29968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(raw)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77640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GradientBoosting (raw)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3118104"/>
            <a:ext cx="5257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" y="32278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029968" y="322783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AdaBoost (raw)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977640" y="3227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GradientBoosting (raw)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31520" y="3602736"/>
            <a:ext cx="5257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" y="3712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029968" y="371246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(raw)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977640" y="3712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GradientBoosting (raw)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31520" y="4087368"/>
            <a:ext cx="5257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1248" y="41970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029968" y="41970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(raw)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977640" y="4197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GradientBoosting (raw)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35508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viên cuối sau tuning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55080" y="1664208"/>
            <a:ext cx="507492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64808" y="1801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9418320" y="18013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10332720" y="18013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6355080" y="2194560"/>
            <a:ext cx="5074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64808" y="2331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GradientBoosting (raw)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9418320" y="23317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1.0000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10332720" y="23317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1.0000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6355080" y="2724912"/>
            <a:ext cx="5074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64808" y="2862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SVM (standard)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9418320" y="28620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1.0000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10332720" y="28620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1.0000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6355080" y="3255264"/>
            <a:ext cx="5074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64808" y="33924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KNN (standard)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9418320" y="339242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0.9975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10332720" y="339242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0.9977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6355080" y="4041648"/>
            <a:ext cx="5074920" cy="11887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D8E9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565392" y="4315968"/>
            <a:ext cx="46634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chính: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GradientBoosting xuất hiện trong tất cả các bảng top-2, nên là mô hình ổn định nhất. MLP rất mạnh trên raw data nhưng không giữ ưu thế trên mọi metric; KNN nổi bật ở AUC.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1129284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siêu tham số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777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00200" y="78638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vào 2 mô hình nhạy với scale và có tiềm năng cải thiện rõ: KNN và SVM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298448"/>
            <a:ext cx="53492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5087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tối ưu (StandardScaler + GridSearchCV)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47548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params: n_neighbors = 3, weights = distance, metric = euclidean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CV score = 0.9979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Accuracy = 0.9975, AUC = 0.9977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36792" y="1298448"/>
            <a:ext cx="5074920" cy="18745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D7E6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47104" y="1508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tối ưu (StandardScaler + GridSearchCV)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47104" y="1828800"/>
            <a:ext cx="45262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params: C = 10, kernel = rbf, gamma = scale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CV score = 1.0000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Accuracy = 1.0000, AUC = 1.0000</a:t>
            </a:r>
            <a:endParaRPr lang="en-US" sz="1550" dirty="0"/>
          </a:p>
        </p:txBody>
      </p:sp>
      <p:pic>
        <p:nvPicPr>
          <p:cNvPr id="11" name="Image 0" descr="/mnt/data/DoAn_CoSoTriTueNhanTao_Banknote/07_Ket_qua/01_Hinh_anh/so_sanh_ung_vien_sau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094" y="3611880"/>
            <a:ext cx="3123333" cy="2286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6053328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giúp SVM vươn lên ngang với mô hình baseline tốt nhất; KNN cải thiện nhẹ nhưng vẫn thấp hơn 2 ứng viên còn lại.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129284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cuối cùng và kiểm thử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777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00200" y="78638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GradientBoosting (raw) được chọn vì đạt điểm tuyệt đối mà không cần thêm preprocessing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234440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= Precision = Recall = F1 = AUC = 1.00   ·   Confusion matrix: [[222, 0], [0, 183]]   ·   Test set = 405 mẫu</a:t>
            </a:r>
            <a:endParaRPr lang="en-US" sz="1600" dirty="0"/>
          </a:p>
        </p:txBody>
      </p:sp>
      <p:pic>
        <p:nvPicPr>
          <p:cNvPr id="7" name="Image 0" descr="/mnt/data/DoAn_CoSoTriTueNhanTao_Banknote/07_Ket_qua/01_Hinh_anh/confusion_matrix_mo_hinh_cuoi_c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723" y="1965960"/>
            <a:ext cx="4530275" cy="3840480"/>
          </a:xfrm>
          <a:prstGeom prst="rect">
            <a:avLst/>
          </a:prstGeom>
        </p:spPr>
      </p:pic>
      <p:pic>
        <p:nvPicPr>
          <p:cNvPr id="8" name="Image 1" descr="/mnt/data/DoAn_CoSoTriTueNhanTao_Banknote/07_Ket_qua/01_Hinh_anh/roc_curve_mo_hinh_cuoi_c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662" y="1965960"/>
            <a:ext cx="3885756" cy="384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5998464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do chọn mô hình: Tuned SVM có điểm tương đương, nhưng GradientBoosting trên raw data đơn giản hơn trong pipeline và đã đạt hiệu năng tối đa trên test set.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129284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và hướng phát triển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7772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00200" y="78638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cho thấy bộ dữ liệu này rất phù hợp với các mô hình tree-based và margin-based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kết luận chính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1783080"/>
            <a:ext cx="64922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72768" y="1947672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dữ liệu sạch và dễ phân tách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72768" y="225856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missing values, lệch lớp không lớn; sau khi loại duplicate, hầu hết mô hình mạnh đều đạt kết quả rất cao.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749808" y="3136392"/>
            <a:ext cx="6492240" cy="1024128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D7E6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72768" y="3300984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GradientBoosting là lựa chọn tối ưu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572768" y="36118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đạt điểm tuyệt đối trên tập test, đồng thời không cần thêm bước chuẩn hóa trong pipeline.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749808" y="4489704"/>
            <a:ext cx="64922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736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72768" y="4654296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hữu ích nhưng không luôn cần thiết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72768" y="496519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sau tuning đạt ngang với mô hình tốt nhất; KNN cải thiện ít hơn, cho thấy preprocessing và tuning phụ thuộc từng thuật toán.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7726680" y="1600200"/>
            <a:ext cx="3566160" cy="18288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BAEA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09560" y="1874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119872" y="254203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GradientBoosting (raw)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tập test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2668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 tiếp theo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26680" y="4315968"/>
            <a:ext cx="36576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Thử nested cross-validation để đánh giá chắc hơn.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thêm calibration, SHAP/feature importance và tính ổn định theo random split.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gói pipeline thành file dự đoán cho dữ liệu mới.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726680" y="5897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cảm ơn!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129284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2222</Words>
  <Application>Microsoft Office PowerPoint</Application>
  <PresentationFormat>Widescreen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 Cơ sở Trí tuệ Nhân tạo - Bank Note Authentication</dc:title>
  <dc:subject>Cơ sở Trí tuệ Nhân tạo - Bank Note Authentication</dc:subject>
  <dc:creator>OpenAI</dc:creator>
  <cp:lastModifiedBy>Nguyễn Khải Hoàn Ca</cp:lastModifiedBy>
  <cp:revision>3</cp:revision>
  <dcterms:created xsi:type="dcterms:W3CDTF">2026-04-04T16:57:46Z</dcterms:created>
  <dcterms:modified xsi:type="dcterms:W3CDTF">2026-04-05T16:19:19Z</dcterms:modified>
</cp:coreProperties>
</file>