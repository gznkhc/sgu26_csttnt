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512064"/>
            <a:ext cx="2834640" cy="310896"/>
          </a:xfrm>
          <a:prstGeom prst="roundRect">
            <a:avLst/>
          </a:prstGeom>
          <a:solidFill>
            <a:srgbClr val="1F2C52"/>
          </a:solidFill>
          <a:ln w="12700">
            <a:solidFill>
              <a:srgbClr val="1F2C5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53949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E6FF"/>
                </a:solidFill>
              </a:rPr>
              <a:t>LAB 07 • MACHINE LEARNING CLASSIFICATION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13232" y="1051560"/>
            <a:ext cx="5303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lớp dữ liệu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bệnh tiểu đường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Pima Indians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F3"/>
                </a:solidFill>
              </a:rPr>
              <a:t>Cơ sở Trí tuệ Nhân tạo • Báo cáo thực nghiệm trên bộ dữ liệu y tế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54406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2DCF7"/>
                </a:solidFill>
              </a:rPr>
              <a:t>GVHD: TS. Đỗ Như Tài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2DCF7"/>
                </a:solidFill>
              </a:rPr>
              <a:t>Nhóm thực hiện: Lê Nguyễn Anh Bảo • Trần Tiến Phát • Nguyễn Khải Hoàn Ca • Hoàng Phước Hậu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473952" y="640080"/>
            <a:ext cx="4937760" cy="525780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lab07_extracted/results/figures/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48" y="1119571"/>
            <a:ext cx="4315968" cy="365873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0" y="5084064"/>
            <a:ext cx="4206240" cy="566928"/>
          </a:xfrm>
          <a:prstGeom prst="roundRect">
            <a:avLst/>
          </a:prstGeom>
          <a:solidFill>
            <a:srgbClr val="4F7CFF"/>
          </a:solidFill>
          <a:ln w="12700">
            <a:solidFill>
              <a:srgbClr val="4F7C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67728" y="5193792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768 mẫu • 8 thuộc tính • Bài toán nhị phân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toán &amp; phạm vi thực nghiệm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Nhìn nhanh vào mục tiêu, dữ liệu và các câu hỏi nghiên cứu chính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024128"/>
            <a:ext cx="960120" cy="0"/>
          </a:xfrm>
          <a:prstGeom prst="line">
            <a:avLst/>
          </a:prstGeom>
          <a:noFill/>
          <a:ln w="12700">
            <a:solidFill>
              <a:srgbClr val="4F7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3"/>
                </a:solidFill>
              </a:rPr>
              <a:t>Mục tiêu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9808" y="1865376"/>
            <a:ext cx="91440" cy="91440"/>
          </a:xfrm>
          <a:prstGeom prst="ellipse">
            <a:avLst/>
          </a:prstGeom>
          <a:solidFill>
            <a:srgbClr val="25C7C8"/>
          </a:solidFill>
          <a:ln w="12700">
            <a:solidFill>
              <a:srgbClr val="25C7C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55648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162033"/>
                </a:solidFill>
              </a:rPr>
              <a:t>Xây dựng mô hình dự đoán bệnh tiểu đường từ 8 thuộc tính lâm sàng.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749808" y="2395728"/>
            <a:ext cx="91440" cy="91440"/>
          </a:xfrm>
          <a:prstGeom prst="ellipse">
            <a:avLst/>
          </a:prstGeom>
          <a:solidFill>
            <a:srgbClr val="25C7C8"/>
          </a:solidFill>
          <a:ln w="12700">
            <a:solidFill>
              <a:srgbClr val="25C7C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2286000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162033"/>
                </a:solidFill>
              </a:rPr>
              <a:t>So sánh 6 mô hình baseline trên dữ liệu raw, Min-Max và Standard.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749808" y="2926080"/>
            <a:ext cx="91440" cy="91440"/>
          </a:xfrm>
          <a:prstGeom prst="ellipse">
            <a:avLst/>
          </a:prstGeom>
          <a:solidFill>
            <a:srgbClr val="25C7C8"/>
          </a:solidFill>
          <a:ln w="12700">
            <a:solidFill>
              <a:srgbClr val="25C7C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2816352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162033"/>
                </a:solidFill>
              </a:rPr>
              <a:t>Tuning KNN và SVM để tìm cấu hình hiệu quả nhất trên tập test.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713232" y="379476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0416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3"/>
                </a:solidFill>
              </a:rPr>
              <a:t>Câu hỏi nghiên cứu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34340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Chuẩn hóa nào phù hợp hơn với dữ liệu Pima?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Thuật toán nào ổn định nhất giữa Accuracy, Recall và AUC?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Tuning có cải thiện chất lượng dự đoán hay không?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1444752"/>
            <a:ext cx="1417320" cy="1005840"/>
          </a:xfrm>
          <a:prstGeom prst="roundRect">
            <a:avLst/>
          </a:prstGeom>
          <a:solidFill>
            <a:srgbClr val="4F7CFF"/>
          </a:solidFill>
          <a:ln w="12700">
            <a:solidFill>
              <a:srgbClr val="4F7C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1609344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768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65392" y="201168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F"/>
                </a:solidFill>
              </a:rPr>
              <a:t>mẫu dữ liệu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73568" y="1444752"/>
            <a:ext cx="1417320" cy="1005840"/>
          </a:xfrm>
          <a:prstGeom prst="roundRect">
            <a:avLst/>
          </a:prstGeom>
          <a:solidFill>
            <a:srgbClr val="25C7C8"/>
          </a:solidFill>
          <a:ln w="12700">
            <a:solidFill>
              <a:srgbClr val="25C7C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1609344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38160" y="201168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F"/>
                </a:solidFill>
              </a:rPr>
              <a:t>thuộc tính đầu vào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46336" y="1444752"/>
            <a:ext cx="1737360" cy="1005840"/>
          </a:xfrm>
          <a:prstGeom prst="roundRect">
            <a:avLst/>
          </a:prstGeom>
          <a:solidFill>
            <a:srgbClr val="FF7B5C"/>
          </a:solidFill>
          <a:ln w="12700">
            <a:solidFill>
              <a:srgbClr val="FF7B5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10928" y="160934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70/30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710928" y="2011680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F"/>
                </a:solidFill>
              </a:rPr>
              <a:t>train / test split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55080" y="2697480"/>
            <a:ext cx="5074920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pic>
        <p:nvPicPr>
          <p:cNvPr id="25" name="Image 0" descr="/mnt/data/lab07_extracted/results/figures/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3112652"/>
            <a:ext cx="3520440" cy="2187176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10241280" y="2926080"/>
            <a:ext cx="960120" cy="2560320"/>
          </a:xfrm>
          <a:prstGeom prst="roundRect">
            <a:avLst>
              <a:gd name="adj" fmla="val 7619"/>
            </a:avLst>
          </a:prstGeom>
          <a:solidFill>
            <a:srgbClr val="F7FAFF"/>
          </a:solidFill>
          <a:ln w="12700">
            <a:solidFill>
              <a:srgbClr val="E2E8F3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387584" y="32461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033"/>
                </a:solidFill>
              </a:rPr>
              <a:t>500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0259568" y="35844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Outcome = 0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10369296" y="4005072"/>
            <a:ext cx="694944" cy="0"/>
          </a:xfrm>
          <a:prstGeom prst="line">
            <a:avLst/>
          </a:prstGeom>
          <a:noFill/>
          <a:ln w="12700">
            <a:solidFill>
              <a:srgbClr val="D5DC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387584" y="42062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033"/>
                </a:solidFill>
              </a:rPr>
              <a:t>268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10259568" y="45445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Outcome = 1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565392" y="5559552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667085"/>
                </a:solidFill>
              </a:rPr>
              <a:t>Dữ liệu mất cân bằng nhẹ, vì vậy Accuracy không đủ để kết luận mô hình tốt.</a:t>
            </a:r>
            <a:endParaRPr lang="en-US" sz="11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2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 dữ liệu ban đầu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cho thấy dữ liệu có tín hiệu tốt nhưng cần tiền xử lý cẩn thận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024128"/>
            <a:ext cx="960120" cy="0"/>
          </a:xfrm>
          <a:prstGeom prst="line">
            <a:avLst/>
          </a:prstGeom>
          <a:noFill/>
          <a:ln w="12700">
            <a:solidFill>
              <a:srgbClr val="25C7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60807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pic>
        <p:nvPicPr>
          <p:cNvPr id="6" name="Image 0" descr="/mnt/data/lab07_extracted/results/figures/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9784" y="1627632"/>
            <a:ext cx="4508784" cy="3822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548640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Glucose có tương quan mạnh nhất với Outcome (≈ 0.47), tiếp theo là BMI và Age.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7040880" y="141732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pic>
        <p:nvPicPr>
          <p:cNvPr id="9" name="Image 1" descr="/mnt/data/lab07_extracted/results/figures/class_dis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851950"/>
            <a:ext cx="1691640" cy="105098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281160" y="1417320"/>
            <a:ext cx="226771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9482328" y="16642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3"/>
                </a:solidFill>
              </a:rPr>
              <a:t>Giá trị 0 bất hợp lý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665208" y="1993392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Insulin: 374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SkinThickness: 227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BloodPressure: 35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BMI: 11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Glucose: 5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040880" y="3657600"/>
            <a:ext cx="450799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/mnt/data/lab07_extracted/results/figures/feature_boxplo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7171" y="3858768"/>
            <a:ext cx="2653699" cy="1508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69480" y="546811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0" dirty="0">
                <a:solidFill>
                  <a:srgbClr val="667085"/>
                </a:solidFill>
              </a:rPr>
              <a:t>Boxplot xác nhận nhiều ngoại lệ và chênh lệch thang đo — đặc biệt ở Insulin, Glucose và BMI.</a:t>
            </a:r>
            <a:endParaRPr lang="en-US" sz="10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trình thực nghiệm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Phong cách triển khai tuần tự: làm sạch dữ liệu → huấn luyện → tuning → đánh giá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024128"/>
            <a:ext cx="960120" cy="0"/>
          </a:xfrm>
          <a:prstGeom prst="line">
            <a:avLst/>
          </a:prstGeom>
          <a:noFill/>
          <a:ln w="12700">
            <a:solidFill>
              <a:srgbClr val="4F7C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57400"/>
            <a:ext cx="18288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C7C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203704"/>
            <a:ext cx="365760" cy="365760"/>
          </a:xfrm>
          <a:prstGeom prst="ellipse">
            <a:avLst/>
          </a:prstGeom>
          <a:solidFill>
            <a:srgbClr val="25C7C8"/>
          </a:solidFill>
          <a:ln w="12700">
            <a:solidFill>
              <a:srgbClr val="25C7C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2585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21854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3"/>
                </a:solidFill>
              </a:rPr>
              <a:t>Làm sạch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2587752"/>
            <a:ext cx="14996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Đổi các giá trị 0 bất hợp lý thành NaN ở 5 cột y khoa.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44368" y="2057400"/>
            <a:ext cx="18288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7CFF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90672" y="2203704"/>
            <a:ext cx="365760" cy="365760"/>
          </a:xfrm>
          <a:prstGeom prst="ellipse">
            <a:avLst/>
          </a:prstGeom>
          <a:solidFill>
            <a:srgbClr val="4F7CFF"/>
          </a:solidFill>
          <a:ln w="12700">
            <a:solidFill>
              <a:srgbClr val="4F7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22585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38728" y="21854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3"/>
                </a:solidFill>
              </a:rPr>
              <a:t>Điền khuyết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08960" y="2587752"/>
            <a:ext cx="14996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Median imputation để giảm tác động của nhiễu và ngoại lệ.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57216" y="2057400"/>
            <a:ext cx="18288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7B5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0" y="2203704"/>
            <a:ext cx="365760" cy="365760"/>
          </a:xfrm>
          <a:prstGeom prst="ellipse">
            <a:avLst/>
          </a:prstGeom>
          <a:solidFill>
            <a:srgbClr val="FF7B5C"/>
          </a:solidFill>
          <a:ln w="12700">
            <a:solidFill>
              <a:srgbClr val="FF7B5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2585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51576" y="21854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3"/>
                </a:solidFill>
              </a:rPr>
              <a:t>Chuẩn hóa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21808" y="2587752"/>
            <a:ext cx="14996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So sánh 3 kịch bản: raw, Min-Max và Standard.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70064" y="2057400"/>
            <a:ext cx="18288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C857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16368" y="2203704"/>
            <a:ext cx="365760" cy="36576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22585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64424" y="21854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3"/>
                </a:solidFill>
              </a:rPr>
              <a:t>Huấn luyện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34656" y="2587752"/>
            <a:ext cx="14996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Hold-out 70/30 và Stratified 10-Fold CV trên train.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582912" y="2057400"/>
            <a:ext cx="18288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CB7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29216" y="2203704"/>
            <a:ext cx="365760" cy="365760"/>
          </a:xfrm>
          <a:prstGeom prst="ellipse">
            <a:avLst/>
          </a:prstGeom>
          <a:solidFill>
            <a:srgbClr val="3ACB7A"/>
          </a:solidFill>
          <a:ln w="12700">
            <a:solidFill>
              <a:srgbClr val="3ACB7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29216" y="22585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177272" y="21854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3"/>
                </a:solidFill>
              </a:rPr>
              <a:t>Tuning &amp; test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47504" y="2587752"/>
            <a:ext cx="14996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GridSearchCV cho KNN và SVM, sau đó đánh giá trên test.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" y="4590288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24128" y="4828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3"/>
                </a:solidFill>
              </a:rPr>
              <a:t>6 mô hình baseline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24128" y="5138928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Logistic Regression • LDA • KNN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Decision Tree • GaussianNB • SVM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73168" y="459028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92624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3"/>
                </a:solidFill>
              </a:rPr>
              <a:t>Độ đo đánh giá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992624" y="51389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Accuracy • Precision • Recall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F1-score • ROC-AUC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62672" y="4590288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EEF7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882128" y="4828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3"/>
                </a:solidFill>
              </a:rPr>
              <a:t>Trọng tâm của bài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882128" y="51389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Tác động của tiền xử lý lên chất lượng dự đoán, đặc biệt với KNN và SVM.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 baseline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sánh 6 mô hình trên 3 kiểu tiền xử lý để tìm cấu hình nền tốt nhất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024128"/>
            <a:ext cx="960120" cy="0"/>
          </a:xfrm>
          <a:prstGeom prst="line">
            <a:avLst/>
          </a:prstGeom>
          <a:noFill/>
          <a:ln w="12700">
            <a:solidFill>
              <a:srgbClr val="4F7C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66294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pic>
        <p:nvPicPr>
          <p:cNvPr id="6" name="Image 0" descr="/mnt/data/lab07_extracted/results/figures/baseline_accuracy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39769"/>
            <a:ext cx="6217920" cy="30893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832" y="5715000"/>
            <a:ext cx="6016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Biểu đồ cho thấy KNN và SVM nhạy với chuẩn hóa, trong khi Logistic Regression khá ổn định qua các kịch bản.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7479792" y="1417320"/>
            <a:ext cx="4041648" cy="4983480"/>
          </a:xfrm>
          <a:prstGeom prst="roundRect">
            <a:avLst>
              <a:gd name="adj" fmla="val 18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35824" y="17373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3"/>
                </a:solidFill>
              </a:rPr>
              <a:t>Điểm rút ra nhanh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17536" y="2194560"/>
            <a:ext cx="91440" cy="91440"/>
          </a:xfrm>
          <a:prstGeom prst="ellipse">
            <a:avLst/>
          </a:prstGeom>
          <a:solidFill>
            <a:srgbClr val="FF7B5C"/>
          </a:solidFill>
          <a:ln w="12700">
            <a:solidFill>
              <a:srgbClr val="FF7B5C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72984" y="2084832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162033"/>
                </a:solidFill>
              </a:rPr>
              <a:t>Logistic Regression (raw/standard) đạt 74.46% test accuracy và AUC cao nhất trong nhóm baseline.</a:t>
            </a:r>
            <a:endParaRPr lang="en-US" sz="1310" dirty="0"/>
          </a:p>
        </p:txBody>
      </p:sp>
      <p:sp>
        <p:nvSpPr>
          <p:cNvPr id="12" name="Shape 9"/>
          <p:cNvSpPr/>
          <p:nvPr/>
        </p:nvSpPr>
        <p:spPr>
          <a:xfrm>
            <a:off x="7717536" y="2980944"/>
            <a:ext cx="91440" cy="91440"/>
          </a:xfrm>
          <a:prstGeom prst="ellipse">
            <a:avLst/>
          </a:prstGeom>
          <a:solidFill>
            <a:srgbClr val="FF7B5C"/>
          </a:solidFill>
          <a:ln w="12700">
            <a:solidFill>
              <a:srgbClr val="FF7B5C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72984" y="2871216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162033"/>
                </a:solidFill>
              </a:rPr>
              <a:t>KNN tăng từ 70.13% (raw) lên 74.46% khi dùng StandardScaler — mức cải thiện rõ rệt nhất.</a:t>
            </a:r>
            <a:endParaRPr lang="en-US" sz="1310" dirty="0"/>
          </a:p>
        </p:txBody>
      </p:sp>
      <p:sp>
        <p:nvSpPr>
          <p:cNvPr id="14" name="Shape 11"/>
          <p:cNvSpPr/>
          <p:nvPr/>
        </p:nvSpPr>
        <p:spPr>
          <a:xfrm>
            <a:off x="7717536" y="3767328"/>
            <a:ext cx="91440" cy="91440"/>
          </a:xfrm>
          <a:prstGeom prst="ellipse">
            <a:avLst/>
          </a:prstGeom>
          <a:solidFill>
            <a:srgbClr val="FF7B5C"/>
          </a:solidFill>
          <a:ln w="12700">
            <a:solidFill>
              <a:srgbClr val="FF7B5C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72984" y="3657600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162033"/>
                </a:solidFill>
              </a:rPr>
              <a:t>Decision Tree là mô hình yếu nhất: chỉ 69.26% accuracy trên test.</a:t>
            </a:r>
            <a:endParaRPr lang="en-US" sz="1310" dirty="0"/>
          </a:p>
        </p:txBody>
      </p:sp>
      <p:sp>
        <p:nvSpPr>
          <p:cNvPr id="16" name="Shape 13"/>
          <p:cNvSpPr/>
          <p:nvPr/>
        </p:nvSpPr>
        <p:spPr>
          <a:xfrm>
            <a:off x="7699248" y="4553712"/>
            <a:ext cx="3584448" cy="1417320"/>
          </a:xfrm>
          <a:prstGeom prst="roundRect">
            <a:avLst>
              <a:gd name="adj" fmla="val 5161"/>
            </a:avLst>
          </a:prstGeom>
          <a:solidFill>
            <a:srgbClr val="F8FAFF"/>
          </a:solidFill>
          <a:ln w="12700">
            <a:solidFill>
              <a:srgbClr val="E2E8F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36992" y="479145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667085"/>
                </a:solidFill>
              </a:rPr>
              <a:t>Baseline tốt nhất được chọn để so với mô hình tuned: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7936992" y="5102352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7CFF"/>
                </a:solidFill>
              </a:rPr>
              <a:t>Logistic Regression (standard)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4F7CFF"/>
                </a:solidFill>
              </a:rPr>
              <a:t>Accuracy 74.46% • AUC 83.63%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Tối ưu siêu tham số: KNN vs SVM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Hai mô hình được tuning bằng GridSearchCV trên pipeline đã impute + standardize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024128"/>
            <a:ext cx="960120" cy="0"/>
          </a:xfrm>
          <a:prstGeom prst="line">
            <a:avLst/>
          </a:prstGeom>
          <a:noFill/>
          <a:ln w="12700">
            <a:solidFill>
              <a:srgbClr val="25C7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44752"/>
            <a:ext cx="3493008" cy="4526280"/>
          </a:xfrm>
          <a:prstGeom prst="roundRect">
            <a:avLst>
              <a:gd name="adj" fmla="val 2094"/>
            </a:avLst>
          </a:prstGeom>
          <a:solidFill>
            <a:srgbClr val="182749"/>
          </a:solidFill>
          <a:ln w="12700">
            <a:solidFill>
              <a:srgbClr val="2B446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7556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KNN (standard)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32688" y="2048256"/>
            <a:ext cx="1572768" cy="310896"/>
          </a:xfrm>
          <a:prstGeom prst="roundRect">
            <a:avLst/>
          </a:prstGeom>
          <a:solidFill>
            <a:srgbClr val="25C7C8"/>
          </a:solidFill>
          <a:ln w="12700">
            <a:solidFill>
              <a:srgbClr val="25C7C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07568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730"/>
                </a:solidFill>
              </a:rPr>
              <a:t>Best CV score 76.73%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54203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FF"/>
                </a:solidFill>
              </a:rPr>
              <a:t>Best params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F"/>
                </a:solidFill>
              </a:rPr>
              <a:t>• n_neighbors = 11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F"/>
                </a:solidFill>
              </a:rPr>
              <a:t>• weights = uniform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F"/>
                </a:solidFill>
              </a:rPr>
              <a:t>• metric = euclidean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32688" y="37673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3776472"/>
            <a:ext cx="1280160" cy="146304"/>
          </a:xfrm>
          <a:prstGeom prst="roundRect">
            <a:avLst/>
          </a:prstGeom>
          <a:solidFill>
            <a:srgbClr val="263557"/>
          </a:solidFill>
          <a:ln w="12700">
            <a:solidFill>
              <a:srgbClr val="3B4F7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3776472"/>
            <a:ext cx="958735" cy="146304"/>
          </a:xfrm>
          <a:prstGeom prst="roundRect">
            <a:avLst/>
          </a:prstGeom>
          <a:solidFill>
            <a:srgbClr val="25C7C8"/>
          </a:solidFill>
          <a:ln w="12700">
            <a:solidFill>
              <a:srgbClr val="25C7C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72160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74.89%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32688" y="41330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F"/>
                </a:solidFill>
              </a:rPr>
              <a:t>Recall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03120" y="4142232"/>
            <a:ext cx="1280160" cy="146304"/>
          </a:xfrm>
          <a:prstGeom prst="roundRect">
            <a:avLst/>
          </a:prstGeom>
          <a:solidFill>
            <a:srgbClr val="263557"/>
          </a:solidFill>
          <a:ln w="12700">
            <a:solidFill>
              <a:srgbClr val="3B4F7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4142232"/>
            <a:ext cx="711201" cy="146304"/>
          </a:xfrm>
          <a:prstGeom prst="roundRect">
            <a:avLst/>
          </a:prstGeom>
          <a:solidFill>
            <a:srgbClr val="25C7C8"/>
          </a:solidFill>
          <a:ln w="12700">
            <a:solidFill>
              <a:srgbClr val="25C7C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408736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55.56%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32688" y="44988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F"/>
                </a:solidFill>
              </a:rPr>
              <a:t>F1-score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03120" y="4507992"/>
            <a:ext cx="1280160" cy="146304"/>
          </a:xfrm>
          <a:prstGeom prst="roundRect">
            <a:avLst/>
          </a:prstGeom>
          <a:solidFill>
            <a:srgbClr val="263557"/>
          </a:solidFill>
          <a:ln w="12700">
            <a:solidFill>
              <a:srgbClr val="3B4F7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03120" y="4507992"/>
            <a:ext cx="778476" cy="146304"/>
          </a:xfrm>
          <a:prstGeom prst="roundRect">
            <a:avLst/>
          </a:prstGeom>
          <a:solidFill>
            <a:srgbClr val="25C7C8"/>
          </a:solidFill>
          <a:ln w="12700">
            <a:solidFill>
              <a:srgbClr val="25C7C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44531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60.81%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32688" y="48646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F"/>
                </a:solidFill>
              </a:rPr>
              <a:t>AUC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03120" y="4873752"/>
            <a:ext cx="1280160" cy="146304"/>
          </a:xfrm>
          <a:prstGeom prst="roundRect">
            <a:avLst/>
          </a:prstGeom>
          <a:solidFill>
            <a:srgbClr val="263557"/>
          </a:solidFill>
          <a:ln w="12700">
            <a:solidFill>
              <a:srgbClr val="3B4F7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03120" y="4873752"/>
            <a:ext cx="1042304" cy="146304"/>
          </a:xfrm>
          <a:prstGeom prst="roundRect">
            <a:avLst/>
          </a:prstGeom>
          <a:solidFill>
            <a:srgbClr val="25C7C8"/>
          </a:solidFill>
          <a:ln w="12700">
            <a:solidFill>
              <a:srgbClr val="25C7C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48188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81.42%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32688" y="532180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D6E2FF"/>
                </a:solidFill>
              </a:rPr>
              <a:t>KNN thắng về Accuracy, Recall và F1 trên tập test.</a:t>
            </a:r>
            <a:endParaRPr lang="en-US" sz="1110" dirty="0"/>
          </a:p>
        </p:txBody>
      </p:sp>
      <p:sp>
        <p:nvSpPr>
          <p:cNvPr id="27" name="Shape 25"/>
          <p:cNvSpPr/>
          <p:nvPr/>
        </p:nvSpPr>
        <p:spPr>
          <a:xfrm>
            <a:off x="4352544" y="1444752"/>
            <a:ext cx="3493008" cy="4526280"/>
          </a:xfrm>
          <a:prstGeom prst="roundRect">
            <a:avLst>
              <a:gd name="adj" fmla="val 2094"/>
            </a:avLst>
          </a:prstGeom>
          <a:solidFill>
            <a:srgbClr val="182749"/>
          </a:solidFill>
          <a:ln w="12700">
            <a:solidFill>
              <a:srgbClr val="2B446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0" y="17556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SVM (standard)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572000" y="2048256"/>
            <a:ext cx="1572768" cy="310896"/>
          </a:xfrm>
          <a:prstGeom prst="roundRect">
            <a:avLst/>
          </a:prstGeom>
          <a:solidFill>
            <a:srgbClr val="FF7B5C"/>
          </a:solidFill>
          <a:ln w="12700">
            <a:solidFill>
              <a:srgbClr val="FF7B5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07568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Best CV score 78.39%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0" y="254203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FF"/>
                </a:solidFill>
              </a:rPr>
              <a:t>Best params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F"/>
                </a:solidFill>
              </a:rPr>
              <a:t>• C =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F"/>
                </a:solidFill>
              </a:rPr>
              <a:t>• kernel = linear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F"/>
                </a:solidFill>
              </a:rPr>
              <a:t>• gamma = scale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0" y="37673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42432" y="3776472"/>
            <a:ext cx="1280160" cy="146304"/>
          </a:xfrm>
          <a:prstGeom prst="roundRect">
            <a:avLst/>
          </a:prstGeom>
          <a:solidFill>
            <a:srgbClr val="263557"/>
          </a:solidFill>
          <a:ln w="12700">
            <a:solidFill>
              <a:srgbClr val="3B4F7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42432" y="3776472"/>
            <a:ext cx="931026" cy="146304"/>
          </a:xfrm>
          <a:prstGeom prst="roundRect">
            <a:avLst/>
          </a:prstGeom>
          <a:solidFill>
            <a:srgbClr val="FF7B5C"/>
          </a:solidFill>
          <a:ln w="12700">
            <a:solidFill>
              <a:srgbClr val="FF7B5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22592" y="372160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72.73%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0" y="41330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F"/>
                </a:solidFill>
              </a:rPr>
              <a:t>Recall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42432" y="4142232"/>
            <a:ext cx="1280160" cy="146304"/>
          </a:xfrm>
          <a:prstGeom prst="roundRect">
            <a:avLst/>
          </a:prstGeom>
          <a:solidFill>
            <a:srgbClr val="263557"/>
          </a:solidFill>
          <a:ln w="12700">
            <a:solidFill>
              <a:srgbClr val="3B4F7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42432" y="4142232"/>
            <a:ext cx="600569" cy="146304"/>
          </a:xfrm>
          <a:prstGeom prst="roundRect">
            <a:avLst/>
          </a:prstGeom>
          <a:solidFill>
            <a:srgbClr val="FF7B5C"/>
          </a:solidFill>
          <a:ln w="12700">
            <a:solidFill>
              <a:srgbClr val="FF7B5C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22592" y="408736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46.91%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0" y="44988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F"/>
                </a:solidFill>
              </a:rPr>
              <a:t>F1-score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42432" y="4507992"/>
            <a:ext cx="1280160" cy="146304"/>
          </a:xfrm>
          <a:prstGeom prst="roundRect">
            <a:avLst/>
          </a:prstGeom>
          <a:solidFill>
            <a:srgbClr val="263557"/>
          </a:solidFill>
          <a:ln w="12700">
            <a:solidFill>
              <a:srgbClr val="3B4F7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42432" y="4507992"/>
            <a:ext cx="699944" cy="146304"/>
          </a:xfrm>
          <a:prstGeom prst="roundRect">
            <a:avLst/>
          </a:prstGeom>
          <a:solidFill>
            <a:srgbClr val="FF7B5C"/>
          </a:solidFill>
          <a:ln w="12700">
            <a:solidFill>
              <a:srgbClr val="FF7B5C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22592" y="44531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54.68%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0" y="48646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F"/>
                </a:solidFill>
              </a:rPr>
              <a:t>AUC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742432" y="4873752"/>
            <a:ext cx="1280160" cy="146304"/>
          </a:xfrm>
          <a:prstGeom prst="roundRect">
            <a:avLst/>
          </a:prstGeom>
          <a:solidFill>
            <a:srgbClr val="263557"/>
          </a:solidFill>
          <a:ln w="12700">
            <a:solidFill>
              <a:srgbClr val="3B4F7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42432" y="4873752"/>
            <a:ext cx="1066062" cy="146304"/>
          </a:xfrm>
          <a:prstGeom prst="roundRect">
            <a:avLst/>
          </a:prstGeom>
          <a:solidFill>
            <a:srgbClr val="FF7B5C"/>
          </a:solidFill>
          <a:ln w="12700">
            <a:solidFill>
              <a:srgbClr val="FF7B5C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22592" y="48188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83.28%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0" y="532180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D6E2FF"/>
                </a:solidFill>
              </a:rPr>
              <a:t>SVM có CV score tốt hơn nhưng tổng thể test thấp hơn KNN.</a:t>
            </a:r>
            <a:endParaRPr lang="en-US" sz="1110" dirty="0"/>
          </a:p>
        </p:txBody>
      </p:sp>
      <p:sp>
        <p:nvSpPr>
          <p:cNvPr id="49" name="Shape 47"/>
          <p:cNvSpPr/>
          <p:nvPr/>
        </p:nvSpPr>
        <p:spPr>
          <a:xfrm>
            <a:off x="8010144" y="1444752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229600" y="17556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3"/>
                </a:solidFill>
              </a:rPr>
              <a:t>So sánh 3 ứng viên cuối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229600" y="23042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Tuned KNN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400032" y="2313432"/>
            <a:ext cx="1243584" cy="146304"/>
          </a:xfrm>
          <a:prstGeom prst="roundRect">
            <a:avLst/>
          </a:prstGeom>
          <a:solidFill>
            <a:srgbClr val="EDF2FA"/>
          </a:solidFill>
          <a:ln w="12700">
            <a:solidFill>
              <a:srgbClr val="E0E6F2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400032" y="2313432"/>
            <a:ext cx="931342" cy="146304"/>
          </a:xfrm>
          <a:prstGeom prst="roundRect">
            <a:avLst/>
          </a:prstGeom>
          <a:solidFill>
            <a:srgbClr val="25C7C8"/>
          </a:solidFill>
          <a:ln w="12700">
            <a:solidFill>
              <a:srgbClr val="25C7C8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643616" y="225856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74.89%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229600" y="26700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Baseline LR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400032" y="2679192"/>
            <a:ext cx="1243584" cy="146304"/>
          </a:xfrm>
          <a:prstGeom prst="roundRect">
            <a:avLst/>
          </a:prstGeom>
          <a:solidFill>
            <a:srgbClr val="EDF2FA"/>
          </a:solidFill>
          <a:ln w="12700">
            <a:solidFill>
              <a:srgbClr val="E0E6F2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400032" y="2679192"/>
            <a:ext cx="925959" cy="146304"/>
          </a:xfrm>
          <a:prstGeom prst="roundRect">
            <a:avLst/>
          </a:prstGeom>
          <a:solidFill>
            <a:srgbClr val="4F7CFF"/>
          </a:solidFill>
          <a:ln w="12700">
            <a:solidFill>
              <a:srgbClr val="4F7CFF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643616" y="26243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74.46%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229600" y="30358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Tuned SVM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400032" y="3044952"/>
            <a:ext cx="1243584" cy="146304"/>
          </a:xfrm>
          <a:prstGeom prst="roundRect">
            <a:avLst/>
          </a:prstGeom>
          <a:solidFill>
            <a:srgbClr val="EDF2FA"/>
          </a:solidFill>
          <a:ln w="12700">
            <a:solidFill>
              <a:srgbClr val="E0E6F2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400032" y="3044952"/>
            <a:ext cx="904425" cy="146304"/>
          </a:xfrm>
          <a:prstGeom prst="roundRect">
            <a:avLst/>
          </a:prstGeom>
          <a:solidFill>
            <a:srgbClr val="FF7B5C"/>
          </a:solidFill>
          <a:ln w="12700">
            <a:solidFill>
              <a:srgbClr val="FF7B5C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643616" y="29900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72.73%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247888" y="365760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67085"/>
                </a:solidFill>
              </a:rPr>
              <a:t>KNN cải thiện +0.43 điểm % accuracy so với baseline tốt nhất, nhưng baseline LR vẫn nhỉnh hơn ở AUC.</a:t>
            </a:r>
            <a:endParaRPr lang="en-US" sz="1220" dirty="0"/>
          </a:p>
        </p:txBody>
      </p:sp>
      <p:sp>
        <p:nvSpPr>
          <p:cNvPr id="64" name="Shape 62"/>
          <p:cNvSpPr/>
          <p:nvPr/>
        </p:nvSpPr>
        <p:spPr>
          <a:xfrm>
            <a:off x="8229600" y="4873752"/>
            <a:ext cx="2834640" cy="566928"/>
          </a:xfrm>
          <a:prstGeom prst="roundRect">
            <a:avLst/>
          </a:prstGeom>
          <a:solidFill>
            <a:srgbClr val="4F7CFF"/>
          </a:solidFill>
          <a:ln w="12700">
            <a:solidFill>
              <a:srgbClr val="4F7CFF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39328" y="498348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Kết luận tuning: chọn KNN để tối đa hóa độ chính xác dự đoán.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Mô hình cuối cùng: Tuned KNN (standard)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Mô hình được chọn theo Accuracy cao nhất; nếu bằng nhau sẽ ưu tiên AUC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024128"/>
            <a:ext cx="960120" cy="0"/>
          </a:xfrm>
          <a:prstGeom prst="line">
            <a:avLst/>
          </a:prstGeom>
          <a:noFill/>
          <a:ln w="12700">
            <a:solidFill>
              <a:srgbClr val="4F7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533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5C7C8"/>
                </a:solidFill>
              </a:rPr>
              <a:t>74.89%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49808" y="17190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Accuracy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68880" y="13533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F7CFF"/>
                </a:solidFill>
              </a:rPr>
              <a:t>55.56%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2468880" y="17190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Recall lớp dương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26280" y="13533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7B5C"/>
                </a:solidFill>
              </a:rPr>
              <a:t>81.42%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26280" y="17190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ROC-AUC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0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2033"/>
                </a:solidFill>
              </a:rPr>
              <a:t>128 / 45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583680" y="17190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TN / TP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2514600"/>
            <a:ext cx="4956048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mnt/data/lab07_extracted/results/figures/final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548" y="2743200"/>
            <a:ext cx="3462544" cy="28346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14400" y="5641848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0" dirty="0">
                <a:solidFill>
                  <a:srgbClr val="667085"/>
                </a:solidFill>
              </a:rPr>
              <a:t>Ma trận nhầm lẫn cho thấy mô hình nhận diện tốt lớp 0, nhưng vẫn bỏ sót 36 ca dương tính (FN).</a:t>
            </a:r>
            <a:endParaRPr lang="en-US" sz="1110" dirty="0"/>
          </a:p>
        </p:txBody>
      </p:sp>
      <p:sp>
        <p:nvSpPr>
          <p:cNvPr id="16" name="Shape 13"/>
          <p:cNvSpPr/>
          <p:nvPr/>
        </p:nvSpPr>
        <p:spPr>
          <a:xfrm>
            <a:off x="5797296" y="2514600"/>
            <a:ext cx="2980944" cy="3611880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pic>
        <p:nvPicPr>
          <p:cNvPr id="17" name="Image 1" descr="/mnt/data/lab07_extracted/results/figures/final_roc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4" y="2853919"/>
            <a:ext cx="2578608" cy="26132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998464" y="564184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Đường ROC giữ AUC &gt; 0.81, cho thấy mô hình vẫn có khả năng tách lớp khá tốt.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8979408" y="2514600"/>
            <a:ext cx="2542032" cy="36118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9217152" y="279806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3"/>
                </a:solidFill>
              </a:rPr>
              <a:t>Diễn giải nhanh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9198864" y="3273552"/>
            <a:ext cx="91440" cy="91440"/>
          </a:xfrm>
          <a:prstGeom prst="ellipse">
            <a:avLst/>
          </a:prstGeom>
          <a:solidFill>
            <a:srgbClr val="25C7C8"/>
          </a:solidFill>
          <a:ln w="12700">
            <a:solidFill>
              <a:srgbClr val="25C7C8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354312" y="3163824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62033"/>
                </a:solidFill>
              </a:rPr>
              <a:t>Precision lớp 1 = 67.16%: khi dự đoán có bệnh thì tương đối đáng tin.</a:t>
            </a:r>
            <a:endParaRPr lang="en-US" sz="1160" dirty="0"/>
          </a:p>
        </p:txBody>
      </p:sp>
      <p:sp>
        <p:nvSpPr>
          <p:cNvPr id="23" name="Shape 19"/>
          <p:cNvSpPr/>
          <p:nvPr/>
        </p:nvSpPr>
        <p:spPr>
          <a:xfrm>
            <a:off x="9198864" y="4059936"/>
            <a:ext cx="91440" cy="91440"/>
          </a:xfrm>
          <a:prstGeom prst="ellipse">
            <a:avLst/>
          </a:prstGeom>
          <a:solidFill>
            <a:srgbClr val="25C7C8"/>
          </a:solidFill>
          <a:ln w="12700">
            <a:solidFill>
              <a:srgbClr val="25C7C8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354312" y="3950208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62033"/>
                </a:solidFill>
              </a:rPr>
              <a:t>Recall lớp 1 = 55.56%: cần cải thiện thêm nếu ưu tiên giảm ca bỏ sót.</a:t>
            </a:r>
            <a:endParaRPr lang="en-US" sz="1160" dirty="0"/>
          </a:p>
        </p:txBody>
      </p:sp>
      <p:sp>
        <p:nvSpPr>
          <p:cNvPr id="25" name="Shape 21"/>
          <p:cNvSpPr/>
          <p:nvPr/>
        </p:nvSpPr>
        <p:spPr>
          <a:xfrm>
            <a:off x="9198864" y="4846320"/>
            <a:ext cx="91440" cy="91440"/>
          </a:xfrm>
          <a:prstGeom prst="ellipse">
            <a:avLst/>
          </a:prstGeom>
          <a:solidFill>
            <a:srgbClr val="25C7C8"/>
          </a:solidFill>
          <a:ln w="12700">
            <a:solidFill>
              <a:srgbClr val="25C7C8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354312" y="4736592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62033"/>
                </a:solidFill>
              </a:rPr>
              <a:t>Mô hình phù hợp làm baseline mạnh cho các bước cải tiến tiếp theo.</a:t>
            </a:r>
            <a:endParaRPr lang="en-US" sz="11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2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luận &amp; hướng phát triển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Tóm tắt điều rút ra từ toàn bộ pipeline thực nghiệm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024128"/>
            <a:ext cx="960120" cy="0"/>
          </a:xfrm>
          <a:prstGeom prst="line">
            <a:avLst/>
          </a:prstGeom>
          <a:noFill/>
          <a:ln w="12700">
            <a:solidFill>
              <a:srgbClr val="25C7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81328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16284C"/>
          </a:solidFill>
          <a:ln w="12700">
            <a:solidFill>
              <a:srgbClr val="2B456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8105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 kết luận chính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2240280"/>
            <a:ext cx="4892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5FF"/>
                </a:solidFill>
              </a:rPr>
              <a:t>✅ Tiền xử lý là yếu tố quyết định — đặc biệt với KNN và SVM.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E5FF"/>
                </a:solidFill>
              </a:rPr>
              <a:t>✅ Logistic Regression ổn định nhất trong nhóm baseline; KNN vượt lên sau tuning.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E5FF"/>
                </a:solidFill>
              </a:rPr>
              <a:t>⚠️ Bộ dữ liệu còn mất cân bằng nhẹ và recall lớp dương chưa cao, nên chưa nên dùng như mô hình chẩn đoán cuối cùng.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87552" y="5138928"/>
            <a:ext cx="3611880" cy="566928"/>
          </a:xfrm>
          <a:prstGeom prst="roundRect">
            <a:avLst/>
          </a:prstGeom>
          <a:solidFill>
            <a:srgbClr val="25C7C8"/>
          </a:solidFill>
          <a:ln w="12700">
            <a:solidFill>
              <a:srgbClr val="25C7C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524865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730"/>
                </a:solidFill>
              </a:rPr>
              <a:t>Mô hình đề xuất hiện tại: Tuned KNN (standard)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73952" y="1481328"/>
            <a:ext cx="5010912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29984" y="1810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3"/>
                </a:solidFill>
              </a:rPr>
              <a:t>Hướng cải tiến tiếp theo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748272" y="2322576"/>
            <a:ext cx="91440" cy="91440"/>
          </a:xfrm>
          <a:prstGeom prst="ellipse">
            <a:avLst/>
          </a:prstGeom>
          <a:solidFill>
            <a:srgbClr val="FF7B5C"/>
          </a:solidFill>
          <a:ln w="12700">
            <a:solidFill>
              <a:srgbClr val="FF7B5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2212848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62033"/>
                </a:solidFill>
              </a:rPr>
              <a:t>Thử class weighting hoặc resampling (SMOTE) để tăng recall lớp dương.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6748272" y="2999232"/>
            <a:ext cx="91440" cy="91440"/>
          </a:xfrm>
          <a:prstGeom prst="ellipse">
            <a:avLst/>
          </a:prstGeom>
          <a:solidFill>
            <a:srgbClr val="FF7B5C"/>
          </a:solidFill>
          <a:ln w="12700">
            <a:solidFill>
              <a:srgbClr val="FF7B5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889504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62033"/>
                </a:solidFill>
              </a:rPr>
              <a:t>Mở rộng tuning cho Logistic Regression / XGBoost / Random Forest.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6748272" y="3675888"/>
            <a:ext cx="91440" cy="91440"/>
          </a:xfrm>
          <a:prstGeom prst="ellipse">
            <a:avLst/>
          </a:prstGeom>
          <a:solidFill>
            <a:srgbClr val="FF7B5C"/>
          </a:solidFill>
          <a:ln w="12700">
            <a:solidFill>
              <a:srgbClr val="FF7B5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3566160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62033"/>
                </a:solidFill>
              </a:rPr>
              <a:t>Thử feature engineering hoặc threshold tuning để cân bằng Precision–Recall.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6748272" y="4352544"/>
            <a:ext cx="91440" cy="91440"/>
          </a:xfrm>
          <a:prstGeom prst="ellipse">
            <a:avLst/>
          </a:prstGeom>
          <a:solidFill>
            <a:srgbClr val="FF7B5C"/>
          </a:solidFill>
          <a:ln w="12700">
            <a:solidFill>
              <a:srgbClr val="FF7B5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4242816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62033"/>
                </a:solidFill>
              </a:rPr>
              <a:t>Đánh giá thêm bằng PR-AUC hoặc chi phí lỗi trong bối cảnh y tế.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6748272" y="52852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7CFF"/>
                </a:solidFill>
              </a:rPr>
              <a:t>Cảm ơn thầy và các bạn đã theo dõi.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60920" y="5650992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Lab 07 • Pima Indians Diabetes Classification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07 - Phân lớp dữ liệu bệnh tiểu đường Pima Indians</dc:title>
  <dc:subject>Lab 07 - Pima Indians Diabetes Classification</dc:subject>
  <dc:creator>OpenAI</dc:creator>
  <cp:lastModifiedBy>OpenAI</cp:lastModifiedBy>
  <cp:revision>1</cp:revision>
  <dcterms:created xsi:type="dcterms:W3CDTF">2026-04-05T15:50:03Z</dcterms:created>
  <dcterms:modified xsi:type="dcterms:W3CDTF">2026-04-05T15:50:03Z</dcterms:modified>
</cp:coreProperties>
</file>