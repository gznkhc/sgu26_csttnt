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"/>
  </p:notesMasterIdLst>
  <p:handoutMasterIdLst>
    <p:handoutMasterId r:id="rId27"/>
  </p:handoutMasterIdLst>
  <p:sldIdLst>
    <p:sldId id="334" r:id="rId3"/>
    <p:sldId id="316" r:id="rId5"/>
    <p:sldId id="352" r:id="rId6"/>
    <p:sldId id="353" r:id="rId7"/>
    <p:sldId id="350" r:id="rId8"/>
    <p:sldId id="354" r:id="rId9"/>
    <p:sldId id="351" r:id="rId10"/>
    <p:sldId id="355" r:id="rId11"/>
    <p:sldId id="356" r:id="rId12"/>
    <p:sldId id="357" r:id="rId13"/>
    <p:sldId id="343" r:id="rId14"/>
    <p:sldId id="337" r:id="rId15"/>
    <p:sldId id="358" r:id="rId16"/>
    <p:sldId id="359" r:id="rId17"/>
    <p:sldId id="342" r:id="rId18"/>
    <p:sldId id="360" r:id="rId19"/>
    <p:sldId id="362" r:id="rId20"/>
    <p:sldId id="361" r:id="rId21"/>
    <p:sldId id="336" r:id="rId22"/>
    <p:sldId id="363" r:id="rId23"/>
    <p:sldId id="364" r:id="rId24"/>
    <p:sldId id="324" r:id="rId25"/>
    <p:sldId id="34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9DCAF9ED-07DC-4A11-8D7F-57B35C25682E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82" autoAdjust="0"/>
    <p:restoredTop sz="84967" autoAdjust="0"/>
  </p:normalViewPr>
  <p:slideViewPr>
    <p:cSldViewPr snapToGrid="0" showGuides="1">
      <p:cViewPr varScale="1">
        <p:scale>
          <a:sx n="108" d="100"/>
          <a:sy n="108" d="100"/>
        </p:scale>
        <p:origin x="1134" y="108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customXml" Target="../customXml/item3.xml"/><Relationship Id="rId33" Type="http://schemas.openxmlformats.org/officeDocument/2006/relationships/customXml" Target="../customXml/item2.xml"/><Relationship Id="rId32" Type="http://schemas.openxmlformats.org/officeDocument/2006/relationships/customXml" Target="../customXml/item1.xml"/><Relationship Id="rId31" Type="http://schemas.microsoft.com/office/2018/10/relationships/authors" Target="authors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88634-FBA9-41D6-8B35-EE3A7D816B7C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C78D2-97D1-4B37-BDD1-08A09BD4CA99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/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phic 12"/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/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/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anchor="b"/>
          <a:lstStyle>
            <a:lvl1pPr algn="r">
              <a:lnSpc>
                <a:spcPts val="4000"/>
              </a:lnSpc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</a:fld>
            <a:endParaRPr lang="en-US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anchor="t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4pPr>
            <a:lvl5pPr marL="1828800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12"/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/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/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/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phic 12"/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/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/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Picture Placeholder 14"/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/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phic 12"/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/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/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Picture Placeholder 14"/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anchor="b" anchorCtr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anchor="t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</a:fld>
            <a:endParaRPr lang="en-US" dirty="0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anchor="t" anchorCtr="0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 dirty="0"/>
              <a:t>Click to add picture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defRPr sz="1600"/>
            </a:lvl2pPr>
            <a:lvl3pPr marL="457200">
              <a:defRPr sz="1400"/>
            </a:lvl3pPr>
            <a:lvl4pPr marL="685800"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phic 10"/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11"/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Footer Placeholder 8"/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+ Subtitle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  <a:endParaRPr lang="en-US" dirty="0"/>
          </a:p>
        </p:txBody>
      </p:sp>
      <p:grpSp>
        <p:nvGrpSpPr>
          <p:cNvPr id="4" name="Group 3"/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aphic 12"/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/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/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5" name="Straight Connector 4"/>
          <p:cNvCxnSpPr/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/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/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/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</a:fld>
            <a:endParaRPr lang="en-US" dirty="0"/>
          </a:p>
        </p:txBody>
      </p:sp>
      <p:sp>
        <p:nvSpPr>
          <p:cNvPr id="4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anchor="t" anchorCtr="0">
            <a:noAutofit/>
          </a:bodyPr>
          <a:lstStyle>
            <a:lvl1pPr marL="342900" indent="-511810">
              <a:spcBef>
                <a:spcPts val="1000"/>
              </a:spcBef>
              <a:buFont typeface="+mj-lt"/>
              <a:buAutoNum type="arabicPeriod"/>
              <a:defRPr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spcBef>
                <a:spcPts val="1200"/>
              </a:spcBef>
              <a:buNone/>
              <a:defRPr sz="1600"/>
            </a:lvl2pPr>
            <a:lvl3pPr marL="914400" indent="0">
              <a:spcBef>
                <a:spcPts val="1200"/>
              </a:spcBef>
              <a:buNone/>
              <a:defRPr sz="1400"/>
            </a:lvl3pPr>
            <a:lvl4pPr marL="1371600" indent="0">
              <a:spcBef>
                <a:spcPts val="1200"/>
              </a:spcBef>
              <a:buNone/>
              <a:defRPr sz="1200"/>
            </a:lvl4pPr>
            <a:lvl5pPr marL="1828800" indent="0">
              <a:spcBef>
                <a:spcPts val="12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anchor="t" anchorCtr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600"/>
            </a:lvl2pPr>
            <a:lvl3pPr>
              <a:spcBef>
                <a:spcPts val="1200"/>
              </a:spcBef>
              <a:defRPr sz="1400"/>
            </a:lvl3pPr>
            <a:lvl4pPr>
              <a:spcBef>
                <a:spcPts val="1200"/>
              </a:spcBef>
              <a:defRPr sz="1200"/>
            </a:lvl4pPr>
            <a:lvl5pPr>
              <a:spcBef>
                <a:spcPts val="1200"/>
              </a:spcBef>
              <a:defRPr sz="12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/>
          <p:cNvCxnSpPr/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sz="4000" b="1" i="0" cap="all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</a:fld>
            <a:endParaRPr lang="en-US"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lnSpc>
                <a:spcPct val="110000"/>
              </a:lnSpc>
              <a:defRPr sz="1600"/>
            </a:lvl2pPr>
            <a:lvl3pPr marL="457200">
              <a:lnSpc>
                <a:spcPct val="110000"/>
              </a:lnSpc>
              <a:defRPr sz="1400"/>
            </a:lvl3pPr>
            <a:lvl4pPr marL="685800">
              <a:lnSpc>
                <a:spcPct val="110000"/>
              </a:lnSpc>
              <a:defRPr sz="1200"/>
            </a:lvl4pPr>
            <a:lvl5pPr marL="914400">
              <a:lnSpc>
                <a:spcPct val="11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anchor="t" anchorCtr="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  <a:endParaRPr lang="en-US" dirty="0"/>
          </a:p>
        </p:txBody>
      </p:sp>
      <p:sp>
        <p:nvSpPr>
          <p:cNvPr id="10" name="Footer Placeholder 8"/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sz="1200">
                <a:solidFill>
                  <a:schemeClr val="tx1"/>
                </a:solidFill>
              </a:defRPr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/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anchor="b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>
              <a:spcBef>
                <a:spcPts val="1200"/>
              </a:spcBef>
              <a:defRPr sz="1800"/>
            </a:lvl2pPr>
            <a:lvl3pPr marL="914400">
              <a:spcBef>
                <a:spcPts val="1200"/>
              </a:spcBef>
              <a:defRPr sz="1800"/>
            </a:lvl3pPr>
            <a:lvl4pPr marL="1371600">
              <a:spcBef>
                <a:spcPts val="1200"/>
              </a:spcBef>
              <a:defRPr sz="1800"/>
            </a:lvl4pPr>
            <a:lvl5pPr marL="18288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800"/>
            </a:lvl2pPr>
            <a:lvl3pPr>
              <a:spcBef>
                <a:spcPts val="1200"/>
              </a:spcBef>
              <a:defRPr sz="1800"/>
            </a:lvl3pPr>
            <a:lvl4pPr>
              <a:spcBef>
                <a:spcPts val="1200"/>
              </a:spcBef>
              <a:defRPr sz="1800"/>
            </a:lvl4pPr>
            <a:lvl5pPr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phic 12"/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13"/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Graphic 15"/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/>
          <p:cNvCxnSpPr/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/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phic 15"/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Graphic 16"/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Graphic 14"/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anchor="b" anchorCtr="0"/>
          <a:lstStyle>
            <a:lvl1pPr>
              <a:defRPr sz="4000" b="1" cap="all" baseline="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/>
          <a:lstStyle/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/>
          <a:lstStyle>
            <a:lvl1pPr algn="l"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ubbles and Title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anchor="b"/>
          <a:lstStyle>
            <a:lvl1pPr algn="r">
              <a:lnSpc>
                <a:spcPts val="4800"/>
              </a:lnSpc>
              <a:defRPr sz="48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4"/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phic 12"/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Graphic 13"/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Graphic 15"/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13" name="Straight Connector 12"/>
          <p:cNvCxnSpPr/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/>
          <a:p>
            <a:fld id="{D8DA9DAA-006C-4F4B-980E-E3DF019B24E2}" type="slidenum">
              <a:rPr lang="en-US" smtClean="0"/>
            </a:fld>
            <a:endParaRPr lang="en-US" dirty="0"/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800" b="1" i="0" cap="all" spc="100" baseline="0"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8.xml"/><Relationship Id="rId3" Type="http://schemas.microsoft.com/office/2007/relationships/hdphoto" Target="../media/image5.wdp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1613" y="3777665"/>
            <a:ext cx="8311102" cy="3080335"/>
          </a:xfrm>
        </p:spPr>
        <p:txBody>
          <a:bodyPr anchor="t">
            <a:normAutofit/>
          </a:bodyPr>
          <a:lstStyle/>
          <a:p>
            <a:r>
              <a:rPr lang="en-US" sz="2200" dirty="0"/>
              <a:t>Môn: </a:t>
            </a:r>
            <a:r>
              <a:rPr lang="vi-VN" sz="2200" dirty="0"/>
              <a:t>Cơ Sở Trí Tuệ Nhân Tạo</a:t>
            </a:r>
            <a:br>
              <a:rPr lang="en-US" sz="2200" dirty="0"/>
            </a:br>
            <a:r>
              <a:rPr lang="vi-VN" sz="2200" dirty="0"/>
              <a:t>Đề tài:BÁO CÁO PHÂN TÍCH KHÁM PHÁ DỮ LIỆU</a:t>
            </a:r>
            <a:br>
              <a:rPr lang="vi-VN" sz="2200" dirty="0"/>
            </a:br>
            <a:r>
              <a:rPr lang="vi-VN" sz="2200" dirty="0"/>
              <a:t>IRIS DATASET &amp; PIMA INDIANS DIABETES DATASET</a:t>
            </a:r>
            <a:br>
              <a:rPr lang="vi-VN" sz="2200" dirty="0"/>
            </a:br>
            <a:endParaRPr lang="en-US" sz="2200" dirty="0"/>
          </a:p>
        </p:txBody>
      </p:sp>
      <p:pic>
        <p:nvPicPr>
          <p:cNvPr id="4" name="Picture Placeholder 3"/>
          <p:cNvPicPr>
            <a:picLocks noGrp="1" noChangeAspect="1"/>
          </p:cNvPicPr>
          <p:nvPr>
            <p:ph type="pic" sz="quarter" idx="13"/>
          </p:nvPr>
        </p:nvPicPr>
        <p:blipFill>
          <a:blip r:embed="rId1"/>
          <a:srcRect r="-4" b="-4"/>
          <a:stretch>
            <a:fillRect/>
          </a:stretch>
        </p:blipFill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  <a:noFill/>
        </p:spPr>
      </p:pic>
      <p:sp>
        <p:nvSpPr>
          <p:cNvPr id="5" name="Title 1"/>
          <p:cNvSpPr txBox="1"/>
          <p:nvPr/>
        </p:nvSpPr>
        <p:spPr>
          <a:xfrm>
            <a:off x="1203247" y="3166799"/>
            <a:ext cx="8311102" cy="3080335"/>
          </a:xfrm>
          <a:prstGeom prst="rect">
            <a:avLst/>
          </a:prstGeom>
        </p:spPr>
        <p:txBody>
          <a:bodyPr vert="horz" lIns="0" tIns="27432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ts val="5400"/>
              </a:lnSpc>
              <a:spcBef>
                <a:spcPct val="0"/>
              </a:spcBef>
              <a:buNone/>
              <a:defRPr sz="5400" b="1" i="0" kern="1200" cap="all" spc="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BÁO CÁO ĐỒ ÁN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7818" y="1802068"/>
            <a:ext cx="6317729" cy="2276856"/>
          </a:xfrm>
        </p:spPr>
        <p:txBody>
          <a:bodyPr/>
          <a:lstStyle/>
          <a:p>
            <a:r>
              <a:rPr lang="en-US" dirty="0"/>
              <a:t>Thành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endParaRPr lang="en-US" dirty="0"/>
          </a:p>
        </p:txBody>
      </p:sp>
      <p:pic>
        <p:nvPicPr>
          <p:cNvPr id="6" name="Picture Placeholder 5" descr="Mountains at sunset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1"/>
          <a:srcRect t="21" b="21"/>
          <a:stretch>
            <a:fillRect/>
          </a:stretch>
        </p:blipFill>
        <p:spPr>
          <a:xfrm>
            <a:off x="1236643" y="2581333"/>
            <a:ext cx="3707972" cy="3707971"/>
          </a:xfrm>
        </p:spPr>
      </p:pic>
      <p:sp>
        <p:nvSpPr>
          <p:cNvPr id="4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367648" y="4375255"/>
            <a:ext cx="5918068" cy="3144965"/>
          </a:xfrm>
        </p:spPr>
        <p:txBody>
          <a:bodyPr/>
          <a:lstStyle/>
          <a:p>
            <a:r>
              <a:rPr lang="en-US" dirty="0"/>
              <a:t>Lê Nguyễn Anh Bảo</a:t>
            </a:r>
            <a:endParaRPr lang="en-US" dirty="0"/>
          </a:p>
          <a:p>
            <a:r>
              <a:rPr lang="en-US" dirty="0"/>
              <a:t>	</a:t>
            </a:r>
            <a:r>
              <a:rPr lang="en-US" dirty="0" err="1"/>
              <a:t>Trần</a:t>
            </a:r>
            <a:r>
              <a:rPr lang="en-US" dirty="0"/>
              <a:t> Tiến </a:t>
            </a:r>
            <a:r>
              <a:rPr lang="en-US" dirty="0" err="1"/>
              <a:t>Phát</a:t>
            </a:r>
            <a:endParaRPr lang="en-US" dirty="0"/>
          </a:p>
          <a:p>
            <a:r>
              <a:rPr lang="en-US" dirty="0"/>
              <a:t>Nguyễn Khải Hoàn Ca</a:t>
            </a:r>
            <a:endParaRPr lang="en-US" dirty="0"/>
          </a:p>
          <a:p>
            <a:r>
              <a:rPr lang="en-US" dirty="0"/>
              <a:t>Hoàng </a:t>
            </a:r>
            <a:r>
              <a:rPr lang="en-US" dirty="0" err="1"/>
              <a:t>Phước</a:t>
            </a:r>
            <a:r>
              <a:rPr lang="en-US" dirty="0"/>
              <a:t> Hậu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1"/>
          <p:cNvSpPr txBox="1"/>
          <p:nvPr/>
        </p:nvSpPr>
        <p:spPr>
          <a:xfrm>
            <a:off x="1141458" y="-666389"/>
            <a:ext cx="6317729" cy="227685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000" b="1" kern="1200" cap="all" spc="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GIẢNG VIÊN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dẫn</a:t>
            </a:r>
            <a:endParaRPr lang="en-US" dirty="0"/>
          </a:p>
        </p:txBody>
      </p:sp>
      <p:sp>
        <p:nvSpPr>
          <p:cNvPr id="5" name="Text Placeholder 3"/>
          <p:cNvSpPr txBox="1"/>
          <p:nvPr/>
        </p:nvSpPr>
        <p:spPr>
          <a:xfrm>
            <a:off x="1213270" y="1610467"/>
            <a:ext cx="5918068" cy="31449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TS. </a:t>
            </a:r>
            <a:r>
              <a:rPr lang="en-US" dirty="0" err="1"/>
              <a:t>Đỗ</a:t>
            </a:r>
            <a:r>
              <a:rPr lang="en-US" dirty="0"/>
              <a:t> Như Tài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anchor="b">
            <a:normAutofit/>
          </a:bodyPr>
          <a:lstStyle/>
          <a:p>
            <a:r>
              <a:rPr lang="en-US" dirty="0"/>
              <a:t>Machine Learning </a:t>
            </a:r>
            <a:r>
              <a:rPr lang="en-US" dirty="0" err="1"/>
              <a:t>và</a:t>
            </a:r>
            <a:r>
              <a:rPr lang="en-US" dirty="0"/>
              <a:t> Data Mining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425880" y="3545300"/>
            <a:ext cx="8139602" cy="54092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2400" dirty="0"/>
              <a:t>Là lĩnh vực quan trọng trong khoa học dữ liệu</a:t>
            </a:r>
            <a:endParaRPr lang="en-US" sz="2400" dirty="0"/>
          </a:p>
        </p:txBody>
      </p:sp>
      <p:sp>
        <p:nvSpPr>
          <p:cNvPr id="11" name="Rectangle 10"/>
          <p:cNvSpPr/>
          <p:nvPr/>
        </p:nvSpPr>
        <p:spPr>
          <a:xfrm>
            <a:off x="1425880" y="4193381"/>
            <a:ext cx="8139602" cy="54092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2400"/>
              <a:t>Cho phép máy học từ dữ liệu</a:t>
            </a:r>
            <a:endParaRPr lang="en-US" sz="2400" dirty="0"/>
          </a:p>
        </p:txBody>
      </p:sp>
      <p:sp>
        <p:nvSpPr>
          <p:cNvPr id="13" name="Rectangle 12"/>
          <p:cNvSpPr/>
          <p:nvPr/>
        </p:nvSpPr>
        <p:spPr>
          <a:xfrm>
            <a:off x="1425880" y="4841462"/>
            <a:ext cx="8139602" cy="54092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2400"/>
              <a:t>Phát hiện quy luật và đưa ra dự đoán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anchor="b">
            <a:normAutofit/>
          </a:bodyPr>
          <a:lstStyle/>
          <a:p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425880" y="3545300"/>
            <a:ext cx="8139602" cy="54092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loại</a:t>
            </a:r>
            <a:endParaRPr lang="en-US" sz="2400" dirty="0"/>
          </a:p>
        </p:txBody>
      </p:sp>
      <p:sp>
        <p:nvSpPr>
          <p:cNvPr id="11" name="Rectangle 10"/>
          <p:cNvSpPr/>
          <p:nvPr/>
        </p:nvSpPr>
        <p:spPr>
          <a:xfrm>
            <a:off x="1425880" y="4193381"/>
            <a:ext cx="8139602" cy="54092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/>
              <a:t>Dự</a:t>
            </a:r>
            <a:r>
              <a:rPr lang="en-US" sz="2400" dirty="0"/>
              <a:t> </a:t>
            </a:r>
            <a:r>
              <a:rPr lang="en-US" sz="2400" dirty="0" err="1"/>
              <a:t>đoán</a:t>
            </a:r>
            <a:endParaRPr lang="en-US" sz="2400" dirty="0"/>
          </a:p>
        </p:txBody>
      </p:sp>
      <p:sp>
        <p:nvSpPr>
          <p:cNvPr id="13" name="Rectangle 12"/>
          <p:cNvSpPr/>
          <p:nvPr/>
        </p:nvSpPr>
        <p:spPr>
          <a:xfrm>
            <a:off x="1425880" y="4841462"/>
            <a:ext cx="8139602" cy="54092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cụm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1">
            <a:alphaModFix amt="24000"/>
          </a:blip>
          <a:stretch>
            <a:fillRect/>
          </a:stretch>
        </p:blipFill>
        <p:spPr>
          <a:xfrm>
            <a:off x="130811" y="224134"/>
            <a:ext cx="2298698" cy="2298698"/>
          </a:xfrm>
          <a:prstGeom prst="rect">
            <a:avLst/>
          </a:prstGeom>
          <a:effectLst>
            <a:reflection stA="0" endPos="65000" dist="50800" dir="5400000" sy="-100000" algn="bl" rotWithShape="0"/>
          </a:effec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alphaModFix amt="17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1389" l="10000" r="93611">
                        <a14:foregroundMark x1="42778" y1="10833" x2="46111" y2="11667"/>
                        <a14:foregroundMark x1="36944" y1="90833" x2="39722" y2="89722"/>
                        <a14:foregroundMark x1="58056" y1="91389" x2="59444" y2="91389"/>
                        <a14:foregroundMark x1="93611" y1="71667" x2="92778" y2="66111"/>
                      </a14:backgroundRemoval>
                    </a14:imgEffect>
                    <a14:imgEffect>
                      <a14:sharpenSoften amount="-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478768">
            <a:off x="4149746" y="3605658"/>
            <a:ext cx="2253366" cy="225336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  <a:reflection stA="0" endPos="59000" dist="50800" dir="5400000" sy="-100000" algn="bl" rotWithShape="0"/>
          </a:effectLst>
        </p:spPr>
      </p:pic>
      <p:sp>
        <p:nvSpPr>
          <p:cNvPr id="5" name="Title 1"/>
          <p:cNvSpPr txBox="1"/>
          <p:nvPr/>
        </p:nvSpPr>
        <p:spPr>
          <a:xfrm>
            <a:off x="6915572" y="685800"/>
            <a:ext cx="4754880" cy="567055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ts val="5400"/>
              </a:lnSpc>
              <a:spcBef>
                <a:spcPct val="0"/>
              </a:spcBef>
              <a:buNone/>
              <a:defRPr sz="5400" b="1" i="0" kern="1200" cap="all" spc="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4000"/>
              </a:lnSpc>
              <a:spcAft>
                <a:spcPts val="600"/>
              </a:spcAft>
            </a:pPr>
            <a:r>
              <a:rPr lang="en-US" sz="4000" b="1" kern="1200" cap="all" spc="0" baseline="0" dirty="0">
                <a:latin typeface="+mj-lt"/>
                <a:ea typeface="+mj-ea"/>
                <a:cs typeface="+mj-cs"/>
              </a:rPr>
              <a:t>Exploratory Data Analysis (EDA)</a:t>
            </a:r>
            <a:endParaRPr lang="en-US" sz="4000" b="1" kern="1200" cap="all" spc="0" baseline="0" dirty="0">
              <a:latin typeface="+mj-lt"/>
              <a:ea typeface="+mj-ea"/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8669" y="1373483"/>
            <a:ext cx="5636419" cy="18954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Exploratory Data Analysis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là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quá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trình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51181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tích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dữ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liệu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ban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đầu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51181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Hiểu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cấu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trúc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dữ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liệu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51181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Phát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hiện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vấn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đề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trong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dữ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liệu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80160" y="4692058"/>
            <a:ext cx="4663440" cy="158491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8668" y="3986214"/>
            <a:ext cx="5636419" cy="2557462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giúp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trả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lời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các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câu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hỏi:Phân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tích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dữ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liệu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ban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đầu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51181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Dữ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liệu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có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bao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nhiêu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mẫu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51181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Có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dữ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liệu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thiếu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không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51181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bố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dữ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liệu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như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thế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nào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51181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Có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outliers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không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3680" y="1183777"/>
            <a:ext cx="10302240" cy="1852046"/>
          </a:xfrm>
        </p:spPr>
        <p:txBody>
          <a:bodyPr/>
          <a:lstStyle/>
          <a:p>
            <a:r>
              <a:rPr lang="en-US" dirty="0"/>
              <a:t>Dataset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434118" y="2249642"/>
            <a:ext cx="8139602" cy="54092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2400" dirty="0"/>
              <a:t>Iris Dataset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1434118" y="2888075"/>
            <a:ext cx="8139602" cy="54092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Pima Indians Diabetes Dataset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827902" y="6178377"/>
            <a:ext cx="105361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Nguồn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UCI Machine Learning Repository</a:t>
            </a:r>
            <a:endParaRPr 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6915572" y="685800"/>
            <a:ext cx="4754880" cy="567055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ts val="5400"/>
              </a:lnSpc>
              <a:spcBef>
                <a:spcPct val="0"/>
              </a:spcBef>
              <a:buNone/>
              <a:defRPr sz="5400" b="1" i="0" kern="1200" cap="all" spc="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4000"/>
              </a:lnSpc>
              <a:spcAft>
                <a:spcPts val="600"/>
              </a:spcAft>
            </a:pPr>
            <a:r>
              <a:rPr lang="en-US" sz="4000" b="1" kern="1200" cap="all" spc="0" baseline="0">
                <a:latin typeface="+mj-lt"/>
                <a:ea typeface="+mj-ea"/>
                <a:cs typeface="+mj-cs"/>
              </a:rPr>
              <a:t>Iris dataset</a:t>
            </a:r>
            <a:endParaRPr lang="en-US" sz="4000" b="1" kern="1200" cap="all" spc="0" baseline="0">
              <a:latin typeface="+mj-lt"/>
              <a:ea typeface="+mj-ea"/>
              <a:cs typeface="+mj-cs"/>
            </a:endParaRPr>
          </a:p>
        </p:txBody>
      </p:sp>
      <p:sp>
        <p:nvSpPr>
          <p:cNvPr id="18" name="Content Placeholder 3"/>
          <p:cNvSpPr>
            <a:spLocks noGrp="1"/>
          </p:cNvSpPr>
          <p:nvPr>
            <p:ph sz="quarter" idx="13"/>
          </p:nvPr>
        </p:nvSpPr>
        <p:spPr>
          <a:xfrm>
            <a:off x="891333" y="1480443"/>
            <a:ext cx="5441093" cy="4735714"/>
          </a:xfrm>
        </p:spPr>
        <p:txBody>
          <a:bodyPr/>
          <a:lstStyle/>
          <a:p>
            <a:r>
              <a:rPr lang="vi-VN" sz="2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Được giới thiệu bởi Ronald Fisher (1936)</a:t>
            </a:r>
            <a:b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 </a:t>
            </a:r>
            <a:r>
              <a:rPr lang="en-US" sz="2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gồm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- 150 </a:t>
            </a:r>
            <a:r>
              <a:rPr 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mẫu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dữ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liệu</a:t>
            </a:r>
            <a:b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- 3 </a:t>
            </a:r>
            <a:r>
              <a:rPr 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loài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hoa</a:t>
            </a: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Loài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hoa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b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1. Iris </a:t>
            </a:r>
            <a:r>
              <a:rPr 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Setosa</a:t>
            </a:r>
            <a:b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2. Iris Versicolor</a:t>
            </a:r>
            <a:b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3. Iris Virginica</a:t>
            </a: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80160" y="4692058"/>
            <a:ext cx="4663440" cy="158491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759" y="4370866"/>
            <a:ext cx="4131202" cy="22273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6915572" y="685800"/>
            <a:ext cx="4754880" cy="567055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ts val="5400"/>
              </a:lnSpc>
              <a:spcBef>
                <a:spcPct val="0"/>
              </a:spcBef>
              <a:buNone/>
              <a:defRPr sz="5400" b="1" i="0" kern="1200" cap="all" spc="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4000"/>
              </a:lnSpc>
              <a:spcAft>
                <a:spcPts val="600"/>
              </a:spcAft>
            </a:pPr>
            <a:r>
              <a:rPr lang="en-US" sz="4000" b="1" kern="1200" cap="all" spc="0" baseline="0">
                <a:latin typeface="+mj-lt"/>
                <a:ea typeface="+mj-ea"/>
                <a:cs typeface="+mj-cs"/>
              </a:rPr>
              <a:t>Iris dataset</a:t>
            </a:r>
            <a:endParaRPr lang="en-US" sz="4000" b="1" kern="1200" cap="all" spc="0" baseline="0">
              <a:latin typeface="+mj-lt"/>
              <a:ea typeface="+mj-ea"/>
              <a:cs typeface="+mj-cs"/>
            </a:endParaRPr>
          </a:p>
        </p:txBody>
      </p:sp>
      <p:sp>
        <p:nvSpPr>
          <p:cNvPr id="18" name="Content Placeholder 3"/>
          <p:cNvSpPr>
            <a:spLocks noGrp="1"/>
          </p:cNvSpPr>
          <p:nvPr>
            <p:ph sz="quarter" idx="13"/>
          </p:nvPr>
        </p:nvSpPr>
        <p:spPr>
          <a:xfrm>
            <a:off x="891333" y="1480443"/>
            <a:ext cx="5441093" cy="4735714"/>
          </a:xfrm>
        </p:spPr>
        <p:txBody>
          <a:bodyPr/>
          <a:lstStyle/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Thuộc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tính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Iris Dataset</a:t>
            </a:r>
            <a:endParaRPr lang="en-US" sz="22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vi-V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Mỗi mẫu gồm 4 đặc trưng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1. Sepal Length</a:t>
            </a: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2. Sepal Width</a:t>
            </a: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3. Petal Length</a:t>
            </a: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4. Petal Width</a:t>
            </a: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Mục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tiêu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vi-V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 loại loài hoa dựa trên đặc trưng hình học</a:t>
            </a: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80160" y="4692058"/>
            <a:ext cx="4663440" cy="158491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6915571" y="685800"/>
            <a:ext cx="5103433" cy="567055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ts val="5400"/>
              </a:lnSpc>
              <a:spcBef>
                <a:spcPct val="0"/>
              </a:spcBef>
              <a:buNone/>
              <a:defRPr sz="5400" b="1" i="0" kern="1200" cap="all" spc="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4000"/>
              </a:lnSpc>
              <a:spcAft>
                <a:spcPts val="600"/>
              </a:spcAft>
            </a:pPr>
            <a:r>
              <a:rPr lang="en-US" sz="4000" b="1" kern="1200" cap="all" spc="0" baseline="0">
                <a:latin typeface="+mj-lt"/>
                <a:ea typeface="+mj-ea"/>
                <a:cs typeface="+mj-cs"/>
              </a:rPr>
              <a:t>Diabetes Dataset</a:t>
            </a:r>
            <a:endParaRPr lang="en-US" sz="4000" b="1" kern="1200" cap="all" spc="0" baseline="0" dirty="0">
              <a:latin typeface="+mj-lt"/>
              <a:ea typeface="+mj-ea"/>
              <a:cs typeface="+mj-cs"/>
            </a:endParaRPr>
          </a:p>
        </p:txBody>
      </p:sp>
      <p:sp>
        <p:nvSpPr>
          <p:cNvPr id="18" name="Content Placeholder 3"/>
          <p:cNvSpPr>
            <a:spLocks noGrp="1"/>
          </p:cNvSpPr>
          <p:nvPr>
            <p:ph sz="quarter" idx="13"/>
          </p:nvPr>
        </p:nvSpPr>
        <p:spPr>
          <a:xfrm>
            <a:off x="799071" y="1480443"/>
            <a:ext cx="5544064" cy="4735714"/>
          </a:xfrm>
        </p:spPr>
        <p:txBody>
          <a:bodyPr/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Pima Indians Diabetes Dataset</a:t>
            </a:r>
            <a:endParaRPr lang="en-US" sz="28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- 768 </a:t>
            </a:r>
            <a:r>
              <a:rPr 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mẫu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dữ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liệu</a:t>
            </a: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 Thu </a:t>
            </a:r>
            <a:r>
              <a:rPr 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thập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từ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phụ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nữ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Pima Indians</a:t>
            </a:r>
            <a:b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(Arizona)</a:t>
            </a: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Bài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toán</a:t>
            </a:r>
            <a:endParaRPr lang="en-US" sz="28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Dự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vi-V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đoán nguy cơ mắc bệnh tiểu đường</a:t>
            </a: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80160" y="4692058"/>
            <a:ext cx="4663440" cy="158491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6915571" y="685800"/>
            <a:ext cx="5103433" cy="567055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ts val="5400"/>
              </a:lnSpc>
              <a:spcBef>
                <a:spcPct val="0"/>
              </a:spcBef>
              <a:buNone/>
              <a:defRPr sz="5400" b="1" i="0" kern="1200" cap="all" spc="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4000"/>
              </a:lnSpc>
              <a:spcAft>
                <a:spcPts val="600"/>
              </a:spcAft>
            </a:pPr>
            <a:r>
              <a:rPr lang="en-US" sz="4000" b="1" kern="1200" cap="all" spc="0" baseline="0">
                <a:latin typeface="+mj-lt"/>
                <a:ea typeface="+mj-ea"/>
                <a:cs typeface="+mj-cs"/>
              </a:rPr>
              <a:t>Diabetes Dataset</a:t>
            </a:r>
            <a:endParaRPr lang="en-US" sz="4000" b="1" kern="1200" cap="all" spc="0" baseline="0" dirty="0">
              <a:latin typeface="+mj-lt"/>
              <a:ea typeface="+mj-ea"/>
              <a:cs typeface="+mj-cs"/>
            </a:endParaRPr>
          </a:p>
        </p:txBody>
      </p:sp>
      <p:sp>
        <p:nvSpPr>
          <p:cNvPr id="18" name="Content Placeholder 3"/>
          <p:cNvSpPr>
            <a:spLocks noGrp="1"/>
          </p:cNvSpPr>
          <p:nvPr>
            <p:ph sz="quarter" idx="13"/>
          </p:nvPr>
        </p:nvSpPr>
        <p:spPr>
          <a:xfrm>
            <a:off x="799071" y="1480442"/>
            <a:ext cx="5544064" cy="5377557"/>
          </a:xfrm>
        </p:spPr>
        <p:txBody>
          <a:bodyPr/>
          <a:lstStyle/>
          <a:p>
            <a:r>
              <a:rPr lang="pt-BR" sz="28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Các thuộc tính Diabetes Dataset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 </a:t>
            </a:r>
            <a:r>
              <a:rPr lang="en-US" sz="2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thuộc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tính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đầu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vào</a:t>
            </a:r>
            <a:endParaRPr 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Pregnancies</a:t>
            </a:r>
            <a:b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</a:t>
            </a:r>
            <a:r>
              <a:rPr 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GlucoseBlood</a:t>
            </a:r>
            <a:b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</a:t>
            </a:r>
            <a:r>
              <a:rPr 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PressureSkin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Thickness</a:t>
            </a:r>
            <a:b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Insulin</a:t>
            </a:r>
            <a:b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BMI</a:t>
            </a:r>
            <a:b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7. Diabetes</a:t>
            </a:r>
            <a:b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8. Pedigree </a:t>
            </a:r>
            <a:r>
              <a:rPr 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FunctionAge</a:t>
            </a: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Biến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mục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tiêu</a:t>
            </a:r>
            <a:endParaRPr lang="en-US" sz="28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Outcome</a:t>
            </a:r>
            <a:endParaRPr 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 0: </a:t>
            </a:r>
            <a:r>
              <a:rPr 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Không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mắc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bệnh</a:t>
            </a: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&gt; 1: </a:t>
            </a:r>
            <a:r>
              <a:rPr 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Mắc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bệnh</a:t>
            </a: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80160" y="4692058"/>
            <a:ext cx="4663440" cy="158491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Iris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Python </a:t>
            </a:r>
            <a:r>
              <a:rPr lang="en-US" dirty="0" err="1"/>
              <a:t>và</a:t>
            </a:r>
            <a:r>
              <a:rPr lang="en-US" dirty="0"/>
              <a:t> Pandas</a:t>
            </a:r>
            <a:endParaRPr lang="en-US" dirty="0"/>
          </a:p>
        </p:txBody>
      </p:sp>
      <p:sp>
        <p:nvSpPr>
          <p:cNvPr id="4" name="Rectangle: Rounded Corners 3"/>
          <p:cNvSpPr/>
          <p:nvPr/>
        </p:nvSpPr>
        <p:spPr>
          <a:xfrm>
            <a:off x="1598141" y="3357236"/>
            <a:ext cx="5799438" cy="1424507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import</a:t>
            </a:r>
            <a:r>
              <a:rPr lang="en-US" dirty="0"/>
              <a:t> </a:t>
            </a:r>
            <a:r>
              <a:rPr lang="en-US" dirty="0">
                <a:solidFill>
                  <a:srgbClr val="00FFCC"/>
                </a:solidFill>
              </a:rPr>
              <a:t>pandas</a:t>
            </a:r>
            <a:r>
              <a:rPr lang="en-US" dirty="0"/>
              <a:t>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as</a:t>
            </a:r>
            <a:r>
              <a:rPr lang="en-US" dirty="0"/>
              <a:t> </a:t>
            </a:r>
            <a:r>
              <a:rPr lang="en-US" dirty="0">
                <a:solidFill>
                  <a:srgbClr val="00FFCC"/>
                </a:solidFill>
              </a:rPr>
              <a:t>pd</a:t>
            </a:r>
            <a:br>
              <a:rPr lang="en-US" dirty="0"/>
            </a:b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df</a:t>
            </a:r>
            <a:r>
              <a:rPr lang="en-US" dirty="0"/>
              <a:t> = </a:t>
            </a:r>
            <a:r>
              <a:rPr lang="en-US" dirty="0" err="1">
                <a:solidFill>
                  <a:srgbClr val="00FFCC"/>
                </a:solidFill>
              </a:rPr>
              <a:t>pd</a:t>
            </a:r>
            <a:r>
              <a:rPr lang="en-US" dirty="0" err="1">
                <a:solidFill>
                  <a:srgbClr val="FFFF00"/>
                </a:solidFill>
              </a:rPr>
              <a:t>.read_csv</a:t>
            </a:r>
            <a:r>
              <a:rPr lang="en-US" dirty="0">
                <a:solidFill>
                  <a:srgbClr val="FFC000"/>
                </a:solidFill>
              </a:rPr>
              <a:t>(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"iris.csv"</a:t>
            </a:r>
            <a:r>
              <a:rPr lang="en-US" dirty="0">
                <a:solidFill>
                  <a:srgbClr val="FFC000"/>
                </a:solidFill>
              </a:rPr>
              <a:t>)</a:t>
            </a:r>
            <a:br>
              <a:rPr lang="en-US" dirty="0"/>
            </a:b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df</a:t>
            </a:r>
            <a:r>
              <a:rPr lang="en-US" dirty="0" err="1"/>
              <a:t>.</a:t>
            </a:r>
            <a:r>
              <a:rPr lang="en-US" dirty="0" err="1">
                <a:solidFill>
                  <a:srgbClr val="FFFF00"/>
                </a:solidFill>
              </a:rPr>
              <a:t>head</a:t>
            </a:r>
            <a:r>
              <a:rPr lang="en-US" dirty="0">
                <a:solidFill>
                  <a:srgbClr val="FFC000"/>
                </a:solidFill>
              </a:rPr>
              <a:t>()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98141" y="4934465"/>
            <a:ext cx="5799438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Các </a:t>
            </a:r>
            <a:r>
              <a:rPr lang="en-US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bước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</a:t>
            </a:r>
            <a:r>
              <a:rPr lang="en-US" sz="2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Kiểm</a:t>
            </a:r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</a:t>
            </a:r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dữ</a:t>
            </a:r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liệu</a:t>
            </a:r>
            <a:endParaRPr lang="en-US" sz="2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+ </a:t>
            </a:r>
            <a:r>
              <a:rPr lang="en-US" sz="2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Thống</a:t>
            </a:r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kê</a:t>
            </a:r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mô</a:t>
            </a:r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tả</a:t>
            </a:r>
            <a:endParaRPr lang="en-US" sz="2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+ </a:t>
            </a:r>
            <a:r>
              <a:rPr lang="en-US" sz="2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</a:t>
            </a:r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tích</a:t>
            </a:r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đặc</a:t>
            </a:r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trưng</a:t>
            </a:r>
            <a:endParaRPr lang="en-US" sz="2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Picture Placeholder 9"/>
          <p:cNvPicPr>
            <a:picLocks noGrp="1" noChangeAspect="1"/>
          </p:cNvPicPr>
          <p:nvPr>
            <p:ph type="pic" sz="quarter" idx="13"/>
          </p:nvPr>
        </p:nvPicPr>
        <p:blipFill>
          <a:blip r:embed="rId1"/>
          <a:srcRect l="21875" r="21875"/>
          <a:stretch>
            <a:fillRect/>
          </a:stretch>
        </p:blipFill>
        <p:spPr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77867" y="74066"/>
            <a:ext cx="8311102" cy="3080335"/>
          </a:xfrm>
        </p:spPr>
        <p:txBody>
          <a:bodyPr/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iris</a:t>
            </a:r>
            <a:endParaRPr lang="en-US" dirty="0"/>
          </a:p>
        </p:txBody>
      </p:sp>
      <p:pic>
        <p:nvPicPr>
          <p:cNvPr id="7" name="Picture Placeholder 8" descr="Mountains at sunset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1"/>
          <a:srcRect l="23" r="23"/>
          <a:stretch>
            <a:fillRect/>
          </a:stretch>
        </p:blipFill>
        <p:spPr>
          <a:xfrm>
            <a:off x="8247013" y="230485"/>
            <a:ext cx="3521337" cy="3521344"/>
          </a:xfrm>
        </p:spPr>
      </p:pic>
      <p:sp>
        <p:nvSpPr>
          <p:cNvPr id="3" name="TextBox 2"/>
          <p:cNvSpPr txBox="1"/>
          <p:nvPr/>
        </p:nvSpPr>
        <p:spPr>
          <a:xfrm>
            <a:off x="1383957" y="1713470"/>
            <a:ext cx="52969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Các </a:t>
            </a:r>
            <a:r>
              <a:rPr lang="en-US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đặc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trưng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 Petal Length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 Petal Width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Có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khả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năng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loại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rất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tốt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83956" y="3041107"/>
            <a:ext cx="5296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Iris </a:t>
            </a:r>
            <a:r>
              <a:rPr lang="en-US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Setasa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Tách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biệt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rõ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rang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khỏi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các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loài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khác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0159" y="640080"/>
            <a:ext cx="10299170" cy="1852046"/>
          </a:xfrm>
        </p:spPr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Diabetes dataset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Pandas</a:t>
            </a:r>
            <a:endParaRPr lang="en-US" dirty="0"/>
          </a:p>
        </p:txBody>
      </p:sp>
      <p:sp>
        <p:nvSpPr>
          <p:cNvPr id="4" name="Rectangle: Rounded Corners 3"/>
          <p:cNvSpPr/>
          <p:nvPr/>
        </p:nvSpPr>
        <p:spPr>
          <a:xfrm>
            <a:off x="1598141" y="3653799"/>
            <a:ext cx="5799438" cy="893488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df</a:t>
            </a:r>
            <a:r>
              <a:rPr lang="en-US" dirty="0"/>
              <a:t> = </a:t>
            </a:r>
            <a:r>
              <a:rPr lang="en-US" dirty="0" err="1">
                <a:solidFill>
                  <a:srgbClr val="00FFCC"/>
                </a:solidFill>
              </a:rPr>
              <a:t>pd</a:t>
            </a:r>
            <a:r>
              <a:rPr lang="en-US" dirty="0" err="1">
                <a:solidFill>
                  <a:srgbClr val="FFFF00"/>
                </a:solidFill>
              </a:rPr>
              <a:t>.read_csv</a:t>
            </a:r>
            <a:r>
              <a:rPr lang="en-US" dirty="0">
                <a:solidFill>
                  <a:srgbClr val="FFC000"/>
                </a:solidFill>
              </a:rPr>
              <a:t>(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"pima-indians-diabetes.csv"</a:t>
            </a:r>
            <a:r>
              <a:rPr lang="en-US" dirty="0">
                <a:solidFill>
                  <a:srgbClr val="FFC000"/>
                </a:solidFill>
              </a:rPr>
              <a:t>)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df</a:t>
            </a:r>
            <a:r>
              <a:rPr lang="en-US" dirty="0"/>
              <a:t>.</a:t>
            </a:r>
            <a:r>
              <a:rPr lang="en-US" dirty="0">
                <a:solidFill>
                  <a:srgbClr val="FFFF00"/>
                </a:solidFill>
              </a:rPr>
              <a:t>info</a:t>
            </a:r>
            <a:r>
              <a:rPr lang="en-US" dirty="0">
                <a:solidFill>
                  <a:srgbClr val="FFC000"/>
                </a:solidFill>
              </a:rPr>
              <a:t>()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98141" y="4709815"/>
            <a:ext cx="5799438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Các </a:t>
            </a:r>
            <a:r>
              <a:rPr lang="en-US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bước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tích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</a:t>
            </a:r>
            <a:r>
              <a:rPr lang="en-US" sz="2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Kiểm</a:t>
            </a:r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</a:t>
            </a:r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</a:t>
            </a:r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bố</a:t>
            </a:r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dữ</a:t>
            </a:r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liệu</a:t>
            </a:r>
            <a:endParaRPr lang="en-US" sz="2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+ </a:t>
            </a:r>
            <a:r>
              <a:rPr lang="en-US" sz="2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Phát</a:t>
            </a:r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hiện</a:t>
            </a:r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dữ</a:t>
            </a:r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liệu</a:t>
            </a:r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thiếu</a:t>
            </a:r>
            <a:endParaRPr lang="en-US" sz="2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+ </a:t>
            </a:r>
            <a:r>
              <a:rPr lang="en-US" sz="2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</a:t>
            </a:r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tích</a:t>
            </a:r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thống</a:t>
            </a:r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kê</a:t>
            </a:r>
            <a:endParaRPr lang="en-US" sz="2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8896" y="3034425"/>
            <a:ext cx="4020305" cy="302572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0" endPos="28000" dist="5000" dir="5400000" sy="-100000" algn="bl" rotWithShape="0"/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0201" y="2073463"/>
            <a:ext cx="10302240" cy="1852046"/>
          </a:xfrm>
        </p:spPr>
        <p:txBody>
          <a:bodyPr/>
          <a:lstStyle/>
          <a:p>
            <a:r>
              <a:rPr lang="en-US" dirty="0"/>
              <a:t>Exploratory Data Analysis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0201" y="3925509"/>
            <a:ext cx="7853678" cy="726645"/>
          </a:xfrm>
        </p:spPr>
        <p:txBody>
          <a:bodyPr/>
          <a:lstStyle/>
          <a:p>
            <a:r>
              <a:rPr lang="en-US" dirty="0"/>
              <a:t>Các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EDA: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/>
          <p:cNvSpPr/>
          <p:nvPr/>
        </p:nvSpPr>
        <p:spPr>
          <a:xfrm>
            <a:off x="924695" y="3089189"/>
            <a:ext cx="4866505" cy="322804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3554627" y="614731"/>
            <a:ext cx="7498080" cy="1280160"/>
          </a:xfrm>
        </p:spPr>
        <p:txBody>
          <a:bodyPr/>
          <a:lstStyle/>
          <a:p>
            <a:r>
              <a:rPr lang="en-US" sz="4800" dirty="0"/>
              <a:t>Histogram distribution</a:t>
            </a:r>
            <a:endParaRPr lang="en-US" sz="2800" dirty="0"/>
          </a:p>
        </p:txBody>
      </p:sp>
      <p:pic>
        <p:nvPicPr>
          <p:cNvPr id="13" name="Picture Placeholder 12" descr="A mountain range with snow"/>
          <p:cNvPicPr>
            <a:picLocks noGrp="1" noChangeAspect="1"/>
          </p:cNvPicPr>
          <p:nvPr>
            <p:ph type="pic" sz="quarter" idx="13"/>
          </p:nvPr>
        </p:nvPicPr>
        <p:blipFill>
          <a:blip r:embed="rId1"/>
          <a:srcRect/>
          <a:stretch>
            <a:fillRect/>
          </a:stretch>
        </p:blipFill>
        <p:spPr>
          <a:xfrm>
            <a:off x="1317614" y="688698"/>
            <a:ext cx="1956925" cy="1956928"/>
          </a:xfr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704" y="1968858"/>
            <a:ext cx="5104952" cy="42744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0940" y="3179718"/>
            <a:ext cx="470792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Histogram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giúp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quan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sát</a:t>
            </a:r>
            <a:b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bố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dữ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liệu</a:t>
            </a:r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Một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số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biến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có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bố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lệch</a:t>
            </a:r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Ví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dụ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Insulin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lệch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phải</a:t>
            </a:r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Age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gần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bố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chuẩn</a:t>
            </a:r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558198" y="6317236"/>
            <a:ext cx="5013458" cy="473678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Histogram </a:t>
            </a:r>
            <a:r>
              <a:rPr lang="en-US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</a:t>
            </a:r>
            <a:r>
              <a:rPr 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bố</a:t>
            </a:r>
            <a:r>
              <a:rPr 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các</a:t>
            </a:r>
            <a:r>
              <a:rPr 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thuộc</a:t>
            </a:r>
            <a:r>
              <a:rPr 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tính</a:t>
            </a:r>
            <a:r>
              <a:rPr 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trong</a:t>
            </a:r>
            <a:r>
              <a:rPr 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Diabetes Dataset</a:t>
            </a:r>
            <a:endParaRPr lang="en-US" sz="16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/>
          <p:cNvSpPr/>
          <p:nvPr/>
        </p:nvSpPr>
        <p:spPr>
          <a:xfrm>
            <a:off x="914762" y="2726725"/>
            <a:ext cx="4866505" cy="3987111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099084" y="2928184"/>
            <a:ext cx="449785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Boxplot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giúp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phát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hiện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giá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trị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ngoại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lai</a:t>
            </a:r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Một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số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thuộc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tính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có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nhiều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outliers</a:t>
            </a:r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Đặc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biệt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- Insulin</a:t>
            </a:r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-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SkinThickness</a:t>
            </a:r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- BMI</a:t>
            </a:r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7223" y="1894891"/>
            <a:ext cx="4400480" cy="4316962"/>
          </a:xfrm>
          <a:prstGeom prst="rect">
            <a:avLst/>
          </a:prstGeom>
        </p:spPr>
      </p:pic>
      <p:pic>
        <p:nvPicPr>
          <p:cNvPr id="6" name="Picture Placeholder 12" descr="A mountain range with snow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17614" y="688698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</p:pic>
      <p:sp>
        <p:nvSpPr>
          <p:cNvPr id="11" name="Title 11"/>
          <p:cNvSpPr>
            <a:spLocks noGrp="1"/>
          </p:cNvSpPr>
          <p:nvPr>
            <p:ph type="title"/>
          </p:nvPr>
        </p:nvSpPr>
        <p:spPr>
          <a:xfrm>
            <a:off x="3554627" y="614731"/>
            <a:ext cx="7498080" cy="1280160"/>
          </a:xfrm>
        </p:spPr>
        <p:txBody>
          <a:bodyPr/>
          <a:lstStyle/>
          <a:p>
            <a:r>
              <a:rPr lang="en-US" sz="4800" dirty="0"/>
              <a:t>Boxplot &amp; </a:t>
            </a:r>
            <a:br>
              <a:rPr lang="en-US" sz="4800" dirty="0"/>
            </a:br>
            <a:r>
              <a:rPr lang="en-US" sz="4800" dirty="0"/>
              <a:t>Outliers Detection</a:t>
            </a:r>
            <a:endParaRPr lang="en-US" sz="2800" dirty="0"/>
          </a:p>
        </p:txBody>
      </p:sp>
      <p:sp>
        <p:nvSpPr>
          <p:cNvPr id="14" name="Rectangle 13"/>
          <p:cNvSpPr/>
          <p:nvPr/>
        </p:nvSpPr>
        <p:spPr>
          <a:xfrm>
            <a:off x="6410734" y="6359609"/>
            <a:ext cx="5013458" cy="354227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Boxplot for detecting outliers in Diabetes Dataset</a:t>
            </a:r>
            <a:endParaRPr lang="en-US" sz="16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/>
          <p:cNvSpPr/>
          <p:nvPr/>
        </p:nvSpPr>
        <p:spPr>
          <a:xfrm>
            <a:off x="914762" y="2726725"/>
            <a:ext cx="5084436" cy="1894861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32693" y="2781603"/>
            <a:ext cx="4866505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Đây là biểu đồ heatmap thể hiện correlation (tương quan) giữa các biến, ví dụ:</a:t>
            </a:r>
            <a:endParaRPr lang="en-US" sz="2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vi-VN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Glucose</a:t>
            </a:r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vi-VN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BM</a:t>
            </a:r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I, </a:t>
            </a:r>
            <a:r>
              <a:rPr lang="vi-VN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Age</a:t>
            </a:r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vi-VN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Pregnancies</a:t>
            </a:r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vi-VN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Insulin</a:t>
            </a:r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,</a:t>
            </a:r>
            <a:r>
              <a:rPr lang="vi-VN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Outcome</a:t>
            </a:r>
            <a:endParaRPr lang="en-US" sz="2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Placeholder 12" descr="A mountain range with snow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317614" y="688698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</p:pic>
      <p:sp>
        <p:nvSpPr>
          <p:cNvPr id="11" name="Title 11"/>
          <p:cNvSpPr>
            <a:spLocks noGrp="1"/>
          </p:cNvSpPr>
          <p:nvPr>
            <p:ph type="title"/>
          </p:nvPr>
        </p:nvSpPr>
        <p:spPr>
          <a:xfrm>
            <a:off x="3554627" y="614731"/>
            <a:ext cx="7498080" cy="1280160"/>
          </a:xfrm>
        </p:spPr>
        <p:txBody>
          <a:bodyPr/>
          <a:lstStyle/>
          <a:p>
            <a:r>
              <a:rPr lang="en-US" sz="4800" dirty="0"/>
              <a:t>Heatmap &amp;</a:t>
            </a:r>
            <a:br>
              <a:rPr lang="en-US" sz="4800" dirty="0"/>
            </a:br>
            <a:r>
              <a:rPr lang="en-US" sz="4800" dirty="0"/>
              <a:t>Ma </a:t>
            </a:r>
            <a:r>
              <a:rPr lang="en-US" sz="4800" dirty="0" err="1"/>
              <a:t>trận</a:t>
            </a:r>
            <a:r>
              <a:rPr lang="en-US" sz="4800" dirty="0"/>
              <a:t> </a:t>
            </a:r>
            <a:r>
              <a:rPr lang="en-US" sz="4800" dirty="0" err="1"/>
              <a:t>tương</a:t>
            </a:r>
            <a:r>
              <a:rPr lang="en-US" sz="4800" dirty="0"/>
              <a:t> </a:t>
            </a:r>
            <a:r>
              <a:rPr lang="en-US" sz="4800" dirty="0" err="1"/>
              <a:t>quan</a:t>
            </a:r>
            <a:endParaRPr lang="en-US" sz="2800" dirty="0"/>
          </a:p>
        </p:txBody>
      </p:sp>
      <p:sp>
        <p:nvSpPr>
          <p:cNvPr id="14" name="Rectangle 13"/>
          <p:cNvSpPr/>
          <p:nvPr/>
        </p:nvSpPr>
        <p:spPr>
          <a:xfrm>
            <a:off x="6410734" y="6243269"/>
            <a:ext cx="5013458" cy="528234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 trận tương quan giữa các biến trong Diabetes Dataset</a:t>
            </a:r>
            <a:endParaRPr lang="en-US" sz="16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412" y="1981594"/>
            <a:ext cx="4832895" cy="4261676"/>
          </a:xfrm>
          <a:prstGeom prst="rect">
            <a:avLst/>
          </a:prstGeom>
        </p:spPr>
      </p:pic>
      <p:sp>
        <p:nvSpPr>
          <p:cNvPr id="4" name="Rectangle: Rounded Corners 3"/>
          <p:cNvSpPr/>
          <p:nvPr/>
        </p:nvSpPr>
        <p:spPr>
          <a:xfrm>
            <a:off x="881154" y="4917989"/>
            <a:ext cx="5118044" cy="1713471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2200" dirty="0"/>
              <a:t>Heatmap thường có đặc điểm:</a:t>
            </a:r>
            <a:endParaRPr lang="en-US" sz="2200" dirty="0"/>
          </a:p>
          <a:p>
            <a:r>
              <a:rPr lang="en-US" sz="2200" dirty="0"/>
              <a:t>- </a:t>
            </a:r>
            <a:r>
              <a:rPr lang="vi-VN" sz="2200" dirty="0"/>
              <a:t>Là ma trận hình vuông</a:t>
            </a:r>
            <a:endParaRPr lang="en-US" sz="2200" dirty="0"/>
          </a:p>
          <a:p>
            <a:r>
              <a:rPr lang="en-US" sz="2200" dirty="0"/>
              <a:t>- </a:t>
            </a:r>
            <a:r>
              <a:rPr lang="vi-VN" sz="2200" dirty="0"/>
              <a:t>Các ô có màu đậm/nhạt khác nhau</a:t>
            </a:r>
            <a:endParaRPr lang="en-US" sz="2200" dirty="0"/>
          </a:p>
          <a:p>
            <a:r>
              <a:rPr lang="en-US" sz="2200" dirty="0"/>
              <a:t>- </a:t>
            </a:r>
            <a:r>
              <a:rPr lang="vi-VN" sz="2200" dirty="0"/>
              <a:t>Có giá trị correlation từ -1 → 1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/>
          <p:cNvSpPr/>
          <p:nvPr/>
        </p:nvSpPr>
        <p:spPr>
          <a:xfrm>
            <a:off x="909085" y="4723118"/>
            <a:ext cx="4855158" cy="2077492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/>
          <p:cNvSpPr/>
          <p:nvPr/>
        </p:nvSpPr>
        <p:spPr>
          <a:xfrm>
            <a:off x="909085" y="2645626"/>
            <a:ext cx="6452247" cy="1956928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033847" y="2645626"/>
            <a:ext cx="599302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Logistic Regression được sử dụng để dự đoán bệnh tiểu đường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Đ</a:t>
            </a:r>
            <a:r>
              <a:rPr lang="vi-VN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ây là một thuật toán phân loại nhị phân phổ biến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vi-VN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Mô hình dự đoán Outcome (0 hoặc 1) dựa trên các chỉ số sức khỏe</a:t>
            </a:r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vi-VN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Các tham số chính:</a:t>
            </a:r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- </a:t>
            </a:r>
            <a:r>
              <a:rPr lang="vi-VN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solver = lbfgs</a:t>
            </a:r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- </a:t>
            </a:r>
            <a:r>
              <a:rPr lang="vi-VN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max_iter = 100</a:t>
            </a:r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- </a:t>
            </a:r>
            <a:r>
              <a:rPr lang="vi-VN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penalty = l2</a:t>
            </a:r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- F</a:t>
            </a:r>
            <a:r>
              <a:rPr lang="vi-VN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it_intercept = True</a:t>
            </a:r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Placeholder 12" descr="A mountain range with snow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317614" y="688698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</p:pic>
      <p:sp>
        <p:nvSpPr>
          <p:cNvPr id="11" name="Title 11"/>
          <p:cNvSpPr>
            <a:spLocks noGrp="1"/>
          </p:cNvSpPr>
          <p:nvPr>
            <p:ph type="title"/>
          </p:nvPr>
        </p:nvSpPr>
        <p:spPr>
          <a:xfrm>
            <a:off x="3554627" y="614731"/>
            <a:ext cx="7498080" cy="1280160"/>
          </a:xfrm>
        </p:spPr>
        <p:txBody>
          <a:bodyPr/>
          <a:lstStyle/>
          <a:p>
            <a:r>
              <a:rPr lang="en-US" sz="4800" dirty="0"/>
              <a:t>Logistic Regression parameters</a:t>
            </a:r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669" y="1894891"/>
            <a:ext cx="2577859" cy="407754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987537" y="6145426"/>
            <a:ext cx="4576121" cy="354227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Các </a:t>
            </a:r>
            <a:r>
              <a:rPr lang="en-US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tham</a:t>
            </a:r>
            <a:r>
              <a:rPr 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số</a:t>
            </a:r>
            <a:r>
              <a:rPr 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của</a:t>
            </a:r>
            <a:r>
              <a:rPr 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mô</a:t>
            </a:r>
            <a:r>
              <a:rPr 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hình</a:t>
            </a:r>
            <a:r>
              <a:rPr 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Logistic Regression</a:t>
            </a:r>
            <a:endParaRPr lang="en-US" sz="16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436678" y="1908707"/>
            <a:ext cx="10302240" cy="1852046"/>
          </a:xfrm>
        </p:spPr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quan</a:t>
            </a:r>
            <a:endParaRPr lang="en-US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1436678" y="3197545"/>
            <a:ext cx="10302237" cy="2692509"/>
          </a:xfrm>
        </p:spPr>
        <p:txBody>
          <a:bodyPr/>
          <a:lstStyle/>
          <a:p>
            <a:r>
              <a:rPr lang="vi-VN" b="1" dirty="0"/>
              <a:t>Heatmap cho thấy:</a:t>
            </a:r>
            <a:endParaRPr lang="en-US" b="1" dirty="0"/>
          </a:p>
          <a:p>
            <a:r>
              <a:rPr lang="vi-VN" dirty="0"/>
              <a:t>Các biến ảnh hưởng mạnh đến bệnh tiểu đường:</a:t>
            </a:r>
            <a:endParaRPr lang="en-US" dirty="0"/>
          </a:p>
          <a:p>
            <a:r>
              <a:rPr lang="en-US" dirty="0"/>
              <a:t>	1. </a:t>
            </a:r>
            <a:r>
              <a:rPr lang="vi-VN" dirty="0"/>
              <a:t>Glucose</a:t>
            </a:r>
            <a:endParaRPr lang="en-US" dirty="0"/>
          </a:p>
          <a:p>
            <a:r>
              <a:rPr lang="en-US" dirty="0"/>
              <a:t>	2. </a:t>
            </a:r>
            <a:r>
              <a:rPr lang="vi-VN" dirty="0"/>
              <a:t>BMI</a:t>
            </a:r>
            <a:endParaRPr lang="en-US" dirty="0"/>
          </a:p>
          <a:p>
            <a:r>
              <a:rPr lang="en-US" dirty="0"/>
              <a:t>	3. </a:t>
            </a:r>
            <a:r>
              <a:rPr lang="vi-VN" dirty="0"/>
              <a:t>Age</a:t>
            </a:r>
            <a:endParaRPr lang="en-US" dirty="0"/>
          </a:p>
          <a:p>
            <a:r>
              <a:rPr lang="vi-VN" dirty="0"/>
              <a:t>Glucose có tương quan cao với Outcome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436675" y="1099751"/>
            <a:ext cx="10302240" cy="1852046"/>
          </a:xfrm>
        </p:spPr>
        <p:txBody>
          <a:bodyPr/>
          <a:lstStyle/>
          <a:p>
            <a:r>
              <a:rPr lang="en-US" dirty="0"/>
              <a:t>Data Preprocessing</a:t>
            </a:r>
            <a:endParaRPr lang="en-US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1436675" y="2257168"/>
            <a:ext cx="10302237" cy="4184822"/>
          </a:xfrm>
        </p:spPr>
        <p:txBody>
          <a:bodyPr>
            <a:normAutofit/>
          </a:bodyPr>
          <a:lstStyle/>
          <a:p>
            <a:r>
              <a:rPr lang="vi-VN" b="1" dirty="0"/>
              <a:t>Iris Dataset:</a:t>
            </a:r>
            <a:endParaRPr lang="en-US" b="1" dirty="0"/>
          </a:p>
          <a:p>
            <a:r>
              <a:rPr lang="en-US" dirty="0"/>
              <a:t>	- </a:t>
            </a:r>
            <a:r>
              <a:rPr lang="vi-VN" dirty="0"/>
              <a:t>Dataset sạch</a:t>
            </a:r>
            <a:endParaRPr lang="en-US" dirty="0"/>
          </a:p>
          <a:p>
            <a:r>
              <a:rPr lang="en-US" dirty="0"/>
              <a:t>	- </a:t>
            </a:r>
            <a:r>
              <a:rPr lang="vi-VN" dirty="0"/>
              <a:t>Phù hợp cho bài toán phân loại</a:t>
            </a:r>
            <a:endParaRPr lang="en-US" dirty="0"/>
          </a:p>
          <a:p>
            <a:r>
              <a:rPr lang="vi-VN" b="1" dirty="0"/>
              <a:t>Diabetes Dataset:</a:t>
            </a:r>
            <a:endParaRPr lang="en-US" b="1" dirty="0"/>
          </a:p>
          <a:p>
            <a:r>
              <a:rPr lang="en-US" dirty="0"/>
              <a:t>	- </a:t>
            </a:r>
            <a:r>
              <a:rPr lang="vi-VN" dirty="0"/>
              <a:t>Phức tạp hơn</a:t>
            </a:r>
            <a:endParaRPr lang="en-US" dirty="0"/>
          </a:p>
          <a:p>
            <a:r>
              <a:rPr lang="en-US" dirty="0"/>
              <a:t>	- </a:t>
            </a:r>
            <a:r>
              <a:rPr lang="vi-VN" dirty="0"/>
              <a:t>Có dữ liệu thiếu cần xử lý</a:t>
            </a:r>
            <a:endParaRPr lang="en-US" dirty="0"/>
          </a:p>
          <a:p>
            <a:r>
              <a:rPr lang="vi-VN" b="1" dirty="0"/>
              <a:t>EDA giúp:</a:t>
            </a:r>
            <a:endParaRPr lang="en-US" b="1" dirty="0"/>
          </a:p>
          <a:p>
            <a:r>
              <a:rPr lang="en-US" dirty="0"/>
              <a:t> 	- </a:t>
            </a:r>
            <a:r>
              <a:rPr lang="vi-VN" dirty="0"/>
              <a:t>Hiểu cấu trúc dữ liệu</a:t>
            </a:r>
            <a:endParaRPr lang="en-US" dirty="0"/>
          </a:p>
          <a:p>
            <a:r>
              <a:rPr lang="en-US" dirty="0"/>
              <a:t>	- </a:t>
            </a:r>
            <a:r>
              <a:rPr lang="vi-VN" dirty="0"/>
              <a:t>Lựa chọn đặc trưng tốt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436675" y="1413523"/>
            <a:ext cx="10302240" cy="1852046"/>
          </a:xfrm>
        </p:spPr>
        <p:txBody>
          <a:bodyPr/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luận</a:t>
            </a:r>
            <a:endParaRPr lang="en-US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1436675" y="2339546"/>
            <a:ext cx="10302237" cy="518983"/>
          </a:xfrm>
        </p:spPr>
        <p:txBody>
          <a:bodyPr>
            <a:normAutofit/>
          </a:bodyPr>
          <a:lstStyle/>
          <a:p>
            <a:r>
              <a:rPr lang="en-US" b="1"/>
              <a:t>EDA là bước quan trọng trong Machine Learning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318054" y="3429000"/>
            <a:ext cx="990188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Lợi ích</a:t>
            </a: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của</a:t>
            </a: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EDA</a:t>
            </a:r>
            <a:r>
              <a:rPr lang="vi-VN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- </a:t>
            </a:r>
            <a:r>
              <a:rPr lang="vi-VN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Hiểu rõ dữ liệu</a:t>
            </a:r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- </a:t>
            </a:r>
            <a:r>
              <a:rPr lang="vi-VN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Phát hiện vấn đề</a:t>
            </a:r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- </a:t>
            </a:r>
            <a:r>
              <a:rPr lang="vi-VN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Cải thiện độ chính xác mô hình</a:t>
            </a:r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vi-VN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 tích hai dataset cho thấy:</a:t>
            </a:r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- </a:t>
            </a:r>
            <a:r>
              <a:rPr lang="vi-VN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Iris: đơn giản, dễ phân loại</a:t>
            </a:r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- </a:t>
            </a:r>
            <a:r>
              <a:rPr lang="vi-VN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Diabetes: phức tạp, nhiều yếu tố ảnh hưởng</a:t>
            </a:r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160" y="685800"/>
            <a:ext cx="9137012" cy="1280160"/>
          </a:xfrm>
        </p:spPr>
        <p:txBody>
          <a:bodyPr/>
          <a:lstStyle/>
          <a:p>
            <a:r>
              <a:rPr lang="en-US" dirty="0"/>
              <a:t>Tài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khảo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327440"/>
            <a:ext cx="8506391" cy="4040574"/>
          </a:xfrm>
        </p:spPr>
        <p:txBody>
          <a:bodyPr/>
          <a:lstStyle/>
          <a:p>
            <a:r>
              <a:rPr lang="en-US" dirty="0"/>
              <a:t>UCI Machine Learning Repository - Iris </a:t>
            </a:r>
            <a:endParaRPr lang="en-US" dirty="0"/>
          </a:p>
          <a:p>
            <a:r>
              <a:rPr lang="en-US" dirty="0" err="1"/>
              <a:t>DatasetUCI</a:t>
            </a:r>
            <a:r>
              <a:rPr lang="en-US" dirty="0"/>
              <a:t> Machine Learning Repository - Diabetes Dataset</a:t>
            </a:r>
            <a:endParaRPr lang="en-US" dirty="0"/>
          </a:p>
          <a:p>
            <a:r>
              <a:rPr lang="en-US" dirty="0"/>
              <a:t>Smith et al., ADAP Learning Algorithm</a:t>
            </a:r>
            <a:endParaRPr lang="en-US" dirty="0"/>
          </a:p>
          <a:p>
            <a:r>
              <a:rPr lang="en-US" dirty="0"/>
              <a:t>Tài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Trí </a:t>
            </a:r>
            <a:r>
              <a:rPr lang="en-US" dirty="0" err="1"/>
              <a:t>tuệ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tạo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/>
          <a:lstStyle/>
          <a:p>
            <a:r>
              <a:rPr lang="en-US" dirty="0"/>
              <a:t>Thank you</a:t>
            </a:r>
            <a:endParaRPr lang="en-US" dirty="0"/>
          </a:p>
        </p:txBody>
      </p:sp>
      <p:pic>
        <p:nvPicPr>
          <p:cNvPr id="5" name="Picture Placeholder 14" descr="Mountains under near dusk sky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1"/>
          <a:srcRect l="13191" r="13191"/>
          <a:stretch>
            <a:fillRect/>
          </a:stretch>
        </p:blipFill>
        <p:spPr>
          <a:xfrm>
            <a:off x="1371606" y="3205313"/>
            <a:ext cx="3043077" cy="3043083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640610" y="2862072"/>
            <a:ext cx="6117381" cy="3017520"/>
          </a:xfrm>
        </p:spPr>
        <p:txBody>
          <a:bodyPr/>
          <a:lstStyle/>
          <a:p>
            <a:r>
              <a:rPr lang="en-US" dirty="0"/>
              <a:t>For listening!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e98e812-c589-4522-a8b9-7d64de01884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CD56B4CFAFD04CA364FA433B51A9CD" ma:contentTypeVersion="6" ma:contentTypeDescription="Create a new document." ma:contentTypeScope="" ma:versionID="8bc2da0d0c0f0eecab108f432dc6c190">
  <xsd:schema xmlns:xsd="http://www.w3.org/2001/XMLSchema" xmlns:xs="http://www.w3.org/2001/XMLSchema" xmlns:p="http://schemas.microsoft.com/office/2006/metadata/properties" xmlns:ns3="0e98e812-c589-4522-a8b9-7d64de018841" targetNamespace="http://schemas.microsoft.com/office/2006/metadata/properties" ma:root="true" ma:fieldsID="04ff686d6d61c1364005f936a32290c0" ns3:_="">
    <xsd:import namespace="0e98e812-c589-4522-a8b9-7d64de01884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98e812-c589-4522-a8b9-7d64de01884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ABD9919-8F5A-4B99-83E1-E90FE1DCF2E1}">
  <ds:schemaRefs/>
</ds:datastoreItem>
</file>

<file path=customXml/itemProps2.xml><?xml version="1.0" encoding="utf-8"?>
<ds:datastoreItem xmlns:ds="http://schemas.openxmlformats.org/officeDocument/2006/customXml" ds:itemID="{80E87F72-70BF-43BC-A0D4-53665DC12672}">
  <ds:schemaRefs/>
</ds:datastoreItem>
</file>

<file path=customXml/itemProps3.xml><?xml version="1.0" encoding="utf-8"?>
<ds:datastoreItem xmlns:ds="http://schemas.openxmlformats.org/officeDocument/2006/customXml" ds:itemID="{1B565922-9545-4F49-AAD1-74823DB9D31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{36000C14-EA6C-4404-A2D9-FEF2AE94910A}372c19de-dfd4-4de7-9293-53c5fa2d1f7c-TF54b766f8-63ee-43b7-9d15-113a5f305028b8e3081f_win32</Template>
  <TotalTime>0</TotalTime>
  <Words>3938</Words>
  <Application>WPS Presentation</Application>
  <PresentationFormat>Widescreen</PresentationFormat>
  <Paragraphs>223</Paragraphs>
  <Slides>23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Arial</vt:lpstr>
      <vt:lpstr>SimSun</vt:lpstr>
      <vt:lpstr>Wingdings</vt:lpstr>
      <vt:lpstr>Univers</vt:lpstr>
      <vt:lpstr>Microsoft Himalaya</vt:lpstr>
      <vt:lpstr>Microsoft YaHei</vt:lpstr>
      <vt:lpstr>Arial Unicode MS</vt:lpstr>
      <vt:lpstr>Calibri</vt:lpstr>
      <vt:lpstr>GradientVTI</vt:lpstr>
      <vt:lpstr>Môn: Cơ Sở Trí Tuệ Nhân Tạo Đề tài:BÁO CÁO PHÂN TÍCH KHÁM PHÁ DỮ LIỆU IRIS DATASET &amp; PIMA INDIANS DIABETES DATASET </vt:lpstr>
      <vt:lpstr>Thành viên thực hiện</vt:lpstr>
      <vt:lpstr>Machine Learning và Data Mining</vt:lpstr>
      <vt:lpstr>Ứng dụng</vt:lpstr>
      <vt:lpstr>PowerPoint 演示文稿</vt:lpstr>
      <vt:lpstr>Dataset sử dụng</vt:lpstr>
      <vt:lpstr>PowerPoint 演示文稿</vt:lpstr>
      <vt:lpstr>PowerPoint 演示文稿</vt:lpstr>
      <vt:lpstr>PowerPoint 演示文稿</vt:lpstr>
      <vt:lpstr>PowerPoint 演示文稿</vt:lpstr>
      <vt:lpstr>Phân tích dữ liệu Iris</vt:lpstr>
      <vt:lpstr>Kết quả  phân tích iris</vt:lpstr>
      <vt:lpstr>Phân tích Diabetes dataset</vt:lpstr>
      <vt:lpstr>Exploratory Data Analysis</vt:lpstr>
      <vt:lpstr>Histogram distribution</vt:lpstr>
      <vt:lpstr>Boxplot &amp;  Outliers Detection</vt:lpstr>
      <vt:lpstr>Heatmap &amp; Ma trận tương quan</vt:lpstr>
      <vt:lpstr>Logistic Regression parameters</vt:lpstr>
      <vt:lpstr>Phân tích tương quan</vt:lpstr>
      <vt:lpstr>Data Preprocessing</vt:lpstr>
      <vt:lpstr>Kết luận</vt:lpstr>
      <vt:lpstr>Tài liệu tham khảo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Nguyễn Khải Hoàn Ca</dc:creator>
  <cp:lastModifiedBy>Bảo Lê Nguyễn Anh</cp:lastModifiedBy>
  <cp:revision>4</cp:revision>
  <dcterms:created xsi:type="dcterms:W3CDTF">2026-03-17T13:39:00Z</dcterms:created>
  <dcterms:modified xsi:type="dcterms:W3CDTF">2026-03-18T15:56:45Z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0x01010036CD56B4CFAFD04CA364FA433B51A9CD</vt:lpwstr>
  </property>
  <property fmtid="{D5CDD505-2E9C-101B-9397-08002B2CF9AE}" pid="3" name="ICV">
    <vt:lpwstr>FBC9E58F9CA64F0C9FF34CC27FD56B58_13</vt:lpwstr>
  </property>
  <property fmtid="{D5CDD505-2E9C-101B-9397-08002B2CF9AE}" pid="4" name="KSOProductBuildVer">
    <vt:lpwstr>1033-12.1.0.24752</vt:lpwstr>
  </property>
</Properties>
</file>