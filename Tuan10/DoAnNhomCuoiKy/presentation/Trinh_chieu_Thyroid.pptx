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9" d="100"/>
          <a:sy n="159" d="100"/>
        </p:scale>
        <p:origin x="2562"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150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Bao_cao_Do_an_Co_so_Tri_tue_nhan_tao_Thyroid_Updated.docx
- final_prjoject.pdf
- SGU-GroupNo-new-thyroid-Final_FIXED.zip/data/raw/new-thyroid.names
- Hình ảnh: class distribution và correlation heatmap trích từ báo cáo Word đã cập nhật.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Cấu trúc nội dung tổng hợp từ báo cáo Word thyroid và yêu cầu của final_prjoject.pdf.
- Hình ảnh bên phải: class distribution từ báo cáo Word đã cập nhật.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Bao_cao_Do_an_Co_so_Tri_tue_nhan_tao_Thyroid_Updated.docx
- new-thyroid.names
- final_prjoject.pdf
- Hình ảnh heatmap trích từ báo cáo Word đã cập nhật.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Kết luận EDA và số liệu lớp từ báo cáo Word thyroid.
- Hình ảnh: class distribution và correlation heatmap trích từ báo cáo Word đã cập nhật.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Thiết lập thực nghiệm lấy từ báo cáo Word thyroid và code trong SGU-GroupNo-new-thyroid-Final_FIXED.zip.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Hình metrics comparison trích từ báo cáo Word thyroid.
- Bảng tóm tắt được tổng hợp từ results/baseline/metrics_table.csv trong project fixed.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Bảng CV/test tổng hợp từ chạy lại evaluate.py trên project fixed.
- Biểu đồ execution time trích từ báo cáo Word thyroid.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Kỹ thuật tuning và kết quả lấy từ báo cáo Word thyroid và results/tuned/metrics_table.csv trong project fixed.
- Biểu đồ tuned_vs_baseline trích từ báo cáo Word thyroid.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Confusion matrix và ROC trích từ báo cáo Word thyroid.
- Các metric final lấy từ phần Conclusions/Final model trong báo cáo Word thyroid.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Kết luận và future work lấy từ báo cáo Word thyroid.
- Con số final F1 lấy từ phần mô hình cuối cùng trong báo cáo Word thyroid.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3F4"/>
        </a:solidFill>
        <a:effectLst/>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E9ECEF"/>
          </a:solidFill>
          <a:ln w="12700">
            <a:solidFill>
              <a:srgbClr val="E9ECEF"/>
            </a:solidFill>
            <a:prstDash val="solid"/>
          </a:ln>
        </p:spPr>
        <p:txBody>
          <a:bodyPr/>
          <a:lstStyle/>
          <a:p>
            <a:endParaRPr lang="en-US"/>
          </a:p>
        </p:txBody>
      </p:sp>
      <p:sp>
        <p:nvSpPr>
          <p:cNvPr id="3" name="Shape 1"/>
          <p:cNvSpPr/>
          <p:nvPr/>
        </p:nvSpPr>
        <p:spPr>
          <a:xfrm>
            <a:off x="4023360" y="0"/>
            <a:ext cx="8168335" cy="6858000"/>
          </a:xfrm>
          <a:prstGeom prst="rect">
            <a:avLst/>
          </a:prstGeom>
          <a:solidFill>
            <a:srgbClr val="F7F8F9"/>
          </a:solidFill>
          <a:ln w="12700">
            <a:solidFill>
              <a:srgbClr val="F7F8F9"/>
            </a:solidFill>
            <a:prstDash val="solid"/>
          </a:ln>
        </p:spPr>
        <p:txBody>
          <a:bodyPr/>
          <a:lstStyle/>
          <a:p>
            <a:endParaRPr lang="en-US"/>
          </a:p>
        </p:txBody>
      </p:sp>
      <p:sp>
        <p:nvSpPr>
          <p:cNvPr id="4" name="Text 2"/>
          <p:cNvSpPr/>
          <p:nvPr/>
        </p:nvSpPr>
        <p:spPr>
          <a:xfrm>
            <a:off x="475488" y="713232"/>
            <a:ext cx="3154680" cy="685800"/>
          </a:xfrm>
          <a:prstGeom prst="rect">
            <a:avLst/>
          </a:prstGeom>
          <a:noFill/>
          <a:ln/>
        </p:spPr>
        <p:txBody>
          <a:bodyPr wrap="square" lIns="0" tIns="0" rIns="0" bIns="0" rtlCol="0" anchor="ctr"/>
          <a:lstStyle/>
          <a:p>
            <a:pPr marL="0" indent="0">
              <a:buNone/>
            </a:pPr>
            <a:r>
              <a:rPr lang="en-US" sz="1800" b="1" dirty="0">
                <a:solidFill>
                  <a:srgbClr val="243746"/>
                </a:solidFill>
                <a:latin typeface="Arial" pitchFamily="34" charset="0"/>
                <a:ea typeface="Arial" pitchFamily="34" charset="-122"/>
                <a:cs typeface="Arial" pitchFamily="34" charset="-120"/>
              </a:rPr>
              <a:t>ĐỒ ÁN</a:t>
            </a:r>
            <a:endParaRPr lang="en-US" sz="1800" dirty="0"/>
          </a:p>
          <a:p>
            <a:pPr marL="0" indent="0">
              <a:buNone/>
            </a:pPr>
            <a:r>
              <a:rPr lang="en-US" sz="1800" b="1" dirty="0">
                <a:solidFill>
                  <a:srgbClr val="243746"/>
                </a:solidFill>
                <a:latin typeface="Arial" pitchFamily="34" charset="0"/>
                <a:ea typeface="Arial" pitchFamily="34" charset="-122"/>
                <a:cs typeface="Arial" pitchFamily="34" charset="-120"/>
              </a:rPr>
              <a:t>CƠ SỞ TRÍ TUỆ NHÂN TẠO</a:t>
            </a:r>
            <a:endParaRPr lang="en-US" sz="1800" dirty="0"/>
          </a:p>
        </p:txBody>
      </p:sp>
      <p:sp>
        <p:nvSpPr>
          <p:cNvPr id="5" name="Text 3"/>
          <p:cNvSpPr/>
          <p:nvPr/>
        </p:nvSpPr>
        <p:spPr>
          <a:xfrm>
            <a:off x="475488" y="1554480"/>
            <a:ext cx="3296412" cy="822960"/>
          </a:xfrm>
          <a:prstGeom prst="rect">
            <a:avLst/>
          </a:prstGeom>
          <a:noFill/>
          <a:ln/>
        </p:spPr>
        <p:txBody>
          <a:bodyPr wrap="square" lIns="0" tIns="0" rIns="0" bIns="0" rtlCol="0" anchor="ctr"/>
          <a:lstStyle/>
          <a:p>
            <a:pPr marL="0" indent="0">
              <a:buNone/>
            </a:pPr>
            <a:r>
              <a:rPr lang="en-US" sz="2200" b="1" dirty="0">
                <a:solidFill>
                  <a:srgbClr val="116466"/>
                </a:solidFill>
                <a:latin typeface="Arial" pitchFamily="34" charset="0"/>
                <a:ea typeface="Arial" pitchFamily="34" charset="-122"/>
                <a:cs typeface="Arial" pitchFamily="34" charset="-120"/>
              </a:rPr>
              <a:t>Phân lớp dữ liệu Thyroid Gland</a:t>
            </a:r>
            <a:endParaRPr lang="en-US" sz="2200" dirty="0"/>
          </a:p>
          <a:p>
            <a:pPr marL="0" indent="0">
              <a:buNone/>
            </a:pPr>
            <a:r>
              <a:rPr lang="en-US" sz="2200" b="1" dirty="0">
                <a:solidFill>
                  <a:srgbClr val="116466"/>
                </a:solidFill>
                <a:latin typeface="Arial" pitchFamily="34" charset="0"/>
                <a:ea typeface="Arial" pitchFamily="34" charset="-122"/>
                <a:cs typeface="Arial" pitchFamily="34" charset="-120"/>
              </a:rPr>
              <a:t>trên dataset new-thyroid</a:t>
            </a:r>
            <a:endParaRPr lang="en-US" sz="2200" dirty="0"/>
          </a:p>
        </p:txBody>
      </p:sp>
      <p:sp>
        <p:nvSpPr>
          <p:cNvPr id="6" name="Text 4"/>
          <p:cNvSpPr/>
          <p:nvPr/>
        </p:nvSpPr>
        <p:spPr>
          <a:xfrm>
            <a:off x="475488" y="2532888"/>
            <a:ext cx="3200400" cy="502920"/>
          </a:xfrm>
          <a:prstGeom prst="rect">
            <a:avLst/>
          </a:prstGeom>
          <a:noFill/>
          <a:ln/>
        </p:spPr>
        <p:txBody>
          <a:bodyPr wrap="square" lIns="0" tIns="0" rIns="0" bIns="0" rtlCol="0" anchor="ctr"/>
          <a:lstStyle/>
          <a:p>
            <a:pPr marL="0" indent="0">
              <a:buNone/>
            </a:pPr>
            <a:r>
              <a:rPr lang="en-US" sz="1150" dirty="0">
                <a:solidFill>
                  <a:srgbClr val="5F6B6D"/>
                </a:solidFill>
                <a:latin typeface="Arial" pitchFamily="34" charset="0"/>
                <a:ea typeface="Arial" pitchFamily="34" charset="-122"/>
                <a:cs typeface="Arial" pitchFamily="34" charset="-120"/>
              </a:rPr>
              <a:t>Multiclass classification với scikit-learn</a:t>
            </a:r>
            <a:endParaRPr lang="en-US" sz="1150" dirty="0"/>
          </a:p>
          <a:p>
            <a:pPr marL="0" indent="0">
              <a:buNone/>
            </a:pPr>
            <a:r>
              <a:rPr lang="en-US" sz="1150" dirty="0">
                <a:solidFill>
                  <a:srgbClr val="5F6B6D"/>
                </a:solidFill>
                <a:latin typeface="Arial" pitchFamily="34" charset="0"/>
                <a:ea typeface="Arial" pitchFamily="34" charset="-122"/>
                <a:cs typeface="Arial" pitchFamily="34" charset="-120"/>
              </a:rPr>
              <a:t>10 thuật toán baseline • 5-fold CV • Random Forest tuned</a:t>
            </a:r>
            <a:endParaRPr lang="en-US" sz="1150" dirty="0"/>
          </a:p>
        </p:txBody>
      </p:sp>
      <p:sp>
        <p:nvSpPr>
          <p:cNvPr id="7" name="Shape 5"/>
          <p:cNvSpPr/>
          <p:nvPr/>
        </p:nvSpPr>
        <p:spPr>
          <a:xfrm>
            <a:off x="475488" y="3172968"/>
            <a:ext cx="2834640" cy="0"/>
          </a:xfrm>
          <a:prstGeom prst="line">
            <a:avLst/>
          </a:prstGeom>
          <a:noFill/>
          <a:ln w="15875">
            <a:solidFill>
              <a:srgbClr val="116466"/>
            </a:solidFill>
            <a:prstDash val="solid"/>
          </a:ln>
        </p:spPr>
        <p:txBody>
          <a:bodyPr/>
          <a:lstStyle/>
          <a:p>
            <a:endParaRPr lang="en-US"/>
          </a:p>
        </p:txBody>
      </p:sp>
      <p:sp>
        <p:nvSpPr>
          <p:cNvPr id="8" name="Text 6"/>
          <p:cNvSpPr/>
          <p:nvPr/>
        </p:nvSpPr>
        <p:spPr>
          <a:xfrm>
            <a:off x="475488" y="5074920"/>
            <a:ext cx="3154680" cy="731520"/>
          </a:xfrm>
          <a:prstGeom prst="rect">
            <a:avLst/>
          </a:prstGeom>
          <a:noFill/>
          <a:ln/>
        </p:spPr>
        <p:txBody>
          <a:bodyPr wrap="square" lIns="0" tIns="0" rIns="0" bIns="0" rtlCol="0" anchor="ctr"/>
          <a:lstStyle/>
          <a:p>
            <a:pPr marL="0" indent="0">
              <a:buNone/>
            </a:pPr>
            <a:r>
              <a:rPr lang="en-US" sz="1000" dirty="0" err="1">
                <a:solidFill>
                  <a:srgbClr val="566467"/>
                </a:solidFill>
                <a:latin typeface="Arial" pitchFamily="34" charset="0"/>
                <a:ea typeface="Arial" pitchFamily="34" charset="-122"/>
                <a:cs typeface="Arial" pitchFamily="34" charset="-120"/>
              </a:rPr>
              <a:t>Nhóm</a:t>
            </a:r>
            <a:r>
              <a:rPr lang="en-US" sz="1000" dirty="0">
                <a:solidFill>
                  <a:srgbClr val="566467"/>
                </a:solidFill>
                <a:latin typeface="Arial" pitchFamily="34" charset="0"/>
                <a:ea typeface="Arial" pitchFamily="34" charset="-122"/>
                <a:cs typeface="Arial" pitchFamily="34" charset="-120"/>
              </a:rPr>
              <a:t> </a:t>
            </a:r>
            <a:r>
              <a:rPr lang="en-US" sz="1000" dirty="0" err="1">
                <a:solidFill>
                  <a:srgbClr val="566467"/>
                </a:solidFill>
                <a:latin typeface="Arial" pitchFamily="34" charset="0"/>
                <a:ea typeface="Arial" pitchFamily="34" charset="-122"/>
                <a:cs typeface="Arial" pitchFamily="34" charset="-120"/>
              </a:rPr>
              <a:t>số</a:t>
            </a:r>
            <a:r>
              <a:rPr lang="en-US" sz="1000" dirty="0">
                <a:solidFill>
                  <a:srgbClr val="566467"/>
                </a:solidFill>
                <a:latin typeface="Arial" pitchFamily="34" charset="0"/>
                <a:ea typeface="Arial" pitchFamily="34" charset="-122"/>
                <a:cs typeface="Arial" pitchFamily="34" charset="-120"/>
              </a:rPr>
              <a:t>:</a:t>
            </a:r>
          </a:p>
          <a:p>
            <a:pPr marL="0" indent="0">
              <a:buNone/>
            </a:pPr>
            <a:r>
              <a:rPr lang="en-US" sz="1000" dirty="0" err="1">
                <a:solidFill>
                  <a:srgbClr val="566467"/>
                </a:solidFill>
                <a:latin typeface="Arial" pitchFamily="34" charset="0"/>
                <a:ea typeface="Arial" pitchFamily="34" charset="-122"/>
                <a:cs typeface="Arial" pitchFamily="34" charset="-120"/>
              </a:rPr>
              <a:t>Giảng</a:t>
            </a:r>
            <a:r>
              <a:rPr lang="en-US" sz="1000" dirty="0">
                <a:solidFill>
                  <a:srgbClr val="566467"/>
                </a:solidFill>
                <a:latin typeface="Arial" pitchFamily="34" charset="0"/>
                <a:ea typeface="Arial" pitchFamily="34" charset="-122"/>
                <a:cs typeface="Arial" pitchFamily="34" charset="-120"/>
              </a:rPr>
              <a:t> </a:t>
            </a:r>
            <a:r>
              <a:rPr lang="en-US" sz="1000" dirty="0" err="1">
                <a:solidFill>
                  <a:srgbClr val="566467"/>
                </a:solidFill>
                <a:latin typeface="Arial" pitchFamily="34" charset="0"/>
                <a:ea typeface="Arial" pitchFamily="34" charset="-122"/>
                <a:cs typeface="Arial" pitchFamily="34" charset="-120"/>
              </a:rPr>
              <a:t>viên</a:t>
            </a:r>
            <a:r>
              <a:rPr lang="en-US" sz="1000" dirty="0">
                <a:solidFill>
                  <a:srgbClr val="566467"/>
                </a:solidFill>
                <a:latin typeface="Arial" pitchFamily="34" charset="0"/>
                <a:ea typeface="Arial" pitchFamily="34" charset="-122"/>
                <a:cs typeface="Arial" pitchFamily="34" charset="-120"/>
              </a:rPr>
              <a:t>: </a:t>
            </a:r>
            <a:r>
              <a:rPr lang="en-US" sz="1000" dirty="0" err="1">
                <a:solidFill>
                  <a:srgbClr val="566467"/>
                </a:solidFill>
                <a:latin typeface="Arial" pitchFamily="34" charset="0"/>
                <a:ea typeface="Arial" pitchFamily="34" charset="-122"/>
                <a:cs typeface="Arial" pitchFamily="34" charset="-120"/>
              </a:rPr>
              <a:t>Đỗ</a:t>
            </a:r>
            <a:r>
              <a:rPr lang="en-US" sz="1000" dirty="0">
                <a:solidFill>
                  <a:srgbClr val="566467"/>
                </a:solidFill>
                <a:latin typeface="Arial" pitchFamily="34" charset="0"/>
                <a:ea typeface="Arial" pitchFamily="34" charset="-122"/>
                <a:cs typeface="Arial" pitchFamily="34" charset="-120"/>
              </a:rPr>
              <a:t> Như Tài</a:t>
            </a:r>
            <a:endParaRPr lang="en-US" sz="1000" dirty="0"/>
          </a:p>
          <a:p>
            <a:pPr marL="0" indent="0">
              <a:buNone/>
            </a:pPr>
            <a:r>
              <a:rPr lang="en-US" sz="1000" dirty="0">
                <a:solidFill>
                  <a:srgbClr val="566467"/>
                </a:solidFill>
                <a:latin typeface="Arial" pitchFamily="34" charset="0"/>
                <a:ea typeface="Arial" pitchFamily="34" charset="-122"/>
                <a:cs typeface="Arial" pitchFamily="34" charset="-120"/>
              </a:rPr>
              <a:t>Khoa/Bộ môn: Công </a:t>
            </a:r>
            <a:r>
              <a:rPr lang="en-US" sz="1000" dirty="0" err="1">
                <a:solidFill>
                  <a:srgbClr val="566467"/>
                </a:solidFill>
                <a:latin typeface="Arial" pitchFamily="34" charset="0"/>
                <a:ea typeface="Arial" pitchFamily="34" charset="-122"/>
                <a:cs typeface="Arial" pitchFamily="34" charset="-120"/>
              </a:rPr>
              <a:t>Nghệ</a:t>
            </a:r>
            <a:r>
              <a:rPr lang="en-US" sz="1000" dirty="0">
                <a:solidFill>
                  <a:srgbClr val="566467"/>
                </a:solidFill>
                <a:latin typeface="Arial" pitchFamily="34" charset="0"/>
                <a:ea typeface="Arial" pitchFamily="34" charset="-122"/>
                <a:cs typeface="Arial" pitchFamily="34" charset="-120"/>
              </a:rPr>
              <a:t> Thông Tin</a:t>
            </a:r>
            <a:endParaRPr lang="en-US" sz="1000" dirty="0"/>
          </a:p>
        </p:txBody>
      </p:sp>
      <p:sp>
        <p:nvSpPr>
          <p:cNvPr id="9" name="Text 7"/>
          <p:cNvSpPr/>
          <p:nvPr/>
        </p:nvSpPr>
        <p:spPr>
          <a:xfrm>
            <a:off x="475488" y="6428232"/>
            <a:ext cx="2377440" cy="137160"/>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 Ngày nộp / Năm học</a:t>
            </a:r>
            <a:endParaRPr lang="en-US" sz="750" dirty="0"/>
          </a:p>
        </p:txBody>
      </p:sp>
      <p:pic>
        <p:nvPicPr>
          <p:cNvPr id="10" name="Image 0" descr="/mnt/data/docx_extract/word/media/image2.png"/>
          <p:cNvPicPr>
            <a:picLocks noChangeAspect="1"/>
          </p:cNvPicPr>
          <p:nvPr/>
        </p:nvPicPr>
        <p:blipFill>
          <a:blip r:embed="rId3"/>
          <a:stretch>
            <a:fillRect/>
          </a:stretch>
        </p:blipFill>
        <p:spPr>
          <a:xfrm>
            <a:off x="4617720" y="733479"/>
            <a:ext cx="2926080" cy="2090057"/>
          </a:xfrm>
          <a:prstGeom prst="rect">
            <a:avLst/>
          </a:prstGeom>
        </p:spPr>
      </p:pic>
      <p:pic>
        <p:nvPicPr>
          <p:cNvPr id="11" name="Image 1" descr="/mnt/data/docx_extract/word/media/image1.png"/>
          <p:cNvPicPr>
            <a:picLocks noChangeAspect="1"/>
          </p:cNvPicPr>
          <p:nvPr/>
        </p:nvPicPr>
        <p:blipFill>
          <a:blip r:embed="rId4"/>
          <a:stretch>
            <a:fillRect/>
          </a:stretch>
        </p:blipFill>
        <p:spPr>
          <a:xfrm>
            <a:off x="7589520" y="1028700"/>
            <a:ext cx="3886200" cy="1554480"/>
          </a:xfrm>
          <a:prstGeom prst="rect">
            <a:avLst/>
          </a:prstGeom>
        </p:spPr>
      </p:pic>
      <p:sp>
        <p:nvSpPr>
          <p:cNvPr id="12" name="Text 8"/>
          <p:cNvSpPr/>
          <p:nvPr/>
        </p:nvSpPr>
        <p:spPr>
          <a:xfrm>
            <a:off x="4617720" y="3246120"/>
            <a:ext cx="6035040" cy="594360"/>
          </a:xfrm>
          <a:prstGeom prst="rect">
            <a:avLst/>
          </a:prstGeom>
          <a:noFill/>
          <a:ln/>
        </p:spPr>
        <p:txBody>
          <a:bodyPr wrap="square" lIns="0" tIns="0" rIns="0" bIns="0" rtlCol="0" anchor="ctr"/>
          <a:lstStyle/>
          <a:p>
            <a:pPr marL="0" indent="0">
              <a:buNone/>
            </a:pPr>
            <a:r>
              <a:rPr lang="en-US" sz="1800" dirty="0">
                <a:solidFill>
                  <a:srgbClr val="183B4E"/>
                </a:solidFill>
                <a:latin typeface="Arial" pitchFamily="34" charset="0"/>
                <a:ea typeface="Arial" pitchFamily="34" charset="-122"/>
                <a:cs typeface="Arial" pitchFamily="34" charset="-120"/>
              </a:rPr>
              <a:t>Dataset new-thyroid gồm 215 mẫu, 5 thuộc tính liên tục và 3 lớp chẩn đoán:</a:t>
            </a:r>
            <a:endParaRPr lang="en-US" sz="1800" dirty="0"/>
          </a:p>
          <a:p>
            <a:pPr marL="0" indent="0">
              <a:buNone/>
            </a:pPr>
            <a:r>
              <a:rPr lang="en-US" sz="1800" dirty="0">
                <a:solidFill>
                  <a:srgbClr val="183B4E"/>
                </a:solidFill>
                <a:latin typeface="Arial" pitchFamily="34" charset="0"/>
                <a:ea typeface="Arial" pitchFamily="34" charset="-122"/>
                <a:cs typeface="Arial" pitchFamily="34" charset="-120"/>
              </a:rPr>
              <a:t>Normal, Hyper, Hypo.</a:t>
            </a:r>
            <a:endParaRPr lang="en-US" sz="1800" dirty="0"/>
          </a:p>
        </p:txBody>
      </p:sp>
      <p:sp>
        <p:nvSpPr>
          <p:cNvPr id="13" name="Shape 9"/>
          <p:cNvSpPr/>
          <p:nvPr/>
        </p:nvSpPr>
        <p:spPr>
          <a:xfrm>
            <a:off x="4617720" y="4187952"/>
            <a:ext cx="1536192" cy="658368"/>
          </a:xfrm>
          <a:prstGeom prst="roundRect">
            <a:avLst>
              <a:gd name="adj" fmla="val 11111"/>
            </a:avLst>
          </a:prstGeom>
          <a:solidFill>
            <a:srgbClr val="EFF6F6"/>
          </a:solidFill>
          <a:ln w="12700">
            <a:solidFill>
              <a:srgbClr val="D7E6E6"/>
            </a:solidFill>
            <a:prstDash val="solid"/>
          </a:ln>
        </p:spPr>
        <p:txBody>
          <a:bodyPr/>
          <a:lstStyle/>
          <a:p>
            <a:endParaRPr lang="en-US"/>
          </a:p>
        </p:txBody>
      </p:sp>
      <p:sp>
        <p:nvSpPr>
          <p:cNvPr id="14" name="Text 10"/>
          <p:cNvSpPr/>
          <p:nvPr/>
        </p:nvSpPr>
        <p:spPr>
          <a:xfrm>
            <a:off x="4690872" y="4288536"/>
            <a:ext cx="1389888"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215</a:t>
            </a:r>
            <a:endParaRPr lang="en-US" sz="1800" dirty="0"/>
          </a:p>
        </p:txBody>
      </p:sp>
      <p:sp>
        <p:nvSpPr>
          <p:cNvPr id="15" name="Text 11"/>
          <p:cNvSpPr/>
          <p:nvPr/>
        </p:nvSpPr>
        <p:spPr>
          <a:xfrm>
            <a:off x="4690872" y="4544568"/>
            <a:ext cx="1389888"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Mẫu dữ liệu</a:t>
            </a:r>
            <a:endParaRPr lang="en-US" sz="850" dirty="0"/>
          </a:p>
        </p:txBody>
      </p:sp>
      <p:sp>
        <p:nvSpPr>
          <p:cNvPr id="16" name="Shape 12"/>
          <p:cNvSpPr/>
          <p:nvPr/>
        </p:nvSpPr>
        <p:spPr>
          <a:xfrm>
            <a:off x="6327648" y="4187952"/>
            <a:ext cx="1536192" cy="658368"/>
          </a:xfrm>
          <a:prstGeom prst="roundRect">
            <a:avLst>
              <a:gd name="adj" fmla="val 11111"/>
            </a:avLst>
          </a:prstGeom>
          <a:solidFill>
            <a:srgbClr val="EFF6F6"/>
          </a:solidFill>
          <a:ln w="12700">
            <a:solidFill>
              <a:srgbClr val="D7E6E6"/>
            </a:solidFill>
            <a:prstDash val="solid"/>
          </a:ln>
        </p:spPr>
        <p:txBody>
          <a:bodyPr/>
          <a:lstStyle/>
          <a:p>
            <a:endParaRPr lang="en-US"/>
          </a:p>
        </p:txBody>
      </p:sp>
      <p:sp>
        <p:nvSpPr>
          <p:cNvPr id="17" name="Text 13"/>
          <p:cNvSpPr/>
          <p:nvPr/>
        </p:nvSpPr>
        <p:spPr>
          <a:xfrm>
            <a:off x="6400800" y="4288536"/>
            <a:ext cx="1389888"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5</a:t>
            </a:r>
            <a:endParaRPr lang="en-US" sz="1800" dirty="0"/>
          </a:p>
        </p:txBody>
      </p:sp>
      <p:sp>
        <p:nvSpPr>
          <p:cNvPr id="18" name="Text 14"/>
          <p:cNvSpPr/>
          <p:nvPr/>
        </p:nvSpPr>
        <p:spPr>
          <a:xfrm>
            <a:off x="6400800" y="4544568"/>
            <a:ext cx="1389888"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Thuộc tính</a:t>
            </a:r>
            <a:endParaRPr lang="en-US" sz="850" dirty="0"/>
          </a:p>
        </p:txBody>
      </p:sp>
      <p:sp>
        <p:nvSpPr>
          <p:cNvPr id="19" name="Shape 15"/>
          <p:cNvSpPr/>
          <p:nvPr/>
        </p:nvSpPr>
        <p:spPr>
          <a:xfrm>
            <a:off x="8037576" y="4187952"/>
            <a:ext cx="1536192" cy="658368"/>
          </a:xfrm>
          <a:prstGeom prst="roundRect">
            <a:avLst>
              <a:gd name="adj" fmla="val 11111"/>
            </a:avLst>
          </a:prstGeom>
          <a:solidFill>
            <a:srgbClr val="EFF6F6"/>
          </a:solidFill>
          <a:ln w="12700">
            <a:solidFill>
              <a:srgbClr val="D7E6E6"/>
            </a:solidFill>
            <a:prstDash val="solid"/>
          </a:ln>
        </p:spPr>
        <p:txBody>
          <a:bodyPr/>
          <a:lstStyle/>
          <a:p>
            <a:endParaRPr lang="en-US"/>
          </a:p>
        </p:txBody>
      </p:sp>
      <p:sp>
        <p:nvSpPr>
          <p:cNvPr id="20" name="Text 16"/>
          <p:cNvSpPr/>
          <p:nvPr/>
        </p:nvSpPr>
        <p:spPr>
          <a:xfrm>
            <a:off x="8110728" y="4288536"/>
            <a:ext cx="1389888"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3</a:t>
            </a:r>
            <a:endParaRPr lang="en-US" sz="1800" dirty="0"/>
          </a:p>
        </p:txBody>
      </p:sp>
      <p:sp>
        <p:nvSpPr>
          <p:cNvPr id="21" name="Text 17"/>
          <p:cNvSpPr/>
          <p:nvPr/>
        </p:nvSpPr>
        <p:spPr>
          <a:xfrm>
            <a:off x="8110728" y="4544568"/>
            <a:ext cx="1389888"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Lớp</a:t>
            </a:r>
            <a:endParaRPr lang="en-US" sz="850" dirty="0"/>
          </a:p>
        </p:txBody>
      </p:sp>
      <p:sp>
        <p:nvSpPr>
          <p:cNvPr id="22" name="Shape 18"/>
          <p:cNvSpPr/>
          <p:nvPr/>
        </p:nvSpPr>
        <p:spPr>
          <a:xfrm>
            <a:off x="9747504" y="4187952"/>
            <a:ext cx="1536192" cy="658368"/>
          </a:xfrm>
          <a:prstGeom prst="roundRect">
            <a:avLst>
              <a:gd name="adj" fmla="val 11111"/>
            </a:avLst>
          </a:prstGeom>
          <a:solidFill>
            <a:srgbClr val="EFF6F6"/>
          </a:solidFill>
          <a:ln w="12700">
            <a:solidFill>
              <a:srgbClr val="D7E6E6"/>
            </a:solidFill>
            <a:prstDash val="solid"/>
          </a:ln>
        </p:spPr>
        <p:txBody>
          <a:bodyPr/>
          <a:lstStyle/>
          <a:p>
            <a:endParaRPr lang="en-US"/>
          </a:p>
        </p:txBody>
      </p:sp>
      <p:sp>
        <p:nvSpPr>
          <p:cNvPr id="23" name="Text 19"/>
          <p:cNvSpPr/>
          <p:nvPr/>
        </p:nvSpPr>
        <p:spPr>
          <a:xfrm>
            <a:off x="9820656" y="4288536"/>
            <a:ext cx="1389888"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0.98</a:t>
            </a:r>
            <a:endParaRPr lang="en-US" sz="1800" dirty="0"/>
          </a:p>
        </p:txBody>
      </p:sp>
      <p:sp>
        <p:nvSpPr>
          <p:cNvPr id="24" name="Text 20"/>
          <p:cNvSpPr/>
          <p:nvPr/>
        </p:nvSpPr>
        <p:spPr>
          <a:xfrm>
            <a:off x="9820656" y="4544568"/>
            <a:ext cx="1389888"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F1 tốt nhất</a:t>
            </a:r>
            <a:endParaRPr lang="en-US" sz="850" dirty="0"/>
          </a:p>
        </p:txBody>
      </p:sp>
      <p:sp>
        <p:nvSpPr>
          <p:cNvPr id="25" name="Text 21"/>
          <p:cNvSpPr/>
          <p:nvPr/>
        </p:nvSpPr>
        <p:spPr>
          <a:xfrm>
            <a:off x="4617720" y="5212080"/>
            <a:ext cx="6400800" cy="640080"/>
          </a:xfrm>
          <a:prstGeom prst="rect">
            <a:avLst/>
          </a:prstGeom>
          <a:noFill/>
          <a:ln/>
        </p:spPr>
        <p:txBody>
          <a:bodyPr wrap="square" lIns="0" tIns="0" rIns="0" bIns="0" rtlCol="0" anchor="ctr"/>
          <a:lstStyle/>
          <a:p>
            <a:pPr marL="0" indent="0">
              <a:buNone/>
            </a:pPr>
            <a:r>
              <a:rPr lang="en-US" sz="1350" dirty="0">
                <a:solidFill>
                  <a:srgbClr val="5F6B6D"/>
                </a:solidFill>
                <a:latin typeface="Arial" pitchFamily="34" charset="0"/>
                <a:ea typeface="Arial" pitchFamily="34" charset="-122"/>
                <a:cs typeface="Arial" pitchFamily="34" charset="-120"/>
              </a:rPr>
              <a:t>Quy trình làm bài bám theo hướng applied machine learning: xác định bài toán, EDA, tiền xử lý, đánh giá nhiều mô hình, tuning và chọn mô hình cuối cùng.</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Nội dung trình bày</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Bám theo luồng end-to-end của một đồ án machine learning</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sp>
        <p:nvSpPr>
          <p:cNvPr id="6" name="Shape 4"/>
          <p:cNvSpPr/>
          <p:nvPr/>
        </p:nvSpPr>
        <p:spPr>
          <a:xfrm>
            <a:off x="978408" y="1490472"/>
            <a:ext cx="0" cy="530352"/>
          </a:xfrm>
          <a:prstGeom prst="line">
            <a:avLst/>
          </a:prstGeom>
          <a:noFill/>
          <a:ln w="12700">
            <a:solidFill>
              <a:srgbClr val="A9C9C8"/>
            </a:solidFill>
            <a:prstDash val="solid"/>
          </a:ln>
        </p:spPr>
        <p:txBody>
          <a:bodyPr/>
          <a:lstStyle/>
          <a:p>
            <a:endParaRPr lang="en-US"/>
          </a:p>
        </p:txBody>
      </p:sp>
      <p:sp>
        <p:nvSpPr>
          <p:cNvPr id="7" name="Shape 5"/>
          <p:cNvSpPr/>
          <p:nvPr/>
        </p:nvSpPr>
        <p:spPr>
          <a:xfrm>
            <a:off x="822960" y="1234440"/>
            <a:ext cx="310896" cy="310896"/>
          </a:xfrm>
          <a:prstGeom prst="ellipse">
            <a:avLst/>
          </a:prstGeom>
          <a:solidFill>
            <a:srgbClr val="E6F3F2"/>
          </a:solidFill>
          <a:ln w="12700">
            <a:solidFill>
              <a:srgbClr val="9CC8C4"/>
            </a:solidFill>
            <a:prstDash val="solid"/>
          </a:ln>
        </p:spPr>
        <p:txBody>
          <a:bodyPr/>
          <a:lstStyle/>
          <a:p>
            <a:endParaRPr lang="en-US"/>
          </a:p>
        </p:txBody>
      </p:sp>
      <p:sp>
        <p:nvSpPr>
          <p:cNvPr id="8" name="Text 6"/>
          <p:cNvSpPr/>
          <p:nvPr/>
        </p:nvSpPr>
        <p:spPr>
          <a:xfrm>
            <a:off x="896112" y="1312164"/>
            <a:ext cx="164592" cy="128016"/>
          </a:xfrm>
          <a:prstGeom prst="rect">
            <a:avLst/>
          </a:prstGeom>
          <a:noFill/>
          <a:ln/>
        </p:spPr>
        <p:txBody>
          <a:bodyPr wrap="square" lIns="0" tIns="0" rIns="0" bIns="0" rtlCol="0" anchor="ctr"/>
          <a:lstStyle/>
          <a:p>
            <a:pPr marL="0" indent="0" algn="ctr">
              <a:buNone/>
            </a:pPr>
            <a:r>
              <a:rPr lang="en-US" sz="800" b="1" dirty="0">
                <a:solidFill>
                  <a:srgbClr val="116466"/>
                </a:solidFill>
              </a:rPr>
              <a:t>01</a:t>
            </a:r>
            <a:endParaRPr lang="en-US" sz="800" dirty="0"/>
          </a:p>
        </p:txBody>
      </p:sp>
      <p:sp>
        <p:nvSpPr>
          <p:cNvPr id="9" name="Text 7"/>
          <p:cNvSpPr/>
          <p:nvPr/>
        </p:nvSpPr>
        <p:spPr>
          <a:xfrm>
            <a:off x="1325880" y="1252728"/>
            <a:ext cx="2468880" cy="201168"/>
          </a:xfrm>
          <a:prstGeom prst="rect">
            <a:avLst/>
          </a:prstGeom>
          <a:noFill/>
          <a:ln/>
        </p:spPr>
        <p:txBody>
          <a:bodyPr wrap="square" lIns="0" tIns="0" rIns="0" bIns="0" rtlCol="0" anchor="ctr"/>
          <a:lstStyle/>
          <a:p>
            <a:pPr marL="0" indent="0">
              <a:buNone/>
            </a:pPr>
            <a:r>
              <a:rPr lang="en-US" sz="1600" dirty="0">
                <a:solidFill>
                  <a:srgbClr val="183B4E"/>
                </a:solidFill>
              </a:rPr>
              <a:t>Bài toán &amp; mục tiêu</a:t>
            </a:r>
            <a:endParaRPr lang="en-US" sz="1600" dirty="0"/>
          </a:p>
        </p:txBody>
      </p:sp>
      <p:sp>
        <p:nvSpPr>
          <p:cNvPr id="10" name="Shape 8"/>
          <p:cNvSpPr/>
          <p:nvPr/>
        </p:nvSpPr>
        <p:spPr>
          <a:xfrm>
            <a:off x="978408" y="2276856"/>
            <a:ext cx="0" cy="530352"/>
          </a:xfrm>
          <a:prstGeom prst="line">
            <a:avLst/>
          </a:prstGeom>
          <a:noFill/>
          <a:ln w="12700">
            <a:solidFill>
              <a:srgbClr val="A9C9C8"/>
            </a:solidFill>
            <a:prstDash val="solid"/>
          </a:ln>
        </p:spPr>
        <p:txBody>
          <a:bodyPr/>
          <a:lstStyle/>
          <a:p>
            <a:endParaRPr lang="en-US"/>
          </a:p>
        </p:txBody>
      </p:sp>
      <p:sp>
        <p:nvSpPr>
          <p:cNvPr id="11" name="Shape 9"/>
          <p:cNvSpPr/>
          <p:nvPr/>
        </p:nvSpPr>
        <p:spPr>
          <a:xfrm>
            <a:off x="822960" y="2020824"/>
            <a:ext cx="310896" cy="310896"/>
          </a:xfrm>
          <a:prstGeom prst="ellipse">
            <a:avLst/>
          </a:prstGeom>
          <a:solidFill>
            <a:srgbClr val="E6F3F2"/>
          </a:solidFill>
          <a:ln w="12700">
            <a:solidFill>
              <a:srgbClr val="9CC8C4"/>
            </a:solidFill>
            <a:prstDash val="solid"/>
          </a:ln>
        </p:spPr>
        <p:txBody>
          <a:bodyPr/>
          <a:lstStyle/>
          <a:p>
            <a:endParaRPr lang="en-US"/>
          </a:p>
        </p:txBody>
      </p:sp>
      <p:sp>
        <p:nvSpPr>
          <p:cNvPr id="12" name="Text 10"/>
          <p:cNvSpPr/>
          <p:nvPr/>
        </p:nvSpPr>
        <p:spPr>
          <a:xfrm>
            <a:off x="896112" y="2098548"/>
            <a:ext cx="164592" cy="128016"/>
          </a:xfrm>
          <a:prstGeom prst="rect">
            <a:avLst/>
          </a:prstGeom>
          <a:noFill/>
          <a:ln/>
        </p:spPr>
        <p:txBody>
          <a:bodyPr wrap="square" lIns="0" tIns="0" rIns="0" bIns="0" rtlCol="0" anchor="ctr"/>
          <a:lstStyle/>
          <a:p>
            <a:pPr marL="0" indent="0" algn="ctr">
              <a:buNone/>
            </a:pPr>
            <a:r>
              <a:rPr lang="en-US" sz="800" b="1" dirty="0">
                <a:solidFill>
                  <a:srgbClr val="116466"/>
                </a:solidFill>
              </a:rPr>
              <a:t>02</a:t>
            </a:r>
            <a:endParaRPr lang="en-US" sz="800" dirty="0"/>
          </a:p>
        </p:txBody>
      </p:sp>
      <p:sp>
        <p:nvSpPr>
          <p:cNvPr id="13" name="Text 11"/>
          <p:cNvSpPr/>
          <p:nvPr/>
        </p:nvSpPr>
        <p:spPr>
          <a:xfrm>
            <a:off x="1325880" y="2039112"/>
            <a:ext cx="2468880" cy="201168"/>
          </a:xfrm>
          <a:prstGeom prst="rect">
            <a:avLst/>
          </a:prstGeom>
          <a:noFill/>
          <a:ln/>
        </p:spPr>
        <p:txBody>
          <a:bodyPr wrap="square" lIns="0" tIns="0" rIns="0" bIns="0" rtlCol="0" anchor="ctr"/>
          <a:lstStyle/>
          <a:p>
            <a:pPr marL="0" indent="0">
              <a:buNone/>
            </a:pPr>
            <a:r>
              <a:rPr lang="en-US" sz="1600" dirty="0">
                <a:solidFill>
                  <a:srgbClr val="183B4E"/>
                </a:solidFill>
              </a:rPr>
              <a:t>Dữ liệu &amp; EDA</a:t>
            </a:r>
            <a:endParaRPr lang="en-US" sz="1600" dirty="0"/>
          </a:p>
        </p:txBody>
      </p:sp>
      <p:sp>
        <p:nvSpPr>
          <p:cNvPr id="14" name="Shape 12"/>
          <p:cNvSpPr/>
          <p:nvPr/>
        </p:nvSpPr>
        <p:spPr>
          <a:xfrm>
            <a:off x="978408" y="3063240"/>
            <a:ext cx="0" cy="530352"/>
          </a:xfrm>
          <a:prstGeom prst="line">
            <a:avLst/>
          </a:prstGeom>
          <a:noFill/>
          <a:ln w="12700">
            <a:solidFill>
              <a:srgbClr val="A9C9C8"/>
            </a:solidFill>
            <a:prstDash val="solid"/>
          </a:ln>
        </p:spPr>
        <p:txBody>
          <a:bodyPr/>
          <a:lstStyle/>
          <a:p>
            <a:endParaRPr lang="en-US"/>
          </a:p>
        </p:txBody>
      </p:sp>
      <p:sp>
        <p:nvSpPr>
          <p:cNvPr id="15" name="Shape 13"/>
          <p:cNvSpPr/>
          <p:nvPr/>
        </p:nvSpPr>
        <p:spPr>
          <a:xfrm>
            <a:off x="822960" y="2807208"/>
            <a:ext cx="310896" cy="310896"/>
          </a:xfrm>
          <a:prstGeom prst="ellipse">
            <a:avLst/>
          </a:prstGeom>
          <a:solidFill>
            <a:srgbClr val="E6F3F2"/>
          </a:solidFill>
          <a:ln w="12700">
            <a:solidFill>
              <a:srgbClr val="9CC8C4"/>
            </a:solidFill>
            <a:prstDash val="solid"/>
          </a:ln>
        </p:spPr>
        <p:txBody>
          <a:bodyPr/>
          <a:lstStyle/>
          <a:p>
            <a:endParaRPr lang="en-US"/>
          </a:p>
        </p:txBody>
      </p:sp>
      <p:sp>
        <p:nvSpPr>
          <p:cNvPr id="16" name="Text 14"/>
          <p:cNvSpPr/>
          <p:nvPr/>
        </p:nvSpPr>
        <p:spPr>
          <a:xfrm>
            <a:off x="896112" y="2884932"/>
            <a:ext cx="164592" cy="128016"/>
          </a:xfrm>
          <a:prstGeom prst="rect">
            <a:avLst/>
          </a:prstGeom>
          <a:noFill/>
          <a:ln/>
        </p:spPr>
        <p:txBody>
          <a:bodyPr wrap="square" lIns="0" tIns="0" rIns="0" bIns="0" rtlCol="0" anchor="ctr"/>
          <a:lstStyle/>
          <a:p>
            <a:pPr marL="0" indent="0" algn="ctr">
              <a:buNone/>
            </a:pPr>
            <a:r>
              <a:rPr lang="en-US" sz="800" b="1" dirty="0">
                <a:solidFill>
                  <a:srgbClr val="116466"/>
                </a:solidFill>
              </a:rPr>
              <a:t>03</a:t>
            </a:r>
            <a:endParaRPr lang="en-US" sz="800" dirty="0"/>
          </a:p>
        </p:txBody>
      </p:sp>
      <p:sp>
        <p:nvSpPr>
          <p:cNvPr id="17" name="Text 15"/>
          <p:cNvSpPr/>
          <p:nvPr/>
        </p:nvSpPr>
        <p:spPr>
          <a:xfrm>
            <a:off x="1325880" y="2825496"/>
            <a:ext cx="2468880" cy="201168"/>
          </a:xfrm>
          <a:prstGeom prst="rect">
            <a:avLst/>
          </a:prstGeom>
          <a:noFill/>
          <a:ln/>
        </p:spPr>
        <p:txBody>
          <a:bodyPr wrap="square" lIns="0" tIns="0" rIns="0" bIns="0" rtlCol="0" anchor="ctr"/>
          <a:lstStyle/>
          <a:p>
            <a:pPr marL="0" indent="0">
              <a:buNone/>
            </a:pPr>
            <a:r>
              <a:rPr lang="en-US" sz="1600" dirty="0">
                <a:solidFill>
                  <a:srgbClr val="183B4E"/>
                </a:solidFill>
              </a:rPr>
              <a:t>Thiết kế thực nghiệm</a:t>
            </a:r>
            <a:endParaRPr lang="en-US" sz="1600" dirty="0"/>
          </a:p>
        </p:txBody>
      </p:sp>
      <p:sp>
        <p:nvSpPr>
          <p:cNvPr id="18" name="Shape 16"/>
          <p:cNvSpPr/>
          <p:nvPr/>
        </p:nvSpPr>
        <p:spPr>
          <a:xfrm>
            <a:off x="978408" y="3849624"/>
            <a:ext cx="0" cy="530352"/>
          </a:xfrm>
          <a:prstGeom prst="line">
            <a:avLst/>
          </a:prstGeom>
          <a:noFill/>
          <a:ln w="12700">
            <a:solidFill>
              <a:srgbClr val="A9C9C8"/>
            </a:solidFill>
            <a:prstDash val="solid"/>
          </a:ln>
        </p:spPr>
        <p:txBody>
          <a:bodyPr/>
          <a:lstStyle/>
          <a:p>
            <a:endParaRPr lang="en-US"/>
          </a:p>
        </p:txBody>
      </p:sp>
      <p:sp>
        <p:nvSpPr>
          <p:cNvPr id="19" name="Shape 17"/>
          <p:cNvSpPr/>
          <p:nvPr/>
        </p:nvSpPr>
        <p:spPr>
          <a:xfrm>
            <a:off x="822960" y="3593592"/>
            <a:ext cx="310896" cy="310896"/>
          </a:xfrm>
          <a:prstGeom prst="ellipse">
            <a:avLst/>
          </a:prstGeom>
          <a:solidFill>
            <a:srgbClr val="E6F3F2"/>
          </a:solidFill>
          <a:ln w="12700">
            <a:solidFill>
              <a:srgbClr val="9CC8C4"/>
            </a:solidFill>
            <a:prstDash val="solid"/>
          </a:ln>
        </p:spPr>
        <p:txBody>
          <a:bodyPr/>
          <a:lstStyle/>
          <a:p>
            <a:endParaRPr lang="en-US"/>
          </a:p>
        </p:txBody>
      </p:sp>
      <p:sp>
        <p:nvSpPr>
          <p:cNvPr id="20" name="Text 18"/>
          <p:cNvSpPr/>
          <p:nvPr/>
        </p:nvSpPr>
        <p:spPr>
          <a:xfrm>
            <a:off x="896112" y="3671316"/>
            <a:ext cx="164592" cy="128016"/>
          </a:xfrm>
          <a:prstGeom prst="rect">
            <a:avLst/>
          </a:prstGeom>
          <a:noFill/>
          <a:ln/>
        </p:spPr>
        <p:txBody>
          <a:bodyPr wrap="square" lIns="0" tIns="0" rIns="0" bIns="0" rtlCol="0" anchor="ctr"/>
          <a:lstStyle/>
          <a:p>
            <a:pPr marL="0" indent="0" algn="ctr">
              <a:buNone/>
            </a:pPr>
            <a:r>
              <a:rPr lang="en-US" sz="800" b="1" dirty="0">
                <a:solidFill>
                  <a:srgbClr val="116466"/>
                </a:solidFill>
              </a:rPr>
              <a:t>04</a:t>
            </a:r>
            <a:endParaRPr lang="en-US" sz="800" dirty="0"/>
          </a:p>
        </p:txBody>
      </p:sp>
      <p:sp>
        <p:nvSpPr>
          <p:cNvPr id="21" name="Text 19"/>
          <p:cNvSpPr/>
          <p:nvPr/>
        </p:nvSpPr>
        <p:spPr>
          <a:xfrm>
            <a:off x="1325880" y="3611880"/>
            <a:ext cx="2468880" cy="201168"/>
          </a:xfrm>
          <a:prstGeom prst="rect">
            <a:avLst/>
          </a:prstGeom>
          <a:noFill/>
          <a:ln/>
        </p:spPr>
        <p:txBody>
          <a:bodyPr wrap="square" lIns="0" tIns="0" rIns="0" bIns="0" rtlCol="0" anchor="ctr"/>
          <a:lstStyle/>
          <a:p>
            <a:pPr marL="0" indent="0">
              <a:buNone/>
            </a:pPr>
            <a:r>
              <a:rPr lang="en-US" sz="1600" dirty="0">
                <a:solidFill>
                  <a:srgbClr val="183B4E"/>
                </a:solidFill>
              </a:rPr>
              <a:t>Kết quả baseline &amp; tuning</a:t>
            </a:r>
            <a:endParaRPr lang="en-US" sz="1600" dirty="0"/>
          </a:p>
        </p:txBody>
      </p:sp>
      <p:sp>
        <p:nvSpPr>
          <p:cNvPr id="22" name="Shape 20"/>
          <p:cNvSpPr/>
          <p:nvPr/>
        </p:nvSpPr>
        <p:spPr>
          <a:xfrm>
            <a:off x="978408" y="4636008"/>
            <a:ext cx="0" cy="530352"/>
          </a:xfrm>
          <a:prstGeom prst="line">
            <a:avLst/>
          </a:prstGeom>
          <a:noFill/>
          <a:ln w="12700">
            <a:solidFill>
              <a:srgbClr val="A9C9C8"/>
            </a:solidFill>
            <a:prstDash val="solid"/>
          </a:ln>
        </p:spPr>
        <p:txBody>
          <a:bodyPr/>
          <a:lstStyle/>
          <a:p>
            <a:endParaRPr lang="en-US"/>
          </a:p>
        </p:txBody>
      </p:sp>
      <p:sp>
        <p:nvSpPr>
          <p:cNvPr id="23" name="Shape 21"/>
          <p:cNvSpPr/>
          <p:nvPr/>
        </p:nvSpPr>
        <p:spPr>
          <a:xfrm>
            <a:off x="822960" y="4379976"/>
            <a:ext cx="310896" cy="310896"/>
          </a:xfrm>
          <a:prstGeom prst="ellipse">
            <a:avLst/>
          </a:prstGeom>
          <a:solidFill>
            <a:srgbClr val="E6F3F2"/>
          </a:solidFill>
          <a:ln w="12700">
            <a:solidFill>
              <a:srgbClr val="9CC8C4"/>
            </a:solidFill>
            <a:prstDash val="solid"/>
          </a:ln>
        </p:spPr>
        <p:txBody>
          <a:bodyPr/>
          <a:lstStyle/>
          <a:p>
            <a:endParaRPr lang="en-US"/>
          </a:p>
        </p:txBody>
      </p:sp>
      <p:sp>
        <p:nvSpPr>
          <p:cNvPr id="24" name="Text 22"/>
          <p:cNvSpPr/>
          <p:nvPr/>
        </p:nvSpPr>
        <p:spPr>
          <a:xfrm>
            <a:off x="896112" y="4457700"/>
            <a:ext cx="164592" cy="128016"/>
          </a:xfrm>
          <a:prstGeom prst="rect">
            <a:avLst/>
          </a:prstGeom>
          <a:noFill/>
          <a:ln/>
        </p:spPr>
        <p:txBody>
          <a:bodyPr wrap="square" lIns="0" tIns="0" rIns="0" bIns="0" rtlCol="0" anchor="ctr"/>
          <a:lstStyle/>
          <a:p>
            <a:pPr marL="0" indent="0" algn="ctr">
              <a:buNone/>
            </a:pPr>
            <a:r>
              <a:rPr lang="en-US" sz="800" b="1" dirty="0">
                <a:solidFill>
                  <a:srgbClr val="116466"/>
                </a:solidFill>
              </a:rPr>
              <a:t>05</a:t>
            </a:r>
            <a:endParaRPr lang="en-US" sz="800" dirty="0"/>
          </a:p>
        </p:txBody>
      </p:sp>
      <p:sp>
        <p:nvSpPr>
          <p:cNvPr id="25" name="Text 23"/>
          <p:cNvSpPr/>
          <p:nvPr/>
        </p:nvSpPr>
        <p:spPr>
          <a:xfrm>
            <a:off x="1325880" y="4398264"/>
            <a:ext cx="2468880" cy="201168"/>
          </a:xfrm>
          <a:prstGeom prst="rect">
            <a:avLst/>
          </a:prstGeom>
          <a:noFill/>
          <a:ln/>
        </p:spPr>
        <p:txBody>
          <a:bodyPr wrap="square" lIns="0" tIns="0" rIns="0" bIns="0" rtlCol="0" anchor="ctr"/>
          <a:lstStyle/>
          <a:p>
            <a:pPr marL="0" indent="0">
              <a:buNone/>
            </a:pPr>
            <a:r>
              <a:rPr lang="en-US" sz="1600" dirty="0">
                <a:solidFill>
                  <a:srgbClr val="183B4E"/>
                </a:solidFill>
              </a:rPr>
              <a:t>Kết luận</a:t>
            </a:r>
            <a:endParaRPr lang="en-US" sz="1600" dirty="0"/>
          </a:p>
        </p:txBody>
      </p:sp>
      <p:sp>
        <p:nvSpPr>
          <p:cNvPr id="26" name="Text 24"/>
          <p:cNvSpPr/>
          <p:nvPr/>
        </p:nvSpPr>
        <p:spPr>
          <a:xfrm>
            <a:off x="3840480" y="1371600"/>
            <a:ext cx="3566160" cy="1005840"/>
          </a:xfrm>
          <a:prstGeom prst="rect">
            <a:avLst/>
          </a:prstGeom>
          <a:noFill/>
          <a:ln/>
        </p:spPr>
        <p:txBody>
          <a:bodyPr wrap="square" lIns="0" tIns="0" rIns="0" bIns="0" rtlCol="0" anchor="ctr"/>
          <a:lstStyle/>
          <a:p>
            <a:pPr marL="0" indent="0">
              <a:buNone/>
            </a:pPr>
            <a:r>
              <a:rPr lang="en-US" sz="1550" dirty="0">
                <a:solidFill>
                  <a:srgbClr val="183B4E"/>
                </a:solidFill>
                <a:latin typeface="Arial" pitchFamily="34" charset="0"/>
                <a:ea typeface="Arial" pitchFamily="34" charset="-122"/>
                <a:cs typeface="Arial" pitchFamily="34" charset="-120"/>
              </a:rPr>
              <a:t>Trong tâm của bài trình bày là so sánh 10 thuật toán phân lớp trên cùng một bộ dữ liệu, sau đó đi từ kết quả baseline đến việc chọn mô hình cuối cùng có độ chính xác cao và ổn định.</a:t>
            </a:r>
            <a:endParaRPr lang="en-US" sz="1550" dirty="0"/>
          </a:p>
        </p:txBody>
      </p:sp>
      <p:sp>
        <p:nvSpPr>
          <p:cNvPr id="27" name="Shape 25"/>
          <p:cNvSpPr/>
          <p:nvPr/>
        </p:nvSpPr>
        <p:spPr>
          <a:xfrm>
            <a:off x="3840480" y="3886200"/>
            <a:ext cx="141732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28" name="Text 26"/>
          <p:cNvSpPr/>
          <p:nvPr/>
        </p:nvSpPr>
        <p:spPr>
          <a:xfrm>
            <a:off x="3913632" y="3986784"/>
            <a:ext cx="127101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70/30</a:t>
            </a:r>
            <a:endParaRPr lang="en-US" sz="1800" dirty="0"/>
          </a:p>
        </p:txBody>
      </p:sp>
      <p:sp>
        <p:nvSpPr>
          <p:cNvPr id="29" name="Text 27"/>
          <p:cNvSpPr/>
          <p:nvPr/>
        </p:nvSpPr>
        <p:spPr>
          <a:xfrm>
            <a:off x="3913632" y="4242816"/>
            <a:ext cx="127101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Train / test split</a:t>
            </a:r>
            <a:endParaRPr lang="en-US" sz="850" dirty="0"/>
          </a:p>
        </p:txBody>
      </p:sp>
      <p:sp>
        <p:nvSpPr>
          <p:cNvPr id="30" name="Shape 28"/>
          <p:cNvSpPr/>
          <p:nvPr/>
        </p:nvSpPr>
        <p:spPr>
          <a:xfrm>
            <a:off x="5440680" y="3886200"/>
            <a:ext cx="141732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31" name="Text 29"/>
          <p:cNvSpPr/>
          <p:nvPr/>
        </p:nvSpPr>
        <p:spPr>
          <a:xfrm>
            <a:off x="5513832" y="3986784"/>
            <a:ext cx="127101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5-fold</a:t>
            </a:r>
            <a:endParaRPr lang="en-US" sz="1800" dirty="0"/>
          </a:p>
        </p:txBody>
      </p:sp>
      <p:sp>
        <p:nvSpPr>
          <p:cNvPr id="32" name="Text 30"/>
          <p:cNvSpPr/>
          <p:nvPr/>
        </p:nvSpPr>
        <p:spPr>
          <a:xfrm>
            <a:off x="5513832" y="4242816"/>
            <a:ext cx="127101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Cross validation</a:t>
            </a:r>
            <a:endParaRPr lang="en-US" sz="850" dirty="0"/>
          </a:p>
        </p:txBody>
      </p:sp>
      <p:sp>
        <p:nvSpPr>
          <p:cNvPr id="33" name="Shape 31"/>
          <p:cNvSpPr/>
          <p:nvPr/>
        </p:nvSpPr>
        <p:spPr>
          <a:xfrm>
            <a:off x="7040880" y="3886200"/>
            <a:ext cx="141732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34" name="Text 32"/>
          <p:cNvSpPr/>
          <p:nvPr/>
        </p:nvSpPr>
        <p:spPr>
          <a:xfrm>
            <a:off x="7114032" y="3986784"/>
            <a:ext cx="127101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5 metrics</a:t>
            </a:r>
            <a:endParaRPr lang="en-US" sz="1800" dirty="0"/>
          </a:p>
        </p:txBody>
      </p:sp>
      <p:sp>
        <p:nvSpPr>
          <p:cNvPr id="35" name="Text 33"/>
          <p:cNvSpPr/>
          <p:nvPr/>
        </p:nvSpPr>
        <p:spPr>
          <a:xfrm>
            <a:off x="7114032" y="4242816"/>
            <a:ext cx="127101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Acc • Prec • Rec • F1 • AUC</a:t>
            </a:r>
            <a:endParaRPr lang="en-US" sz="850" dirty="0"/>
          </a:p>
        </p:txBody>
      </p:sp>
      <p:sp>
        <p:nvSpPr>
          <p:cNvPr id="36" name="Text 34"/>
          <p:cNvSpPr/>
          <p:nvPr/>
        </p:nvSpPr>
        <p:spPr>
          <a:xfrm>
            <a:off x="3840480" y="4892040"/>
            <a:ext cx="5029200" cy="411480"/>
          </a:xfrm>
          <a:prstGeom prst="rect">
            <a:avLst/>
          </a:prstGeom>
          <a:noFill/>
          <a:ln/>
        </p:spPr>
        <p:txBody>
          <a:bodyPr wrap="square" lIns="0" tIns="0" rIns="0" bIns="0" rtlCol="0" anchor="ctr"/>
          <a:lstStyle/>
          <a:p>
            <a:pPr marL="0" indent="0">
              <a:buNone/>
            </a:pPr>
            <a:r>
              <a:rPr lang="en-US" sz="1350" b="1" dirty="0">
                <a:solidFill>
                  <a:srgbClr val="116466"/>
                </a:solidFill>
                <a:latin typeface="Arial" pitchFamily="34" charset="0"/>
                <a:ea typeface="Arial" pitchFamily="34" charset="-122"/>
                <a:cs typeface="Arial" pitchFamily="34" charset="-120"/>
              </a:rPr>
              <a:t>Output cuối cùng: chọn mô hình có độ chính xác cao, ổn định theo nhiều metric và đủ dễ giải thích để trình bày trong báo cáo.</a:t>
            </a:r>
            <a:endParaRPr lang="en-US" sz="1350" dirty="0"/>
          </a:p>
        </p:txBody>
      </p:sp>
      <p:pic>
        <p:nvPicPr>
          <p:cNvPr id="37" name="Image 0" descr="/mnt/data/docx_extract/word/media/image1.png"/>
          <p:cNvPicPr>
            <a:picLocks noChangeAspect="1"/>
          </p:cNvPicPr>
          <p:nvPr/>
        </p:nvPicPr>
        <p:blipFill>
          <a:blip r:embed="rId3"/>
          <a:stretch>
            <a:fillRect/>
          </a:stretch>
        </p:blipFill>
        <p:spPr>
          <a:xfrm>
            <a:off x="8129752" y="1726290"/>
            <a:ext cx="3620288" cy="1448115"/>
          </a:xfrm>
          <a:prstGeom prst="rect">
            <a:avLst/>
          </a:prstGeom>
        </p:spPr>
      </p:pic>
      <p:sp>
        <p:nvSpPr>
          <p:cNvPr id="38" name="Text 35"/>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39" name="Text 36"/>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51" name="Image 0" descr="/mnt/data/docx_extract/word/media/image2.png"/>
          <p:cNvPicPr>
            <a:picLocks noChangeAspect="1"/>
          </p:cNvPicPr>
          <p:nvPr/>
        </p:nvPicPr>
        <p:blipFill>
          <a:blip r:embed="rId3"/>
          <a:stretch>
            <a:fillRect/>
          </a:stretch>
        </p:blipFill>
        <p:spPr>
          <a:xfrm>
            <a:off x="8669506" y="2316098"/>
            <a:ext cx="3511981" cy="2508557"/>
          </a:xfrm>
          <a:prstGeom prst="rect">
            <a:avLst/>
          </a:prstGeom>
        </p:spPr>
      </p:pic>
      <p:sp>
        <p:nvSpPr>
          <p:cNvPr id="54" name="Rectangle 53">
            <a:extLst>
              <a:ext uri="{FF2B5EF4-FFF2-40B4-BE49-F238E27FC236}">
                <a16:creationId xmlns:a16="http://schemas.microsoft.com/office/drawing/2014/main" id="{15D16E6D-3105-D6C4-5F89-38A5668B3269}"/>
              </a:ext>
            </a:extLst>
          </p:cNvPr>
          <p:cNvSpPr/>
          <p:nvPr/>
        </p:nvSpPr>
        <p:spPr>
          <a:xfrm>
            <a:off x="-1" y="2029969"/>
            <a:ext cx="8885321" cy="2203702"/>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Bài toán và mục tiêu</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Phân lớp multiclass cho dữ liệu xét nghiệm tuyến giáp</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sp>
        <p:nvSpPr>
          <p:cNvPr id="6" name="Text 4"/>
          <p:cNvSpPr/>
          <p:nvPr/>
        </p:nvSpPr>
        <p:spPr>
          <a:xfrm>
            <a:off x="685800" y="1051560"/>
            <a:ext cx="2377440" cy="219456"/>
          </a:xfrm>
          <a:prstGeom prst="rect">
            <a:avLst/>
          </a:prstGeom>
          <a:noFill/>
          <a:ln/>
        </p:spPr>
        <p:txBody>
          <a:bodyPr wrap="square" lIns="0" tIns="0" rIns="0" bIns="0" rtlCol="0" anchor="ctr"/>
          <a:lstStyle/>
          <a:p>
            <a:pPr marL="0" indent="0">
              <a:buNone/>
            </a:pPr>
            <a:r>
              <a:rPr lang="en-US" sz="1800" b="1" dirty="0">
                <a:solidFill>
                  <a:srgbClr val="183B4E"/>
                </a:solidFill>
              </a:rPr>
              <a:t>Phát biểu bài toán</a:t>
            </a:r>
            <a:endParaRPr lang="en-US" sz="1800" dirty="0"/>
          </a:p>
        </p:txBody>
      </p:sp>
      <p:sp>
        <p:nvSpPr>
          <p:cNvPr id="7" name="Text 5"/>
          <p:cNvSpPr/>
          <p:nvPr/>
        </p:nvSpPr>
        <p:spPr>
          <a:xfrm>
            <a:off x="685800" y="1353312"/>
            <a:ext cx="4718304" cy="502920"/>
          </a:xfrm>
          <a:prstGeom prst="rect">
            <a:avLst/>
          </a:prstGeom>
          <a:noFill/>
          <a:ln/>
        </p:spPr>
        <p:txBody>
          <a:bodyPr wrap="square" lIns="0" tIns="0" rIns="0" bIns="0" rtlCol="0" anchor="ctr"/>
          <a:lstStyle/>
          <a:p>
            <a:pPr marL="0" indent="0">
              <a:buNone/>
            </a:pPr>
            <a:r>
              <a:rPr lang="en-US" sz="1600" dirty="0">
                <a:solidFill>
                  <a:srgbClr val="183B4E"/>
                </a:solidFill>
              </a:rPr>
              <a:t>Từ 5 chỉ số xét nghiệm đầu vào, mô hình cần dự đoán bệnh nhân thuộc lớp Normal, Hyper hay Hypo.</a:t>
            </a:r>
            <a:endParaRPr lang="en-US" sz="1600" dirty="0"/>
          </a:p>
        </p:txBody>
      </p:sp>
      <p:sp>
        <p:nvSpPr>
          <p:cNvPr id="8" name="Text 6"/>
          <p:cNvSpPr/>
          <p:nvPr/>
        </p:nvSpPr>
        <p:spPr>
          <a:xfrm>
            <a:off x="685800" y="2240280"/>
            <a:ext cx="1645920" cy="164592"/>
          </a:xfrm>
          <a:prstGeom prst="rect">
            <a:avLst/>
          </a:prstGeom>
          <a:noFill/>
          <a:ln/>
        </p:spPr>
        <p:txBody>
          <a:bodyPr wrap="square" lIns="0" tIns="0" rIns="0" bIns="0" rtlCol="0" anchor="ctr"/>
          <a:lstStyle/>
          <a:p>
            <a:pPr marL="0" indent="0">
              <a:buNone/>
            </a:pPr>
            <a:r>
              <a:rPr lang="en-US" sz="1250" b="1" dirty="0">
                <a:solidFill>
                  <a:srgbClr val="116466"/>
                </a:solidFill>
              </a:rPr>
              <a:t>4 đặc trưng đầu vào</a:t>
            </a:r>
            <a:endParaRPr lang="en-US" sz="1250" dirty="0"/>
          </a:p>
        </p:txBody>
      </p:sp>
      <p:sp>
        <p:nvSpPr>
          <p:cNvPr id="9" name="Shape 7"/>
          <p:cNvSpPr/>
          <p:nvPr/>
        </p:nvSpPr>
        <p:spPr>
          <a:xfrm>
            <a:off x="731520" y="2560320"/>
            <a:ext cx="73152" cy="73152"/>
          </a:xfrm>
          <a:prstGeom prst="ellipse">
            <a:avLst/>
          </a:prstGeom>
          <a:solidFill>
            <a:srgbClr val="2BAE9B"/>
          </a:solidFill>
          <a:ln w="12700">
            <a:solidFill>
              <a:srgbClr val="2BAE9B"/>
            </a:solidFill>
            <a:prstDash val="solid"/>
          </a:ln>
        </p:spPr>
        <p:txBody>
          <a:bodyPr/>
          <a:lstStyle/>
          <a:p>
            <a:endParaRPr lang="en-US"/>
          </a:p>
        </p:txBody>
      </p:sp>
      <p:sp>
        <p:nvSpPr>
          <p:cNvPr id="10" name="Text 8"/>
          <p:cNvSpPr/>
          <p:nvPr/>
        </p:nvSpPr>
        <p:spPr>
          <a:xfrm>
            <a:off x="877824" y="2468880"/>
            <a:ext cx="201168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T3_resin</a:t>
            </a:r>
            <a:endParaRPr lang="en-US" sz="1400" dirty="0"/>
          </a:p>
        </p:txBody>
      </p:sp>
      <p:sp>
        <p:nvSpPr>
          <p:cNvPr id="11" name="Shape 9"/>
          <p:cNvSpPr/>
          <p:nvPr/>
        </p:nvSpPr>
        <p:spPr>
          <a:xfrm>
            <a:off x="731520" y="2880360"/>
            <a:ext cx="73152" cy="73152"/>
          </a:xfrm>
          <a:prstGeom prst="ellipse">
            <a:avLst/>
          </a:prstGeom>
          <a:solidFill>
            <a:srgbClr val="2BAE9B"/>
          </a:solidFill>
          <a:ln w="12700">
            <a:solidFill>
              <a:srgbClr val="2BAE9B"/>
            </a:solidFill>
            <a:prstDash val="solid"/>
          </a:ln>
        </p:spPr>
        <p:txBody>
          <a:bodyPr/>
          <a:lstStyle/>
          <a:p>
            <a:endParaRPr lang="en-US"/>
          </a:p>
        </p:txBody>
      </p:sp>
      <p:sp>
        <p:nvSpPr>
          <p:cNvPr id="12" name="Text 10"/>
          <p:cNvSpPr/>
          <p:nvPr/>
        </p:nvSpPr>
        <p:spPr>
          <a:xfrm>
            <a:off x="877824" y="2788920"/>
            <a:ext cx="201168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Thyroxin</a:t>
            </a:r>
            <a:endParaRPr lang="en-US" sz="1400" dirty="0"/>
          </a:p>
        </p:txBody>
      </p:sp>
      <p:sp>
        <p:nvSpPr>
          <p:cNvPr id="13" name="Shape 11"/>
          <p:cNvSpPr/>
          <p:nvPr/>
        </p:nvSpPr>
        <p:spPr>
          <a:xfrm>
            <a:off x="731520" y="3200400"/>
            <a:ext cx="73152" cy="73152"/>
          </a:xfrm>
          <a:prstGeom prst="ellipse">
            <a:avLst/>
          </a:prstGeom>
          <a:solidFill>
            <a:srgbClr val="2BAE9B"/>
          </a:solidFill>
          <a:ln w="12700">
            <a:solidFill>
              <a:srgbClr val="2BAE9B"/>
            </a:solidFill>
            <a:prstDash val="solid"/>
          </a:ln>
        </p:spPr>
        <p:txBody>
          <a:bodyPr/>
          <a:lstStyle/>
          <a:p>
            <a:endParaRPr lang="en-US"/>
          </a:p>
        </p:txBody>
      </p:sp>
      <p:sp>
        <p:nvSpPr>
          <p:cNvPr id="14" name="Text 12"/>
          <p:cNvSpPr/>
          <p:nvPr/>
        </p:nvSpPr>
        <p:spPr>
          <a:xfrm>
            <a:off x="877824" y="3108960"/>
            <a:ext cx="201168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Triiodothyronine</a:t>
            </a:r>
            <a:endParaRPr lang="en-US" sz="1400" dirty="0"/>
          </a:p>
        </p:txBody>
      </p:sp>
      <p:sp>
        <p:nvSpPr>
          <p:cNvPr id="15" name="Shape 13"/>
          <p:cNvSpPr/>
          <p:nvPr/>
        </p:nvSpPr>
        <p:spPr>
          <a:xfrm>
            <a:off x="731520" y="3520440"/>
            <a:ext cx="73152" cy="73152"/>
          </a:xfrm>
          <a:prstGeom prst="ellipse">
            <a:avLst/>
          </a:prstGeom>
          <a:solidFill>
            <a:srgbClr val="2BAE9B"/>
          </a:solidFill>
          <a:ln w="12700">
            <a:solidFill>
              <a:srgbClr val="2BAE9B"/>
            </a:solidFill>
            <a:prstDash val="solid"/>
          </a:ln>
        </p:spPr>
        <p:txBody>
          <a:bodyPr/>
          <a:lstStyle/>
          <a:p>
            <a:endParaRPr lang="en-US"/>
          </a:p>
        </p:txBody>
      </p:sp>
      <p:sp>
        <p:nvSpPr>
          <p:cNvPr id="16" name="Text 14"/>
          <p:cNvSpPr/>
          <p:nvPr/>
        </p:nvSpPr>
        <p:spPr>
          <a:xfrm>
            <a:off x="877824" y="3429000"/>
            <a:ext cx="201168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TSH_basal</a:t>
            </a:r>
            <a:endParaRPr lang="en-US" sz="1400" dirty="0"/>
          </a:p>
        </p:txBody>
      </p:sp>
      <p:sp>
        <p:nvSpPr>
          <p:cNvPr id="17" name="Shape 15"/>
          <p:cNvSpPr/>
          <p:nvPr/>
        </p:nvSpPr>
        <p:spPr>
          <a:xfrm>
            <a:off x="731520" y="3840480"/>
            <a:ext cx="73152" cy="73152"/>
          </a:xfrm>
          <a:prstGeom prst="ellipse">
            <a:avLst/>
          </a:prstGeom>
          <a:solidFill>
            <a:srgbClr val="2BAE9B"/>
          </a:solidFill>
          <a:ln w="12700">
            <a:solidFill>
              <a:srgbClr val="2BAE9B"/>
            </a:solidFill>
            <a:prstDash val="solid"/>
          </a:ln>
        </p:spPr>
        <p:txBody>
          <a:bodyPr/>
          <a:lstStyle/>
          <a:p>
            <a:endParaRPr lang="en-US"/>
          </a:p>
        </p:txBody>
      </p:sp>
      <p:sp>
        <p:nvSpPr>
          <p:cNvPr id="18" name="Text 16"/>
          <p:cNvSpPr/>
          <p:nvPr/>
        </p:nvSpPr>
        <p:spPr>
          <a:xfrm>
            <a:off x="877824" y="3749040"/>
            <a:ext cx="201168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TSH_diff</a:t>
            </a:r>
            <a:endParaRPr lang="en-US" sz="1400" dirty="0"/>
          </a:p>
        </p:txBody>
      </p:sp>
      <p:sp>
        <p:nvSpPr>
          <p:cNvPr id="19" name="Text 17"/>
          <p:cNvSpPr/>
          <p:nvPr/>
        </p:nvSpPr>
        <p:spPr>
          <a:xfrm>
            <a:off x="3017520" y="2240280"/>
            <a:ext cx="1463040" cy="164592"/>
          </a:xfrm>
          <a:prstGeom prst="rect">
            <a:avLst/>
          </a:prstGeom>
          <a:noFill/>
          <a:ln/>
        </p:spPr>
        <p:txBody>
          <a:bodyPr wrap="square" lIns="0" tIns="0" rIns="0" bIns="0" rtlCol="0" anchor="ctr"/>
          <a:lstStyle/>
          <a:p>
            <a:pPr marL="0" indent="0">
              <a:buNone/>
            </a:pPr>
            <a:r>
              <a:rPr lang="en-US" sz="1250" b="1" dirty="0">
                <a:solidFill>
                  <a:srgbClr val="116466"/>
                </a:solidFill>
              </a:rPr>
              <a:t>Độ đo đánh giá</a:t>
            </a:r>
            <a:endParaRPr lang="en-US" sz="1250" dirty="0"/>
          </a:p>
        </p:txBody>
      </p:sp>
      <p:sp>
        <p:nvSpPr>
          <p:cNvPr id="20" name="Shape 18"/>
          <p:cNvSpPr/>
          <p:nvPr/>
        </p:nvSpPr>
        <p:spPr>
          <a:xfrm>
            <a:off x="3063240" y="2560320"/>
            <a:ext cx="73152" cy="73152"/>
          </a:xfrm>
          <a:prstGeom prst="ellipse">
            <a:avLst/>
          </a:prstGeom>
          <a:solidFill>
            <a:srgbClr val="2BAE9B"/>
          </a:solidFill>
          <a:ln w="12700">
            <a:solidFill>
              <a:srgbClr val="2BAE9B"/>
            </a:solidFill>
            <a:prstDash val="solid"/>
          </a:ln>
        </p:spPr>
        <p:txBody>
          <a:bodyPr/>
          <a:lstStyle/>
          <a:p>
            <a:endParaRPr lang="en-US"/>
          </a:p>
        </p:txBody>
      </p:sp>
      <p:sp>
        <p:nvSpPr>
          <p:cNvPr id="21" name="Text 19"/>
          <p:cNvSpPr/>
          <p:nvPr/>
        </p:nvSpPr>
        <p:spPr>
          <a:xfrm>
            <a:off x="3209544" y="2468880"/>
            <a:ext cx="219456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Accuracy</a:t>
            </a:r>
            <a:endParaRPr lang="en-US" sz="1400" dirty="0"/>
          </a:p>
        </p:txBody>
      </p:sp>
      <p:sp>
        <p:nvSpPr>
          <p:cNvPr id="22" name="Shape 20"/>
          <p:cNvSpPr/>
          <p:nvPr/>
        </p:nvSpPr>
        <p:spPr>
          <a:xfrm>
            <a:off x="3063240" y="2880360"/>
            <a:ext cx="73152" cy="73152"/>
          </a:xfrm>
          <a:prstGeom prst="ellipse">
            <a:avLst/>
          </a:prstGeom>
          <a:solidFill>
            <a:srgbClr val="2BAE9B"/>
          </a:solidFill>
          <a:ln w="12700">
            <a:solidFill>
              <a:srgbClr val="2BAE9B"/>
            </a:solidFill>
            <a:prstDash val="solid"/>
          </a:ln>
        </p:spPr>
        <p:txBody>
          <a:bodyPr/>
          <a:lstStyle/>
          <a:p>
            <a:endParaRPr lang="en-US"/>
          </a:p>
        </p:txBody>
      </p:sp>
      <p:sp>
        <p:nvSpPr>
          <p:cNvPr id="23" name="Text 21"/>
          <p:cNvSpPr/>
          <p:nvPr/>
        </p:nvSpPr>
        <p:spPr>
          <a:xfrm>
            <a:off x="3209544" y="2788920"/>
            <a:ext cx="219456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Precision</a:t>
            </a:r>
            <a:endParaRPr lang="en-US" sz="1400" dirty="0"/>
          </a:p>
        </p:txBody>
      </p:sp>
      <p:sp>
        <p:nvSpPr>
          <p:cNvPr id="24" name="Shape 22"/>
          <p:cNvSpPr/>
          <p:nvPr/>
        </p:nvSpPr>
        <p:spPr>
          <a:xfrm>
            <a:off x="3063240" y="3200400"/>
            <a:ext cx="73152" cy="73152"/>
          </a:xfrm>
          <a:prstGeom prst="ellipse">
            <a:avLst/>
          </a:prstGeom>
          <a:solidFill>
            <a:srgbClr val="2BAE9B"/>
          </a:solidFill>
          <a:ln w="12700">
            <a:solidFill>
              <a:srgbClr val="2BAE9B"/>
            </a:solidFill>
            <a:prstDash val="solid"/>
          </a:ln>
        </p:spPr>
        <p:txBody>
          <a:bodyPr/>
          <a:lstStyle/>
          <a:p>
            <a:endParaRPr lang="en-US"/>
          </a:p>
        </p:txBody>
      </p:sp>
      <p:sp>
        <p:nvSpPr>
          <p:cNvPr id="25" name="Text 23"/>
          <p:cNvSpPr/>
          <p:nvPr/>
        </p:nvSpPr>
        <p:spPr>
          <a:xfrm>
            <a:off x="3209544" y="3108960"/>
            <a:ext cx="219456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Recall</a:t>
            </a:r>
            <a:endParaRPr lang="en-US" sz="1400" dirty="0"/>
          </a:p>
        </p:txBody>
      </p:sp>
      <p:sp>
        <p:nvSpPr>
          <p:cNvPr id="26" name="Shape 24"/>
          <p:cNvSpPr/>
          <p:nvPr/>
        </p:nvSpPr>
        <p:spPr>
          <a:xfrm>
            <a:off x="3063240" y="3520440"/>
            <a:ext cx="73152" cy="73152"/>
          </a:xfrm>
          <a:prstGeom prst="ellipse">
            <a:avLst/>
          </a:prstGeom>
          <a:solidFill>
            <a:srgbClr val="2BAE9B"/>
          </a:solidFill>
          <a:ln w="12700">
            <a:solidFill>
              <a:srgbClr val="2BAE9B"/>
            </a:solidFill>
            <a:prstDash val="solid"/>
          </a:ln>
        </p:spPr>
        <p:txBody>
          <a:bodyPr/>
          <a:lstStyle/>
          <a:p>
            <a:endParaRPr lang="en-US"/>
          </a:p>
        </p:txBody>
      </p:sp>
      <p:sp>
        <p:nvSpPr>
          <p:cNvPr id="27" name="Text 25"/>
          <p:cNvSpPr/>
          <p:nvPr/>
        </p:nvSpPr>
        <p:spPr>
          <a:xfrm>
            <a:off x="3209544" y="3429000"/>
            <a:ext cx="219456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F1-score</a:t>
            </a:r>
            <a:endParaRPr lang="en-US" sz="1400" dirty="0"/>
          </a:p>
        </p:txBody>
      </p:sp>
      <p:sp>
        <p:nvSpPr>
          <p:cNvPr id="28" name="Shape 26"/>
          <p:cNvSpPr/>
          <p:nvPr/>
        </p:nvSpPr>
        <p:spPr>
          <a:xfrm>
            <a:off x="3063240" y="3840480"/>
            <a:ext cx="73152" cy="73152"/>
          </a:xfrm>
          <a:prstGeom prst="ellipse">
            <a:avLst/>
          </a:prstGeom>
          <a:solidFill>
            <a:srgbClr val="2BAE9B"/>
          </a:solidFill>
          <a:ln w="12700">
            <a:solidFill>
              <a:srgbClr val="2BAE9B"/>
            </a:solidFill>
            <a:prstDash val="solid"/>
          </a:ln>
        </p:spPr>
        <p:txBody>
          <a:bodyPr/>
          <a:lstStyle/>
          <a:p>
            <a:endParaRPr lang="en-US"/>
          </a:p>
        </p:txBody>
      </p:sp>
      <p:sp>
        <p:nvSpPr>
          <p:cNvPr id="29" name="Text 27"/>
          <p:cNvSpPr/>
          <p:nvPr/>
        </p:nvSpPr>
        <p:spPr>
          <a:xfrm>
            <a:off x="3209544" y="3749040"/>
            <a:ext cx="219456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AUC (OvR weighted)</a:t>
            </a:r>
            <a:endParaRPr lang="en-US" sz="1400" dirty="0"/>
          </a:p>
        </p:txBody>
      </p:sp>
      <p:sp>
        <p:nvSpPr>
          <p:cNvPr id="30" name="Text 28"/>
          <p:cNvSpPr/>
          <p:nvPr/>
        </p:nvSpPr>
        <p:spPr>
          <a:xfrm>
            <a:off x="5440680" y="2240280"/>
            <a:ext cx="1645920" cy="164592"/>
          </a:xfrm>
          <a:prstGeom prst="rect">
            <a:avLst/>
          </a:prstGeom>
          <a:noFill/>
          <a:ln/>
        </p:spPr>
        <p:txBody>
          <a:bodyPr wrap="square" lIns="0" tIns="0" rIns="0" bIns="0" rtlCol="0" anchor="ctr"/>
          <a:lstStyle/>
          <a:p>
            <a:pPr marL="0" indent="0">
              <a:buNone/>
            </a:pPr>
            <a:r>
              <a:rPr lang="en-US" sz="1250" b="1" dirty="0">
                <a:solidFill>
                  <a:srgbClr val="116466"/>
                </a:solidFill>
              </a:rPr>
              <a:t>Mục tiêu thực nghiệm</a:t>
            </a:r>
            <a:endParaRPr lang="en-US" sz="1250" dirty="0"/>
          </a:p>
        </p:txBody>
      </p:sp>
      <p:sp>
        <p:nvSpPr>
          <p:cNvPr id="31" name="Shape 29"/>
          <p:cNvSpPr/>
          <p:nvPr/>
        </p:nvSpPr>
        <p:spPr>
          <a:xfrm>
            <a:off x="5486400" y="2560320"/>
            <a:ext cx="73152" cy="73152"/>
          </a:xfrm>
          <a:prstGeom prst="ellipse">
            <a:avLst/>
          </a:prstGeom>
          <a:solidFill>
            <a:srgbClr val="2BAE9B"/>
          </a:solidFill>
          <a:ln w="12700">
            <a:solidFill>
              <a:srgbClr val="2BAE9B"/>
            </a:solidFill>
            <a:prstDash val="solid"/>
          </a:ln>
        </p:spPr>
        <p:txBody>
          <a:bodyPr/>
          <a:lstStyle/>
          <a:p>
            <a:endParaRPr lang="en-US"/>
          </a:p>
        </p:txBody>
      </p:sp>
      <p:sp>
        <p:nvSpPr>
          <p:cNvPr id="32" name="Text 30"/>
          <p:cNvSpPr/>
          <p:nvPr/>
        </p:nvSpPr>
        <p:spPr>
          <a:xfrm>
            <a:off x="5632704" y="2468880"/>
            <a:ext cx="274320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So sánh 10 mô hình baseline</a:t>
            </a:r>
            <a:endParaRPr lang="en-US" sz="1400" dirty="0"/>
          </a:p>
        </p:txBody>
      </p:sp>
      <p:sp>
        <p:nvSpPr>
          <p:cNvPr id="33" name="Shape 31"/>
          <p:cNvSpPr/>
          <p:nvPr/>
        </p:nvSpPr>
        <p:spPr>
          <a:xfrm>
            <a:off x="5486400" y="2880360"/>
            <a:ext cx="73152" cy="73152"/>
          </a:xfrm>
          <a:prstGeom prst="ellipse">
            <a:avLst/>
          </a:prstGeom>
          <a:solidFill>
            <a:srgbClr val="2BAE9B"/>
          </a:solidFill>
          <a:ln w="12700">
            <a:solidFill>
              <a:srgbClr val="2BAE9B"/>
            </a:solidFill>
            <a:prstDash val="solid"/>
          </a:ln>
        </p:spPr>
        <p:txBody>
          <a:bodyPr/>
          <a:lstStyle/>
          <a:p>
            <a:endParaRPr lang="en-US"/>
          </a:p>
        </p:txBody>
      </p:sp>
      <p:sp>
        <p:nvSpPr>
          <p:cNvPr id="34" name="Text 32"/>
          <p:cNvSpPr/>
          <p:nvPr/>
        </p:nvSpPr>
        <p:spPr>
          <a:xfrm>
            <a:off x="5632704" y="2788920"/>
            <a:ext cx="2743200"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Đánh giá tác động của tiền xử lý</a:t>
            </a:r>
            <a:endParaRPr lang="en-US" sz="1400" dirty="0"/>
          </a:p>
        </p:txBody>
      </p:sp>
      <p:sp>
        <p:nvSpPr>
          <p:cNvPr id="35" name="Shape 33"/>
          <p:cNvSpPr/>
          <p:nvPr/>
        </p:nvSpPr>
        <p:spPr>
          <a:xfrm>
            <a:off x="5486400" y="3200400"/>
            <a:ext cx="73152" cy="73152"/>
          </a:xfrm>
          <a:prstGeom prst="ellipse">
            <a:avLst/>
          </a:prstGeom>
          <a:solidFill>
            <a:srgbClr val="2BAE9B"/>
          </a:solidFill>
          <a:ln w="12700">
            <a:solidFill>
              <a:srgbClr val="2BAE9B"/>
            </a:solidFill>
            <a:prstDash val="solid"/>
          </a:ln>
        </p:spPr>
        <p:txBody>
          <a:bodyPr/>
          <a:lstStyle/>
          <a:p>
            <a:endParaRPr lang="en-US"/>
          </a:p>
        </p:txBody>
      </p:sp>
      <p:sp>
        <p:nvSpPr>
          <p:cNvPr id="36" name="Text 34"/>
          <p:cNvSpPr/>
          <p:nvPr/>
        </p:nvSpPr>
        <p:spPr>
          <a:xfrm>
            <a:off x="5632704" y="3108960"/>
            <a:ext cx="3060112"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Tối ưu KNN, SVM và Random Forest</a:t>
            </a:r>
            <a:endParaRPr lang="en-US" sz="1400" dirty="0"/>
          </a:p>
        </p:txBody>
      </p:sp>
      <p:sp>
        <p:nvSpPr>
          <p:cNvPr id="37" name="Shape 35"/>
          <p:cNvSpPr/>
          <p:nvPr/>
        </p:nvSpPr>
        <p:spPr>
          <a:xfrm>
            <a:off x="5486400" y="3520440"/>
            <a:ext cx="73152" cy="73152"/>
          </a:xfrm>
          <a:prstGeom prst="ellipse">
            <a:avLst/>
          </a:prstGeom>
          <a:solidFill>
            <a:srgbClr val="2BAE9B"/>
          </a:solidFill>
          <a:ln w="12700">
            <a:solidFill>
              <a:srgbClr val="2BAE9B"/>
            </a:solidFill>
            <a:prstDash val="solid"/>
          </a:ln>
        </p:spPr>
        <p:txBody>
          <a:bodyPr/>
          <a:lstStyle/>
          <a:p>
            <a:endParaRPr lang="en-US"/>
          </a:p>
        </p:txBody>
      </p:sp>
      <p:sp>
        <p:nvSpPr>
          <p:cNvPr id="38" name="Text 36"/>
          <p:cNvSpPr/>
          <p:nvPr/>
        </p:nvSpPr>
        <p:spPr>
          <a:xfrm>
            <a:off x="5632704" y="3429000"/>
            <a:ext cx="2990088" cy="228600"/>
          </a:xfrm>
          <a:prstGeom prst="rect">
            <a:avLst/>
          </a:prstGeom>
          <a:noFill/>
          <a:ln/>
        </p:spPr>
        <p:txBody>
          <a:bodyPr wrap="square" lIns="0" tIns="0" rIns="0" bIns="0" rtlCol="0" anchor="ctr"/>
          <a:lstStyle/>
          <a:p>
            <a:pPr marL="0" indent="0">
              <a:buNone/>
            </a:pPr>
            <a:r>
              <a:rPr lang="en-US" sz="1400" dirty="0">
                <a:solidFill>
                  <a:srgbClr val="183B4E"/>
                </a:solidFill>
                <a:latin typeface="Arial" pitchFamily="34" charset="0"/>
                <a:ea typeface="Arial" pitchFamily="34" charset="-122"/>
                <a:cs typeface="Arial" pitchFamily="34" charset="-120"/>
              </a:rPr>
              <a:t>Chọn mô hình cuối cùng cho test set</a:t>
            </a:r>
            <a:endParaRPr lang="en-US" sz="1400" dirty="0"/>
          </a:p>
        </p:txBody>
      </p:sp>
      <p:sp>
        <p:nvSpPr>
          <p:cNvPr id="39" name="Shape 37"/>
          <p:cNvSpPr/>
          <p:nvPr/>
        </p:nvSpPr>
        <p:spPr>
          <a:xfrm>
            <a:off x="685800" y="5074920"/>
            <a:ext cx="1325880" cy="640080"/>
          </a:xfrm>
          <a:prstGeom prst="roundRect">
            <a:avLst>
              <a:gd name="adj" fmla="val 11429"/>
            </a:avLst>
          </a:prstGeom>
          <a:solidFill>
            <a:srgbClr val="EFF6F6"/>
          </a:solidFill>
          <a:ln w="12700">
            <a:solidFill>
              <a:srgbClr val="D7E6E6"/>
            </a:solidFill>
            <a:prstDash val="solid"/>
          </a:ln>
        </p:spPr>
        <p:txBody>
          <a:bodyPr/>
          <a:lstStyle/>
          <a:p>
            <a:endParaRPr lang="en-US"/>
          </a:p>
        </p:txBody>
      </p:sp>
      <p:sp>
        <p:nvSpPr>
          <p:cNvPr id="40" name="Text 38"/>
          <p:cNvSpPr/>
          <p:nvPr/>
        </p:nvSpPr>
        <p:spPr>
          <a:xfrm>
            <a:off x="758952" y="5175504"/>
            <a:ext cx="11795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215</a:t>
            </a:r>
            <a:endParaRPr lang="en-US" sz="1800" dirty="0"/>
          </a:p>
        </p:txBody>
      </p:sp>
      <p:sp>
        <p:nvSpPr>
          <p:cNvPr id="41" name="Text 39"/>
          <p:cNvSpPr/>
          <p:nvPr/>
        </p:nvSpPr>
        <p:spPr>
          <a:xfrm>
            <a:off x="758952" y="5431536"/>
            <a:ext cx="11795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Mẫu toàn bộ</a:t>
            </a:r>
            <a:endParaRPr lang="en-US" sz="850" dirty="0"/>
          </a:p>
        </p:txBody>
      </p:sp>
      <p:sp>
        <p:nvSpPr>
          <p:cNvPr id="42" name="Shape 40"/>
          <p:cNvSpPr/>
          <p:nvPr/>
        </p:nvSpPr>
        <p:spPr>
          <a:xfrm>
            <a:off x="2148840" y="5074920"/>
            <a:ext cx="1325880" cy="640080"/>
          </a:xfrm>
          <a:prstGeom prst="roundRect">
            <a:avLst>
              <a:gd name="adj" fmla="val 11429"/>
            </a:avLst>
          </a:prstGeom>
          <a:solidFill>
            <a:srgbClr val="EFF6F6"/>
          </a:solidFill>
          <a:ln w="12700">
            <a:solidFill>
              <a:srgbClr val="D7E6E6"/>
            </a:solidFill>
            <a:prstDash val="solid"/>
          </a:ln>
        </p:spPr>
        <p:txBody>
          <a:bodyPr/>
          <a:lstStyle/>
          <a:p>
            <a:endParaRPr lang="en-US"/>
          </a:p>
        </p:txBody>
      </p:sp>
      <p:sp>
        <p:nvSpPr>
          <p:cNvPr id="43" name="Text 41"/>
          <p:cNvSpPr/>
          <p:nvPr/>
        </p:nvSpPr>
        <p:spPr>
          <a:xfrm>
            <a:off x="2221992" y="5175504"/>
            <a:ext cx="11795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3</a:t>
            </a:r>
            <a:endParaRPr lang="en-US" sz="1800" dirty="0"/>
          </a:p>
        </p:txBody>
      </p:sp>
      <p:sp>
        <p:nvSpPr>
          <p:cNvPr id="44" name="Text 42"/>
          <p:cNvSpPr/>
          <p:nvPr/>
        </p:nvSpPr>
        <p:spPr>
          <a:xfrm>
            <a:off x="2221992" y="5431536"/>
            <a:ext cx="11795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Lớp chẩn đoán</a:t>
            </a:r>
            <a:endParaRPr lang="en-US" sz="850" dirty="0"/>
          </a:p>
        </p:txBody>
      </p:sp>
      <p:sp>
        <p:nvSpPr>
          <p:cNvPr id="45" name="Shape 43"/>
          <p:cNvSpPr/>
          <p:nvPr/>
        </p:nvSpPr>
        <p:spPr>
          <a:xfrm>
            <a:off x="3611880" y="5074920"/>
            <a:ext cx="1691640" cy="640080"/>
          </a:xfrm>
          <a:prstGeom prst="roundRect">
            <a:avLst>
              <a:gd name="adj" fmla="val 11429"/>
            </a:avLst>
          </a:prstGeom>
          <a:solidFill>
            <a:srgbClr val="EFF6F6"/>
          </a:solidFill>
          <a:ln w="12700">
            <a:solidFill>
              <a:srgbClr val="D7E6E6"/>
            </a:solidFill>
            <a:prstDash val="solid"/>
          </a:ln>
        </p:spPr>
        <p:txBody>
          <a:bodyPr/>
          <a:lstStyle/>
          <a:p>
            <a:endParaRPr lang="en-US"/>
          </a:p>
        </p:txBody>
      </p:sp>
      <p:sp>
        <p:nvSpPr>
          <p:cNvPr id="46" name="Text 44"/>
          <p:cNvSpPr/>
          <p:nvPr/>
        </p:nvSpPr>
        <p:spPr>
          <a:xfrm>
            <a:off x="3685032" y="5175504"/>
            <a:ext cx="154533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150 / 35 / 30</a:t>
            </a:r>
            <a:endParaRPr lang="en-US" sz="1800" dirty="0"/>
          </a:p>
        </p:txBody>
      </p:sp>
      <p:sp>
        <p:nvSpPr>
          <p:cNvPr id="47" name="Text 45"/>
          <p:cNvSpPr/>
          <p:nvPr/>
        </p:nvSpPr>
        <p:spPr>
          <a:xfrm>
            <a:off x="3685032" y="5431536"/>
            <a:ext cx="154533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Phân bố lớp</a:t>
            </a:r>
            <a:endParaRPr lang="en-US" sz="850" dirty="0"/>
          </a:p>
        </p:txBody>
      </p:sp>
      <p:sp>
        <p:nvSpPr>
          <p:cNvPr id="48" name="Shape 46"/>
          <p:cNvSpPr/>
          <p:nvPr/>
        </p:nvSpPr>
        <p:spPr>
          <a:xfrm>
            <a:off x="5486400" y="5074920"/>
            <a:ext cx="1554480" cy="640080"/>
          </a:xfrm>
          <a:prstGeom prst="roundRect">
            <a:avLst>
              <a:gd name="adj" fmla="val 11429"/>
            </a:avLst>
          </a:prstGeom>
          <a:solidFill>
            <a:srgbClr val="EFF6F6"/>
          </a:solidFill>
          <a:ln w="12700">
            <a:solidFill>
              <a:srgbClr val="D7E6E6"/>
            </a:solidFill>
            <a:prstDash val="solid"/>
          </a:ln>
        </p:spPr>
        <p:txBody>
          <a:bodyPr/>
          <a:lstStyle/>
          <a:p>
            <a:endParaRPr lang="en-US"/>
          </a:p>
        </p:txBody>
      </p:sp>
      <p:sp>
        <p:nvSpPr>
          <p:cNvPr id="49" name="Text 47"/>
          <p:cNvSpPr/>
          <p:nvPr/>
        </p:nvSpPr>
        <p:spPr>
          <a:xfrm>
            <a:off x="5559552" y="5175504"/>
            <a:ext cx="14081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10</a:t>
            </a:r>
            <a:endParaRPr lang="en-US" sz="1800" dirty="0"/>
          </a:p>
        </p:txBody>
      </p:sp>
      <p:sp>
        <p:nvSpPr>
          <p:cNvPr id="50" name="Text 48"/>
          <p:cNvSpPr/>
          <p:nvPr/>
        </p:nvSpPr>
        <p:spPr>
          <a:xfrm>
            <a:off x="5559552" y="5431536"/>
            <a:ext cx="14081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Thuật toán baseline</a:t>
            </a:r>
            <a:endParaRPr lang="en-US" sz="850" dirty="0"/>
          </a:p>
        </p:txBody>
      </p:sp>
      <p:sp>
        <p:nvSpPr>
          <p:cNvPr id="52" name="Text 49"/>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53" name="Text 50"/>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Dữ liệu và EDA</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Kiểm tra missing values, class imbalance và tương quan đặc trưng</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pic>
        <p:nvPicPr>
          <p:cNvPr id="6" name="Image 0" descr="/mnt/data/docx_extract/word/media/image1.png"/>
          <p:cNvPicPr>
            <a:picLocks noChangeAspect="1"/>
          </p:cNvPicPr>
          <p:nvPr/>
        </p:nvPicPr>
        <p:blipFill>
          <a:blip r:embed="rId3"/>
          <a:stretch>
            <a:fillRect/>
          </a:stretch>
        </p:blipFill>
        <p:spPr>
          <a:xfrm>
            <a:off x="640080" y="1517904"/>
            <a:ext cx="3840480" cy="1536192"/>
          </a:xfrm>
          <a:prstGeom prst="rect">
            <a:avLst/>
          </a:prstGeom>
        </p:spPr>
      </p:pic>
      <p:pic>
        <p:nvPicPr>
          <p:cNvPr id="7" name="Image 1" descr="/mnt/data/docx_extract/word/media/image2.png"/>
          <p:cNvPicPr>
            <a:picLocks noChangeAspect="1"/>
          </p:cNvPicPr>
          <p:nvPr/>
        </p:nvPicPr>
        <p:blipFill>
          <a:blip r:embed="rId4"/>
          <a:stretch>
            <a:fillRect/>
          </a:stretch>
        </p:blipFill>
        <p:spPr>
          <a:xfrm>
            <a:off x="4663440" y="1329146"/>
            <a:ext cx="3063240" cy="2188029"/>
          </a:xfrm>
          <a:prstGeom prst="rect">
            <a:avLst/>
          </a:prstGeom>
        </p:spPr>
      </p:pic>
      <p:sp>
        <p:nvSpPr>
          <p:cNvPr id="8" name="Text 4"/>
          <p:cNvSpPr/>
          <p:nvPr/>
        </p:nvSpPr>
        <p:spPr>
          <a:xfrm>
            <a:off x="8046720" y="1188720"/>
            <a:ext cx="1920240" cy="201168"/>
          </a:xfrm>
          <a:prstGeom prst="rect">
            <a:avLst/>
          </a:prstGeom>
          <a:noFill/>
          <a:ln/>
        </p:spPr>
        <p:txBody>
          <a:bodyPr wrap="square" lIns="0" tIns="0" rIns="0" bIns="0" rtlCol="0" anchor="ctr"/>
          <a:lstStyle/>
          <a:p>
            <a:pPr marL="0" indent="0">
              <a:buNone/>
            </a:pPr>
            <a:r>
              <a:rPr lang="en-US" sz="1700" b="1" dirty="0">
                <a:solidFill>
                  <a:srgbClr val="183B4E"/>
                </a:solidFill>
              </a:rPr>
              <a:t>Nhận xét chính</a:t>
            </a:r>
            <a:endParaRPr lang="en-US" sz="1700" dirty="0"/>
          </a:p>
        </p:txBody>
      </p:sp>
      <p:sp>
        <p:nvSpPr>
          <p:cNvPr id="9" name="Shape 5"/>
          <p:cNvSpPr/>
          <p:nvPr/>
        </p:nvSpPr>
        <p:spPr>
          <a:xfrm>
            <a:off x="8065008" y="1645920"/>
            <a:ext cx="73152" cy="73152"/>
          </a:xfrm>
          <a:prstGeom prst="ellipse">
            <a:avLst/>
          </a:prstGeom>
          <a:solidFill>
            <a:srgbClr val="2BAE9B"/>
          </a:solidFill>
          <a:ln w="12700">
            <a:solidFill>
              <a:srgbClr val="2BAE9B"/>
            </a:solidFill>
            <a:prstDash val="solid"/>
          </a:ln>
        </p:spPr>
        <p:txBody>
          <a:bodyPr/>
          <a:lstStyle/>
          <a:p>
            <a:endParaRPr lang="en-US"/>
          </a:p>
        </p:txBody>
      </p:sp>
      <p:sp>
        <p:nvSpPr>
          <p:cNvPr id="10" name="Text 6"/>
          <p:cNvSpPr/>
          <p:nvPr/>
        </p:nvSpPr>
        <p:spPr>
          <a:xfrm>
            <a:off x="8211312" y="1554480"/>
            <a:ext cx="3200400" cy="228600"/>
          </a:xfrm>
          <a:prstGeom prst="rect">
            <a:avLst/>
          </a:prstGeom>
          <a:noFill/>
          <a:ln/>
        </p:spPr>
        <p:txBody>
          <a:bodyPr wrap="square" lIns="0" tIns="0" rIns="0" bIns="0" rtlCol="0" anchor="ctr"/>
          <a:lstStyle/>
          <a:p>
            <a:pPr marL="0" indent="0">
              <a:buNone/>
            </a:pPr>
            <a:r>
              <a:rPr lang="en-US" sz="1320" dirty="0">
                <a:solidFill>
                  <a:srgbClr val="183B4E"/>
                </a:solidFill>
                <a:latin typeface="Arial" pitchFamily="34" charset="0"/>
                <a:ea typeface="Arial" pitchFamily="34" charset="-122"/>
                <a:cs typeface="Arial" pitchFamily="34" charset="-120"/>
              </a:rPr>
              <a:t>Không có missing values; dữ liệu thuần số cho mô hình scikit-learn.</a:t>
            </a:r>
            <a:endParaRPr lang="en-US" sz="1320" dirty="0"/>
          </a:p>
        </p:txBody>
      </p:sp>
      <p:sp>
        <p:nvSpPr>
          <p:cNvPr id="11" name="Shape 7"/>
          <p:cNvSpPr/>
          <p:nvPr/>
        </p:nvSpPr>
        <p:spPr>
          <a:xfrm>
            <a:off x="8065008" y="2212848"/>
            <a:ext cx="73152" cy="73152"/>
          </a:xfrm>
          <a:prstGeom prst="ellipse">
            <a:avLst/>
          </a:prstGeom>
          <a:solidFill>
            <a:srgbClr val="2BAE9B"/>
          </a:solidFill>
          <a:ln w="12700">
            <a:solidFill>
              <a:srgbClr val="2BAE9B"/>
            </a:solidFill>
            <a:prstDash val="solid"/>
          </a:ln>
        </p:spPr>
        <p:txBody>
          <a:bodyPr/>
          <a:lstStyle/>
          <a:p>
            <a:endParaRPr lang="en-US"/>
          </a:p>
        </p:txBody>
      </p:sp>
      <p:sp>
        <p:nvSpPr>
          <p:cNvPr id="12" name="Text 8"/>
          <p:cNvSpPr/>
          <p:nvPr/>
        </p:nvSpPr>
        <p:spPr>
          <a:xfrm>
            <a:off x="8211312" y="2121408"/>
            <a:ext cx="3200400" cy="228600"/>
          </a:xfrm>
          <a:prstGeom prst="rect">
            <a:avLst/>
          </a:prstGeom>
          <a:noFill/>
          <a:ln/>
        </p:spPr>
        <p:txBody>
          <a:bodyPr wrap="square" lIns="0" tIns="0" rIns="0" bIns="0" rtlCol="0" anchor="ctr"/>
          <a:lstStyle/>
          <a:p>
            <a:pPr marL="0" indent="0">
              <a:buNone/>
            </a:pPr>
            <a:r>
              <a:rPr lang="en-US" sz="1320" dirty="0">
                <a:solidFill>
                  <a:srgbClr val="183B4E"/>
                </a:solidFill>
                <a:latin typeface="Arial" pitchFamily="34" charset="0"/>
                <a:ea typeface="Arial" pitchFamily="34" charset="-122"/>
                <a:cs typeface="Arial" pitchFamily="34" charset="-120"/>
              </a:rPr>
              <a:t>Phân bố lớp hơi lệch: Normal chiếm gần 70% số mẫu.</a:t>
            </a:r>
            <a:endParaRPr lang="en-US" sz="1320" dirty="0"/>
          </a:p>
        </p:txBody>
      </p:sp>
      <p:sp>
        <p:nvSpPr>
          <p:cNvPr id="13" name="Shape 9"/>
          <p:cNvSpPr/>
          <p:nvPr/>
        </p:nvSpPr>
        <p:spPr>
          <a:xfrm>
            <a:off x="8065008" y="2779776"/>
            <a:ext cx="73152" cy="73152"/>
          </a:xfrm>
          <a:prstGeom prst="ellipse">
            <a:avLst/>
          </a:prstGeom>
          <a:solidFill>
            <a:srgbClr val="2BAE9B"/>
          </a:solidFill>
          <a:ln w="12700">
            <a:solidFill>
              <a:srgbClr val="2BAE9B"/>
            </a:solidFill>
            <a:prstDash val="solid"/>
          </a:ln>
        </p:spPr>
        <p:txBody>
          <a:bodyPr/>
          <a:lstStyle/>
          <a:p>
            <a:endParaRPr lang="en-US"/>
          </a:p>
        </p:txBody>
      </p:sp>
      <p:sp>
        <p:nvSpPr>
          <p:cNvPr id="14" name="Text 10"/>
          <p:cNvSpPr/>
          <p:nvPr/>
        </p:nvSpPr>
        <p:spPr>
          <a:xfrm>
            <a:off x="8211312" y="2688336"/>
            <a:ext cx="3200400" cy="228600"/>
          </a:xfrm>
          <a:prstGeom prst="rect">
            <a:avLst/>
          </a:prstGeom>
          <a:noFill/>
          <a:ln/>
        </p:spPr>
        <p:txBody>
          <a:bodyPr wrap="square" lIns="0" tIns="0" rIns="0" bIns="0" rtlCol="0" anchor="ctr"/>
          <a:lstStyle/>
          <a:p>
            <a:pPr marL="0" indent="0">
              <a:buNone/>
            </a:pPr>
            <a:r>
              <a:rPr lang="en-US" sz="1320" dirty="0">
                <a:solidFill>
                  <a:srgbClr val="183B4E"/>
                </a:solidFill>
                <a:latin typeface="Arial" pitchFamily="34" charset="0"/>
                <a:ea typeface="Arial" pitchFamily="34" charset="-122"/>
                <a:cs typeface="Arial" pitchFamily="34" charset="-120"/>
              </a:rPr>
              <a:t>T3_resin và Thyroxin có thang đo khác biệt rõ so với TSH.</a:t>
            </a:r>
            <a:endParaRPr lang="en-US" sz="1320" dirty="0"/>
          </a:p>
        </p:txBody>
      </p:sp>
      <p:sp>
        <p:nvSpPr>
          <p:cNvPr id="15" name="Shape 11"/>
          <p:cNvSpPr/>
          <p:nvPr/>
        </p:nvSpPr>
        <p:spPr>
          <a:xfrm>
            <a:off x="8065008" y="3346704"/>
            <a:ext cx="73152" cy="73152"/>
          </a:xfrm>
          <a:prstGeom prst="ellipse">
            <a:avLst/>
          </a:prstGeom>
          <a:solidFill>
            <a:srgbClr val="2BAE9B"/>
          </a:solidFill>
          <a:ln w="12700">
            <a:solidFill>
              <a:srgbClr val="2BAE9B"/>
            </a:solidFill>
            <a:prstDash val="solid"/>
          </a:ln>
        </p:spPr>
        <p:txBody>
          <a:bodyPr/>
          <a:lstStyle/>
          <a:p>
            <a:endParaRPr lang="en-US"/>
          </a:p>
        </p:txBody>
      </p:sp>
      <p:sp>
        <p:nvSpPr>
          <p:cNvPr id="16" name="Text 12"/>
          <p:cNvSpPr/>
          <p:nvPr/>
        </p:nvSpPr>
        <p:spPr>
          <a:xfrm>
            <a:off x="8211312" y="3255264"/>
            <a:ext cx="3200400" cy="228600"/>
          </a:xfrm>
          <a:prstGeom prst="rect">
            <a:avLst/>
          </a:prstGeom>
          <a:noFill/>
          <a:ln/>
        </p:spPr>
        <p:txBody>
          <a:bodyPr wrap="square" lIns="0" tIns="0" rIns="0" bIns="0" rtlCol="0" anchor="ctr"/>
          <a:lstStyle/>
          <a:p>
            <a:pPr marL="0" indent="0">
              <a:buNone/>
            </a:pPr>
            <a:r>
              <a:rPr lang="en-US" sz="1320" dirty="0">
                <a:solidFill>
                  <a:srgbClr val="183B4E"/>
                </a:solidFill>
                <a:latin typeface="Arial" pitchFamily="34" charset="0"/>
                <a:ea typeface="Arial" pitchFamily="34" charset="-122"/>
                <a:cs typeface="Arial" pitchFamily="34" charset="-120"/>
              </a:rPr>
              <a:t>Có tương quan mạnh giữa Thyroxin và Triiodothyronine (r≈0.72).</a:t>
            </a:r>
            <a:endParaRPr lang="en-US" sz="1320" dirty="0"/>
          </a:p>
        </p:txBody>
      </p:sp>
      <p:sp>
        <p:nvSpPr>
          <p:cNvPr id="17" name="Shape 13"/>
          <p:cNvSpPr/>
          <p:nvPr/>
        </p:nvSpPr>
        <p:spPr>
          <a:xfrm>
            <a:off x="713232" y="4069080"/>
            <a:ext cx="10881360" cy="1078992"/>
          </a:xfrm>
          <a:prstGeom prst="roundRect">
            <a:avLst/>
          </a:prstGeom>
          <a:solidFill>
            <a:srgbClr val="EFF6F6"/>
          </a:solidFill>
          <a:ln w="12700">
            <a:solidFill>
              <a:srgbClr val="DDECEC"/>
            </a:solidFill>
            <a:prstDash val="solid"/>
          </a:ln>
        </p:spPr>
        <p:txBody>
          <a:bodyPr/>
          <a:lstStyle/>
          <a:p>
            <a:endParaRPr lang="en-US"/>
          </a:p>
        </p:txBody>
      </p:sp>
      <p:sp>
        <p:nvSpPr>
          <p:cNvPr id="18" name="Text 14"/>
          <p:cNvSpPr/>
          <p:nvPr/>
        </p:nvSpPr>
        <p:spPr>
          <a:xfrm>
            <a:off x="914400" y="4352544"/>
            <a:ext cx="10424160" cy="438912"/>
          </a:xfrm>
          <a:prstGeom prst="rect">
            <a:avLst/>
          </a:prstGeom>
          <a:noFill/>
          <a:ln/>
        </p:spPr>
        <p:txBody>
          <a:bodyPr wrap="square" lIns="0" tIns="0" rIns="0" bIns="0" rtlCol="0" anchor="ctr"/>
          <a:lstStyle/>
          <a:p>
            <a:pPr marL="0" indent="0" algn="ctr">
              <a:buNone/>
            </a:pPr>
            <a:r>
              <a:rPr lang="en-US" sz="1500" b="1" dirty="0">
                <a:solidFill>
                  <a:srgbClr val="116466"/>
                </a:solidFill>
              </a:rPr>
              <a:t>Quyết định tiền xử lý: dùng stratified split cho train/test; StandardScaler chỉ áp dụng cho các mô hình nhạy thang đo thông qua Pipeline để tránh data leakage.</a:t>
            </a:r>
            <a:endParaRPr lang="en-US" sz="1500" dirty="0"/>
          </a:p>
        </p:txBody>
      </p:sp>
      <p:sp>
        <p:nvSpPr>
          <p:cNvPr id="19" name="Text 15"/>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20" name="Text 16"/>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EBA193D-7C28-13C0-7DEB-2DBDC8E18E60}"/>
              </a:ext>
            </a:extLst>
          </p:cNvPr>
          <p:cNvSpPr/>
          <p:nvPr/>
        </p:nvSpPr>
        <p:spPr>
          <a:xfrm>
            <a:off x="7620" y="2448185"/>
            <a:ext cx="12192000" cy="238225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Thiết kế thực nghiệm</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Thực hiện đúng yêu cầu: random_state = 42, train/test = 70/30, CV = 5-fold</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sp>
        <p:nvSpPr>
          <p:cNvPr id="6" name="Shape 4"/>
          <p:cNvSpPr/>
          <p:nvPr/>
        </p:nvSpPr>
        <p:spPr>
          <a:xfrm>
            <a:off x="685800" y="1417320"/>
            <a:ext cx="1783080" cy="640080"/>
          </a:xfrm>
          <a:prstGeom prst="roundRect">
            <a:avLst>
              <a:gd name="adj" fmla="val 11429"/>
            </a:avLst>
          </a:prstGeom>
          <a:solidFill>
            <a:srgbClr val="F4F7F7"/>
          </a:solidFill>
          <a:ln w="12700">
            <a:solidFill>
              <a:srgbClr val="D2DEDF"/>
            </a:solidFill>
            <a:prstDash val="solid"/>
          </a:ln>
        </p:spPr>
        <p:txBody>
          <a:bodyPr/>
          <a:lstStyle/>
          <a:p>
            <a:endParaRPr lang="en-US"/>
          </a:p>
        </p:txBody>
      </p:sp>
      <p:sp>
        <p:nvSpPr>
          <p:cNvPr id="7" name="Text 5"/>
          <p:cNvSpPr/>
          <p:nvPr/>
        </p:nvSpPr>
        <p:spPr>
          <a:xfrm>
            <a:off x="777240" y="1572768"/>
            <a:ext cx="1600200" cy="310896"/>
          </a:xfrm>
          <a:prstGeom prst="rect">
            <a:avLst/>
          </a:prstGeom>
          <a:noFill/>
          <a:ln/>
        </p:spPr>
        <p:txBody>
          <a:bodyPr wrap="square" lIns="0" tIns="0" rIns="0" bIns="0" rtlCol="0" anchor="ctr"/>
          <a:lstStyle/>
          <a:p>
            <a:pPr marL="0" indent="0" algn="ctr">
              <a:buNone/>
            </a:pPr>
            <a:r>
              <a:rPr lang="en-US" sz="1050" dirty="0">
                <a:solidFill>
                  <a:srgbClr val="183B4E"/>
                </a:solidFill>
              </a:rPr>
              <a:t>1. Load &amp; clean</a:t>
            </a:r>
            <a:endParaRPr lang="en-US" sz="1050" dirty="0"/>
          </a:p>
          <a:p>
            <a:pPr marL="0" indent="0" algn="ctr">
              <a:buNone/>
            </a:pPr>
            <a:r>
              <a:rPr lang="en-US" sz="1050" dirty="0">
                <a:solidFill>
                  <a:srgbClr val="183B4E"/>
                </a:solidFill>
              </a:rPr>
              <a:t>Gán tên cột, kiểm tra dữ liệu sạch</a:t>
            </a:r>
            <a:endParaRPr lang="en-US" sz="1050" dirty="0"/>
          </a:p>
        </p:txBody>
      </p:sp>
      <p:sp>
        <p:nvSpPr>
          <p:cNvPr id="8" name="Shape 6"/>
          <p:cNvSpPr/>
          <p:nvPr/>
        </p:nvSpPr>
        <p:spPr>
          <a:xfrm>
            <a:off x="2926080" y="1417320"/>
            <a:ext cx="1783080" cy="640080"/>
          </a:xfrm>
          <a:prstGeom prst="roundRect">
            <a:avLst>
              <a:gd name="adj" fmla="val 11429"/>
            </a:avLst>
          </a:prstGeom>
          <a:solidFill>
            <a:srgbClr val="F4F7F7"/>
          </a:solidFill>
          <a:ln w="12700">
            <a:solidFill>
              <a:srgbClr val="D2DEDF"/>
            </a:solidFill>
            <a:prstDash val="solid"/>
          </a:ln>
        </p:spPr>
        <p:txBody>
          <a:bodyPr/>
          <a:lstStyle/>
          <a:p>
            <a:endParaRPr lang="en-US"/>
          </a:p>
        </p:txBody>
      </p:sp>
      <p:sp>
        <p:nvSpPr>
          <p:cNvPr id="9" name="Text 7"/>
          <p:cNvSpPr/>
          <p:nvPr/>
        </p:nvSpPr>
        <p:spPr>
          <a:xfrm>
            <a:off x="3017520" y="1572768"/>
            <a:ext cx="1600200" cy="310896"/>
          </a:xfrm>
          <a:prstGeom prst="rect">
            <a:avLst/>
          </a:prstGeom>
          <a:noFill/>
          <a:ln/>
        </p:spPr>
        <p:txBody>
          <a:bodyPr wrap="square" lIns="0" tIns="0" rIns="0" bIns="0" rtlCol="0" anchor="ctr"/>
          <a:lstStyle/>
          <a:p>
            <a:pPr marL="0" indent="0" algn="ctr">
              <a:buNone/>
            </a:pPr>
            <a:r>
              <a:rPr lang="en-US" sz="1050" dirty="0">
                <a:solidFill>
                  <a:srgbClr val="183B4E"/>
                </a:solidFill>
              </a:rPr>
              <a:t>2. Train/Test split</a:t>
            </a:r>
            <a:endParaRPr lang="en-US" sz="1050" dirty="0"/>
          </a:p>
          <a:p>
            <a:pPr marL="0" indent="0" algn="ctr">
              <a:buNone/>
            </a:pPr>
            <a:r>
              <a:rPr lang="en-US" sz="1050" dirty="0">
                <a:solidFill>
                  <a:srgbClr val="183B4E"/>
                </a:solidFill>
              </a:rPr>
              <a:t>70% train, 30% test, stratify=y</a:t>
            </a:r>
            <a:endParaRPr lang="en-US" sz="1050" dirty="0"/>
          </a:p>
        </p:txBody>
      </p:sp>
      <p:sp>
        <p:nvSpPr>
          <p:cNvPr id="10" name="Shape 8"/>
          <p:cNvSpPr/>
          <p:nvPr/>
        </p:nvSpPr>
        <p:spPr>
          <a:xfrm>
            <a:off x="5166360" y="1417320"/>
            <a:ext cx="1783080" cy="640080"/>
          </a:xfrm>
          <a:prstGeom prst="roundRect">
            <a:avLst>
              <a:gd name="adj" fmla="val 11429"/>
            </a:avLst>
          </a:prstGeom>
          <a:solidFill>
            <a:srgbClr val="F4F7F7"/>
          </a:solidFill>
          <a:ln w="12700">
            <a:solidFill>
              <a:srgbClr val="D2DEDF"/>
            </a:solidFill>
            <a:prstDash val="solid"/>
          </a:ln>
        </p:spPr>
        <p:txBody>
          <a:bodyPr/>
          <a:lstStyle/>
          <a:p>
            <a:endParaRPr lang="en-US"/>
          </a:p>
        </p:txBody>
      </p:sp>
      <p:sp>
        <p:nvSpPr>
          <p:cNvPr id="11" name="Text 9"/>
          <p:cNvSpPr/>
          <p:nvPr/>
        </p:nvSpPr>
        <p:spPr>
          <a:xfrm>
            <a:off x="5257800" y="1572768"/>
            <a:ext cx="1600200" cy="310896"/>
          </a:xfrm>
          <a:prstGeom prst="rect">
            <a:avLst/>
          </a:prstGeom>
          <a:noFill/>
          <a:ln/>
        </p:spPr>
        <p:txBody>
          <a:bodyPr wrap="square" lIns="0" tIns="0" rIns="0" bIns="0" rtlCol="0" anchor="ctr"/>
          <a:lstStyle/>
          <a:p>
            <a:pPr marL="0" indent="0" algn="ctr">
              <a:buNone/>
            </a:pPr>
            <a:r>
              <a:rPr lang="en-US" sz="1050" dirty="0">
                <a:solidFill>
                  <a:srgbClr val="183B4E"/>
                </a:solidFill>
              </a:rPr>
              <a:t>3. 5-fold CV</a:t>
            </a:r>
            <a:endParaRPr lang="en-US" sz="1050" dirty="0"/>
          </a:p>
          <a:p>
            <a:pPr marL="0" indent="0" algn="ctr">
              <a:buNone/>
            </a:pPr>
            <a:r>
              <a:rPr lang="en-US" sz="1050" dirty="0">
                <a:solidFill>
                  <a:srgbClr val="183B4E"/>
                </a:solidFill>
              </a:rPr>
              <a:t>Đánh giá ổn định trên tập train</a:t>
            </a:r>
            <a:endParaRPr lang="en-US" sz="1050" dirty="0"/>
          </a:p>
        </p:txBody>
      </p:sp>
      <p:sp>
        <p:nvSpPr>
          <p:cNvPr id="12" name="Shape 10"/>
          <p:cNvSpPr/>
          <p:nvPr/>
        </p:nvSpPr>
        <p:spPr>
          <a:xfrm>
            <a:off x="7406640" y="1417320"/>
            <a:ext cx="1783080" cy="640080"/>
          </a:xfrm>
          <a:prstGeom prst="roundRect">
            <a:avLst>
              <a:gd name="adj" fmla="val 11429"/>
            </a:avLst>
          </a:prstGeom>
          <a:solidFill>
            <a:srgbClr val="F4F7F7"/>
          </a:solidFill>
          <a:ln w="12700">
            <a:solidFill>
              <a:srgbClr val="D2DEDF"/>
            </a:solidFill>
            <a:prstDash val="solid"/>
          </a:ln>
        </p:spPr>
        <p:txBody>
          <a:bodyPr/>
          <a:lstStyle/>
          <a:p>
            <a:endParaRPr lang="en-US"/>
          </a:p>
        </p:txBody>
      </p:sp>
      <p:sp>
        <p:nvSpPr>
          <p:cNvPr id="13" name="Text 11"/>
          <p:cNvSpPr/>
          <p:nvPr/>
        </p:nvSpPr>
        <p:spPr>
          <a:xfrm>
            <a:off x="7498080" y="1572768"/>
            <a:ext cx="1600200" cy="310896"/>
          </a:xfrm>
          <a:prstGeom prst="rect">
            <a:avLst/>
          </a:prstGeom>
          <a:noFill/>
          <a:ln/>
        </p:spPr>
        <p:txBody>
          <a:bodyPr wrap="square" lIns="0" tIns="0" rIns="0" bIns="0" rtlCol="0" anchor="ctr"/>
          <a:lstStyle/>
          <a:p>
            <a:pPr marL="0" indent="0" algn="ctr">
              <a:buNone/>
            </a:pPr>
            <a:r>
              <a:rPr lang="en-US" sz="1050" dirty="0">
                <a:solidFill>
                  <a:srgbClr val="183B4E"/>
                </a:solidFill>
              </a:rPr>
              <a:t>4. 10 baseline models</a:t>
            </a:r>
            <a:endParaRPr lang="en-US" sz="1050" dirty="0"/>
          </a:p>
          <a:p>
            <a:pPr marL="0" indent="0" algn="ctr">
              <a:buNone/>
            </a:pPr>
            <a:r>
              <a:rPr lang="en-US" sz="1050" dirty="0">
                <a:solidFill>
                  <a:srgbClr val="183B4E"/>
                </a:solidFill>
              </a:rPr>
              <a:t>So sánh cùng bộ metric</a:t>
            </a:r>
            <a:endParaRPr lang="en-US" sz="1050" dirty="0"/>
          </a:p>
        </p:txBody>
      </p:sp>
      <p:sp>
        <p:nvSpPr>
          <p:cNvPr id="14" name="Shape 12"/>
          <p:cNvSpPr/>
          <p:nvPr/>
        </p:nvSpPr>
        <p:spPr>
          <a:xfrm>
            <a:off x="9646920" y="1417320"/>
            <a:ext cx="1783080" cy="640080"/>
          </a:xfrm>
          <a:prstGeom prst="roundRect">
            <a:avLst>
              <a:gd name="adj" fmla="val 11429"/>
            </a:avLst>
          </a:prstGeom>
          <a:solidFill>
            <a:srgbClr val="DFF2EF"/>
          </a:solidFill>
          <a:ln w="12700">
            <a:solidFill>
              <a:srgbClr val="D2DEDF"/>
            </a:solidFill>
            <a:prstDash val="solid"/>
          </a:ln>
        </p:spPr>
        <p:txBody>
          <a:bodyPr/>
          <a:lstStyle/>
          <a:p>
            <a:endParaRPr lang="en-US"/>
          </a:p>
        </p:txBody>
      </p:sp>
      <p:sp>
        <p:nvSpPr>
          <p:cNvPr id="15" name="Text 13"/>
          <p:cNvSpPr/>
          <p:nvPr/>
        </p:nvSpPr>
        <p:spPr>
          <a:xfrm>
            <a:off x="9738360" y="1572768"/>
            <a:ext cx="1600200" cy="310896"/>
          </a:xfrm>
          <a:prstGeom prst="rect">
            <a:avLst/>
          </a:prstGeom>
          <a:noFill/>
          <a:ln/>
        </p:spPr>
        <p:txBody>
          <a:bodyPr wrap="square" lIns="0" tIns="0" rIns="0" bIns="0" rtlCol="0" anchor="ctr"/>
          <a:lstStyle/>
          <a:p>
            <a:pPr marL="0" indent="0" algn="ctr">
              <a:buNone/>
            </a:pPr>
            <a:r>
              <a:rPr lang="en-US" sz="1050" b="1" dirty="0">
                <a:solidFill>
                  <a:srgbClr val="183B4E"/>
                </a:solidFill>
              </a:rPr>
              <a:t>5. Tuning &amp; final test</a:t>
            </a:r>
            <a:endParaRPr lang="en-US" sz="1050" dirty="0"/>
          </a:p>
          <a:p>
            <a:pPr marL="0" indent="0" algn="ctr">
              <a:buNone/>
            </a:pPr>
            <a:r>
              <a:rPr lang="en-US" sz="1050" b="1" dirty="0">
                <a:solidFill>
                  <a:srgbClr val="183B4E"/>
                </a:solidFill>
              </a:rPr>
              <a:t>GridSearch + ensemble</a:t>
            </a:r>
            <a:endParaRPr lang="en-US" sz="1050" dirty="0"/>
          </a:p>
        </p:txBody>
      </p:sp>
      <p:sp>
        <p:nvSpPr>
          <p:cNvPr id="16" name="Text 14"/>
          <p:cNvSpPr/>
          <p:nvPr/>
        </p:nvSpPr>
        <p:spPr>
          <a:xfrm>
            <a:off x="731520" y="2788920"/>
            <a:ext cx="2011680" cy="201168"/>
          </a:xfrm>
          <a:prstGeom prst="rect">
            <a:avLst/>
          </a:prstGeom>
          <a:noFill/>
          <a:ln/>
        </p:spPr>
        <p:txBody>
          <a:bodyPr wrap="square" lIns="0" tIns="0" rIns="0" bIns="0" rtlCol="0" anchor="ctr"/>
          <a:lstStyle/>
          <a:p>
            <a:pPr marL="0" indent="0">
              <a:buNone/>
            </a:pPr>
            <a:r>
              <a:rPr lang="en-US" sz="1650" b="1" dirty="0">
                <a:solidFill>
                  <a:srgbClr val="183B4E"/>
                </a:solidFill>
              </a:rPr>
              <a:t>10 thuật toán baseline</a:t>
            </a:r>
            <a:endParaRPr lang="en-US" sz="1650" dirty="0"/>
          </a:p>
        </p:txBody>
      </p:sp>
      <p:sp>
        <p:nvSpPr>
          <p:cNvPr id="17" name="Text 15"/>
          <p:cNvSpPr/>
          <p:nvPr/>
        </p:nvSpPr>
        <p:spPr>
          <a:xfrm>
            <a:off x="731520" y="3154680"/>
            <a:ext cx="1234440" cy="914400"/>
          </a:xfrm>
          <a:prstGeom prst="rect">
            <a:avLst/>
          </a:prstGeom>
          <a:noFill/>
          <a:ln/>
        </p:spPr>
        <p:txBody>
          <a:bodyPr wrap="square" lIns="0" tIns="0" rIns="0" bIns="0" rtlCol="0" anchor="ctr"/>
          <a:lstStyle/>
          <a:p>
            <a:pPr marL="0" indent="0">
              <a:buNone/>
            </a:pPr>
            <a:r>
              <a:rPr lang="en-US" sz="1280" dirty="0">
                <a:solidFill>
                  <a:srgbClr val="183B4E"/>
                </a:solidFill>
              </a:rPr>
              <a:t>kNN</a:t>
            </a:r>
            <a:endParaRPr lang="en-US" sz="1280" dirty="0"/>
          </a:p>
          <a:p>
            <a:pPr marL="0" indent="0">
              <a:buNone/>
            </a:pPr>
            <a:r>
              <a:rPr lang="en-US" sz="1280" dirty="0">
                <a:solidFill>
                  <a:srgbClr val="183B4E"/>
                </a:solidFill>
              </a:rPr>
              <a:t>Naive Bayes</a:t>
            </a:r>
            <a:endParaRPr lang="en-US" sz="1280" dirty="0"/>
          </a:p>
          <a:p>
            <a:pPr marL="0" indent="0">
              <a:buNone/>
            </a:pPr>
            <a:r>
              <a:rPr lang="en-US" sz="1280" dirty="0">
                <a:solidFill>
                  <a:srgbClr val="183B4E"/>
                </a:solidFill>
              </a:rPr>
              <a:t>SVM</a:t>
            </a:r>
            <a:endParaRPr lang="en-US" sz="1280" dirty="0"/>
          </a:p>
          <a:p>
            <a:pPr marL="0" indent="0">
              <a:buNone/>
            </a:pPr>
            <a:r>
              <a:rPr lang="en-US" sz="1280" dirty="0">
                <a:solidFill>
                  <a:srgbClr val="183B4E"/>
                </a:solidFill>
              </a:rPr>
              <a:t>Decision Tree</a:t>
            </a:r>
            <a:endParaRPr lang="en-US" sz="1280" dirty="0"/>
          </a:p>
          <a:p>
            <a:pPr marL="0" indent="0">
              <a:buNone/>
            </a:pPr>
            <a:r>
              <a:rPr lang="en-US" sz="1280" dirty="0">
                <a:solidFill>
                  <a:srgbClr val="183B4E"/>
                </a:solidFill>
              </a:rPr>
              <a:t>Random Forest</a:t>
            </a:r>
            <a:endParaRPr lang="en-US" sz="1280" dirty="0"/>
          </a:p>
        </p:txBody>
      </p:sp>
      <p:sp>
        <p:nvSpPr>
          <p:cNvPr id="18" name="Text 16"/>
          <p:cNvSpPr/>
          <p:nvPr/>
        </p:nvSpPr>
        <p:spPr>
          <a:xfrm>
            <a:off x="2103120" y="3154680"/>
            <a:ext cx="1828800" cy="914400"/>
          </a:xfrm>
          <a:prstGeom prst="rect">
            <a:avLst/>
          </a:prstGeom>
          <a:noFill/>
          <a:ln/>
        </p:spPr>
        <p:txBody>
          <a:bodyPr wrap="square" lIns="0" tIns="0" rIns="0" bIns="0" rtlCol="0" anchor="ctr"/>
          <a:lstStyle/>
          <a:p>
            <a:pPr marL="0" indent="0">
              <a:buNone/>
            </a:pPr>
            <a:r>
              <a:rPr lang="en-US" sz="1280" dirty="0">
                <a:solidFill>
                  <a:srgbClr val="183B4E"/>
                </a:solidFill>
              </a:rPr>
              <a:t>AdaBoost</a:t>
            </a:r>
            <a:endParaRPr lang="en-US" sz="1280" dirty="0"/>
          </a:p>
          <a:p>
            <a:pPr marL="0" indent="0">
              <a:buNone/>
            </a:pPr>
            <a:r>
              <a:rPr lang="en-US" sz="1280" dirty="0">
                <a:solidFill>
                  <a:srgbClr val="183B4E"/>
                </a:solidFill>
              </a:rPr>
              <a:t>Gradient Boosting</a:t>
            </a:r>
            <a:endParaRPr lang="en-US" sz="1280" dirty="0"/>
          </a:p>
          <a:p>
            <a:pPr marL="0" indent="0">
              <a:buNone/>
            </a:pPr>
            <a:r>
              <a:rPr lang="en-US" sz="1280" dirty="0">
                <a:solidFill>
                  <a:srgbClr val="183B4E"/>
                </a:solidFill>
              </a:rPr>
              <a:t>LDA</a:t>
            </a:r>
            <a:endParaRPr lang="en-US" sz="1280" dirty="0"/>
          </a:p>
          <a:p>
            <a:pPr marL="0" indent="0">
              <a:buNone/>
            </a:pPr>
            <a:r>
              <a:rPr lang="en-US" sz="1280" dirty="0">
                <a:solidFill>
                  <a:srgbClr val="183B4E"/>
                </a:solidFill>
              </a:rPr>
              <a:t>MLP</a:t>
            </a:r>
            <a:endParaRPr lang="en-US" sz="1280" dirty="0"/>
          </a:p>
          <a:p>
            <a:pPr marL="0" indent="0">
              <a:buNone/>
            </a:pPr>
            <a:r>
              <a:rPr lang="en-US" sz="1280" dirty="0">
                <a:solidFill>
                  <a:srgbClr val="183B4E"/>
                </a:solidFill>
              </a:rPr>
              <a:t>Logistic Regression</a:t>
            </a:r>
            <a:endParaRPr lang="en-US" sz="1280" dirty="0"/>
          </a:p>
        </p:txBody>
      </p:sp>
      <p:sp>
        <p:nvSpPr>
          <p:cNvPr id="19" name="Text 17"/>
          <p:cNvSpPr/>
          <p:nvPr/>
        </p:nvSpPr>
        <p:spPr>
          <a:xfrm>
            <a:off x="6400800" y="2788920"/>
            <a:ext cx="2011680" cy="201168"/>
          </a:xfrm>
          <a:prstGeom prst="rect">
            <a:avLst/>
          </a:prstGeom>
          <a:noFill/>
          <a:ln/>
        </p:spPr>
        <p:txBody>
          <a:bodyPr wrap="square" lIns="0" tIns="0" rIns="0" bIns="0" rtlCol="0" anchor="ctr"/>
          <a:lstStyle/>
          <a:p>
            <a:pPr marL="0" indent="0">
              <a:buNone/>
            </a:pPr>
            <a:r>
              <a:rPr lang="en-US" sz="1650" b="1" dirty="0">
                <a:solidFill>
                  <a:srgbClr val="183B4E"/>
                </a:solidFill>
              </a:rPr>
              <a:t>Thiết lập đánh giá</a:t>
            </a:r>
            <a:endParaRPr lang="en-US" sz="1650" dirty="0"/>
          </a:p>
        </p:txBody>
      </p:sp>
      <p:sp>
        <p:nvSpPr>
          <p:cNvPr id="20" name="Shape 18"/>
          <p:cNvSpPr/>
          <p:nvPr/>
        </p:nvSpPr>
        <p:spPr>
          <a:xfrm>
            <a:off x="6419088" y="3218688"/>
            <a:ext cx="73152" cy="73152"/>
          </a:xfrm>
          <a:prstGeom prst="ellipse">
            <a:avLst/>
          </a:prstGeom>
          <a:solidFill>
            <a:srgbClr val="2BAE9B"/>
          </a:solidFill>
          <a:ln w="12700">
            <a:solidFill>
              <a:srgbClr val="2BAE9B"/>
            </a:solidFill>
            <a:prstDash val="solid"/>
          </a:ln>
        </p:spPr>
        <p:txBody>
          <a:bodyPr/>
          <a:lstStyle/>
          <a:p>
            <a:endParaRPr lang="en-US"/>
          </a:p>
        </p:txBody>
      </p:sp>
      <p:sp>
        <p:nvSpPr>
          <p:cNvPr id="21" name="Text 19"/>
          <p:cNvSpPr/>
          <p:nvPr/>
        </p:nvSpPr>
        <p:spPr>
          <a:xfrm>
            <a:off x="6565392" y="3127248"/>
            <a:ext cx="4206240" cy="228600"/>
          </a:xfrm>
          <a:prstGeom prst="rect">
            <a:avLst/>
          </a:prstGeom>
          <a:noFill/>
          <a:ln/>
        </p:spPr>
        <p:txBody>
          <a:bodyPr wrap="square" lIns="0" tIns="0" rIns="0" bIns="0" rtlCol="0" anchor="ctr"/>
          <a:lstStyle/>
          <a:p>
            <a:pPr marL="0" indent="0">
              <a:buNone/>
            </a:pPr>
            <a:r>
              <a:rPr lang="en-US" sz="1380" dirty="0">
                <a:solidFill>
                  <a:srgbClr val="183B4E"/>
                </a:solidFill>
                <a:latin typeface="Arial" pitchFamily="34" charset="0"/>
                <a:ea typeface="Arial" pitchFamily="34" charset="-122"/>
                <a:cs typeface="Arial" pitchFamily="34" charset="-120"/>
              </a:rPr>
              <a:t>CV metrics: Accuracy, Precision, Recall, F1, AUC</a:t>
            </a:r>
            <a:endParaRPr lang="en-US" sz="1380" dirty="0"/>
          </a:p>
        </p:txBody>
      </p:sp>
      <p:sp>
        <p:nvSpPr>
          <p:cNvPr id="22" name="Shape 20"/>
          <p:cNvSpPr/>
          <p:nvPr/>
        </p:nvSpPr>
        <p:spPr>
          <a:xfrm>
            <a:off x="6419088" y="3602736"/>
            <a:ext cx="73152" cy="73152"/>
          </a:xfrm>
          <a:prstGeom prst="ellipse">
            <a:avLst/>
          </a:prstGeom>
          <a:solidFill>
            <a:srgbClr val="2BAE9B"/>
          </a:solidFill>
          <a:ln w="12700">
            <a:solidFill>
              <a:srgbClr val="2BAE9B"/>
            </a:solidFill>
            <a:prstDash val="solid"/>
          </a:ln>
        </p:spPr>
        <p:txBody>
          <a:bodyPr/>
          <a:lstStyle/>
          <a:p>
            <a:endParaRPr lang="en-US"/>
          </a:p>
        </p:txBody>
      </p:sp>
      <p:sp>
        <p:nvSpPr>
          <p:cNvPr id="23" name="Text 21"/>
          <p:cNvSpPr/>
          <p:nvPr/>
        </p:nvSpPr>
        <p:spPr>
          <a:xfrm>
            <a:off x="6565392" y="3511296"/>
            <a:ext cx="4206240" cy="228600"/>
          </a:xfrm>
          <a:prstGeom prst="rect">
            <a:avLst/>
          </a:prstGeom>
          <a:noFill/>
          <a:ln/>
        </p:spPr>
        <p:txBody>
          <a:bodyPr wrap="square" lIns="0" tIns="0" rIns="0" bIns="0" rtlCol="0" anchor="ctr"/>
          <a:lstStyle/>
          <a:p>
            <a:pPr marL="0" indent="0">
              <a:buNone/>
            </a:pPr>
            <a:r>
              <a:rPr lang="en-US" sz="1380" dirty="0">
                <a:solidFill>
                  <a:srgbClr val="183B4E"/>
                </a:solidFill>
                <a:latin typeface="Arial" pitchFamily="34" charset="0"/>
                <a:ea typeface="Arial" pitchFamily="34" charset="-122"/>
                <a:cs typeface="Arial" pitchFamily="34" charset="-120"/>
              </a:rPr>
              <a:t>Test metrics: Accuracy, Precision, Recall, F1, AUC</a:t>
            </a:r>
            <a:endParaRPr lang="en-US" sz="1380" dirty="0"/>
          </a:p>
        </p:txBody>
      </p:sp>
      <p:sp>
        <p:nvSpPr>
          <p:cNvPr id="24" name="Shape 22"/>
          <p:cNvSpPr/>
          <p:nvPr/>
        </p:nvSpPr>
        <p:spPr>
          <a:xfrm>
            <a:off x="6419088" y="3986784"/>
            <a:ext cx="73152" cy="73152"/>
          </a:xfrm>
          <a:prstGeom prst="ellipse">
            <a:avLst/>
          </a:prstGeom>
          <a:solidFill>
            <a:srgbClr val="2BAE9B"/>
          </a:solidFill>
          <a:ln w="12700">
            <a:solidFill>
              <a:srgbClr val="2BAE9B"/>
            </a:solidFill>
            <a:prstDash val="solid"/>
          </a:ln>
        </p:spPr>
        <p:txBody>
          <a:bodyPr/>
          <a:lstStyle/>
          <a:p>
            <a:endParaRPr lang="en-US"/>
          </a:p>
        </p:txBody>
      </p:sp>
      <p:sp>
        <p:nvSpPr>
          <p:cNvPr id="25" name="Text 23"/>
          <p:cNvSpPr/>
          <p:nvPr/>
        </p:nvSpPr>
        <p:spPr>
          <a:xfrm>
            <a:off x="6565392" y="3895344"/>
            <a:ext cx="4206240" cy="228600"/>
          </a:xfrm>
          <a:prstGeom prst="rect">
            <a:avLst/>
          </a:prstGeom>
          <a:noFill/>
          <a:ln/>
        </p:spPr>
        <p:txBody>
          <a:bodyPr wrap="square" lIns="0" tIns="0" rIns="0" bIns="0" rtlCol="0" anchor="ctr"/>
          <a:lstStyle/>
          <a:p>
            <a:pPr marL="0" indent="0">
              <a:buNone/>
            </a:pPr>
            <a:r>
              <a:rPr lang="en-US" sz="1380" dirty="0">
                <a:solidFill>
                  <a:srgbClr val="183B4E"/>
                </a:solidFill>
                <a:latin typeface="Arial" pitchFamily="34" charset="0"/>
                <a:ea typeface="Arial" pitchFamily="34" charset="-122"/>
                <a:cs typeface="Arial" pitchFamily="34" charset="-120"/>
              </a:rPr>
              <a:t>Tập train: 149 mẫu • tập test: 66 mẫu</a:t>
            </a:r>
            <a:endParaRPr lang="en-US" sz="1380" dirty="0"/>
          </a:p>
        </p:txBody>
      </p:sp>
      <p:sp>
        <p:nvSpPr>
          <p:cNvPr id="26" name="Shape 24"/>
          <p:cNvSpPr/>
          <p:nvPr/>
        </p:nvSpPr>
        <p:spPr>
          <a:xfrm>
            <a:off x="6419088" y="4370832"/>
            <a:ext cx="73152" cy="73152"/>
          </a:xfrm>
          <a:prstGeom prst="ellipse">
            <a:avLst/>
          </a:prstGeom>
          <a:solidFill>
            <a:srgbClr val="2BAE9B"/>
          </a:solidFill>
          <a:ln w="12700">
            <a:solidFill>
              <a:srgbClr val="2BAE9B"/>
            </a:solidFill>
            <a:prstDash val="solid"/>
          </a:ln>
        </p:spPr>
        <p:txBody>
          <a:bodyPr/>
          <a:lstStyle/>
          <a:p>
            <a:endParaRPr lang="en-US"/>
          </a:p>
        </p:txBody>
      </p:sp>
      <p:sp>
        <p:nvSpPr>
          <p:cNvPr id="27" name="Text 25"/>
          <p:cNvSpPr/>
          <p:nvPr/>
        </p:nvSpPr>
        <p:spPr>
          <a:xfrm>
            <a:off x="6565392" y="4279392"/>
            <a:ext cx="4206240" cy="228600"/>
          </a:xfrm>
          <a:prstGeom prst="rect">
            <a:avLst/>
          </a:prstGeom>
          <a:noFill/>
          <a:ln/>
        </p:spPr>
        <p:txBody>
          <a:bodyPr wrap="square" lIns="0" tIns="0" rIns="0" bIns="0" rtlCol="0" anchor="ctr"/>
          <a:lstStyle/>
          <a:p>
            <a:pPr marL="0" indent="0">
              <a:buNone/>
            </a:pPr>
            <a:r>
              <a:rPr lang="en-US" sz="1380" dirty="0">
                <a:solidFill>
                  <a:srgbClr val="183B4E"/>
                </a:solidFill>
                <a:latin typeface="Arial" pitchFamily="34" charset="0"/>
                <a:ea typeface="Arial" pitchFamily="34" charset="-122"/>
                <a:cs typeface="Arial" pitchFamily="34" charset="-120"/>
              </a:rPr>
              <a:t>So sánh công bằng trên cùng một cách chia dữ liệu</a:t>
            </a:r>
            <a:endParaRPr lang="en-US" sz="1380" dirty="0"/>
          </a:p>
        </p:txBody>
      </p:sp>
      <p:sp>
        <p:nvSpPr>
          <p:cNvPr id="28" name="Shape 26"/>
          <p:cNvSpPr/>
          <p:nvPr/>
        </p:nvSpPr>
        <p:spPr>
          <a:xfrm>
            <a:off x="713232" y="5230368"/>
            <a:ext cx="10789920" cy="658368"/>
          </a:xfrm>
          <a:prstGeom prst="roundRect">
            <a:avLst/>
          </a:prstGeom>
          <a:solidFill>
            <a:srgbClr val="EFF6F6"/>
          </a:solidFill>
          <a:ln w="12700">
            <a:solidFill>
              <a:srgbClr val="DDECEC"/>
            </a:solidFill>
            <a:prstDash val="solid"/>
          </a:ln>
        </p:spPr>
        <p:txBody>
          <a:bodyPr/>
          <a:lstStyle/>
          <a:p>
            <a:endParaRPr lang="en-US"/>
          </a:p>
        </p:txBody>
      </p:sp>
      <p:sp>
        <p:nvSpPr>
          <p:cNvPr id="29" name="Text 27"/>
          <p:cNvSpPr/>
          <p:nvPr/>
        </p:nvSpPr>
        <p:spPr>
          <a:xfrm>
            <a:off x="868680" y="5458968"/>
            <a:ext cx="10469880" cy="228600"/>
          </a:xfrm>
          <a:prstGeom prst="rect">
            <a:avLst/>
          </a:prstGeom>
          <a:noFill/>
          <a:ln/>
        </p:spPr>
        <p:txBody>
          <a:bodyPr wrap="square" lIns="0" tIns="0" rIns="0" bIns="0" rtlCol="0" anchor="ctr"/>
          <a:lstStyle/>
          <a:p>
            <a:pPr marL="0" indent="0" algn="ctr">
              <a:buNone/>
            </a:pPr>
            <a:r>
              <a:rPr lang="en-US" sz="1400" b="1" dirty="0">
                <a:solidFill>
                  <a:srgbClr val="116466"/>
                </a:solidFill>
              </a:rPr>
              <a:t>Điểm quan trọng của phiên bản final: chuẩn hóa được đặt trong Pipeline nên scaler chỉ fit trên train hoặc trên từng fold CV → tránh data leakage.</a:t>
            </a:r>
            <a:endParaRPr lang="en-US" sz="1400" dirty="0"/>
          </a:p>
        </p:txBody>
      </p:sp>
      <p:sp>
        <p:nvSpPr>
          <p:cNvPr id="30" name="Text 28"/>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31" name="Text 29"/>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Kết quả baseline</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So sánh đồng thời 5 metric trên 10 mô hình ở tập test</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pic>
        <p:nvPicPr>
          <p:cNvPr id="6" name="Image 0" descr="/mnt/data/docx_extract/word/media/image3.png"/>
          <p:cNvPicPr>
            <a:picLocks noChangeAspect="1"/>
          </p:cNvPicPr>
          <p:nvPr/>
        </p:nvPicPr>
        <p:blipFill>
          <a:blip r:embed="rId3"/>
          <a:stretch>
            <a:fillRect/>
          </a:stretch>
        </p:blipFill>
        <p:spPr>
          <a:xfrm>
            <a:off x="548640" y="1802697"/>
            <a:ext cx="7498080" cy="1743846"/>
          </a:xfrm>
          <a:prstGeom prst="rect">
            <a:avLst/>
          </a:prstGeom>
        </p:spPr>
      </p:pic>
      <p:sp>
        <p:nvSpPr>
          <p:cNvPr id="7" name="Text 4"/>
          <p:cNvSpPr/>
          <p:nvPr/>
        </p:nvSpPr>
        <p:spPr>
          <a:xfrm>
            <a:off x="8183880" y="1188720"/>
            <a:ext cx="2743200" cy="182880"/>
          </a:xfrm>
          <a:prstGeom prst="rect">
            <a:avLst/>
          </a:prstGeom>
          <a:noFill/>
          <a:ln/>
        </p:spPr>
        <p:txBody>
          <a:bodyPr wrap="square" lIns="0" tIns="0" rIns="0" bIns="0" rtlCol="0" anchor="ctr"/>
          <a:lstStyle/>
          <a:p>
            <a:pPr marL="0" indent="0">
              <a:buNone/>
            </a:pPr>
            <a:r>
              <a:rPr lang="en-US" sz="1650" b="1" dirty="0">
                <a:solidFill>
                  <a:srgbClr val="183B4E"/>
                </a:solidFill>
              </a:rPr>
              <a:t>Bảng tóm tắt mô hình nổi bật</a:t>
            </a:r>
            <a:endParaRPr lang="en-US" sz="1650" dirty="0"/>
          </a:p>
        </p:txBody>
      </p:sp>
      <p:sp>
        <p:nvSpPr>
          <p:cNvPr id="8" name="Shape 5"/>
          <p:cNvSpPr/>
          <p:nvPr/>
        </p:nvSpPr>
        <p:spPr>
          <a:xfrm>
            <a:off x="8183880" y="1554480"/>
            <a:ext cx="731520" cy="347472"/>
          </a:xfrm>
          <a:prstGeom prst="rect">
            <a:avLst/>
          </a:prstGeom>
          <a:solidFill>
            <a:srgbClr val="0F7D79"/>
          </a:solidFill>
          <a:ln w="12700">
            <a:solidFill>
              <a:srgbClr val="C9D6D8"/>
            </a:solidFill>
            <a:prstDash val="solid"/>
          </a:ln>
        </p:spPr>
        <p:txBody>
          <a:bodyPr/>
          <a:lstStyle/>
          <a:p>
            <a:endParaRPr lang="en-US"/>
          </a:p>
        </p:txBody>
      </p:sp>
      <p:sp>
        <p:nvSpPr>
          <p:cNvPr id="9" name="Text 6"/>
          <p:cNvSpPr/>
          <p:nvPr/>
        </p:nvSpPr>
        <p:spPr>
          <a:xfrm>
            <a:off x="8220456" y="1627632"/>
            <a:ext cx="65836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Metric</a:t>
            </a:r>
            <a:endParaRPr lang="en-US" sz="1020" dirty="0"/>
          </a:p>
        </p:txBody>
      </p:sp>
      <p:sp>
        <p:nvSpPr>
          <p:cNvPr id="10" name="Shape 7"/>
          <p:cNvSpPr/>
          <p:nvPr/>
        </p:nvSpPr>
        <p:spPr>
          <a:xfrm>
            <a:off x="8915400" y="1554480"/>
            <a:ext cx="1280160" cy="347472"/>
          </a:xfrm>
          <a:prstGeom prst="rect">
            <a:avLst/>
          </a:prstGeom>
          <a:solidFill>
            <a:srgbClr val="0F7D79"/>
          </a:solidFill>
          <a:ln w="12700">
            <a:solidFill>
              <a:srgbClr val="C9D6D8"/>
            </a:solidFill>
            <a:prstDash val="solid"/>
          </a:ln>
        </p:spPr>
        <p:txBody>
          <a:bodyPr/>
          <a:lstStyle/>
          <a:p>
            <a:endParaRPr lang="en-US"/>
          </a:p>
        </p:txBody>
      </p:sp>
      <p:sp>
        <p:nvSpPr>
          <p:cNvPr id="11" name="Text 8"/>
          <p:cNvSpPr/>
          <p:nvPr/>
        </p:nvSpPr>
        <p:spPr>
          <a:xfrm>
            <a:off x="8951976" y="1627632"/>
            <a:ext cx="120700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Top 1</a:t>
            </a:r>
            <a:endParaRPr lang="en-US" sz="1020" dirty="0"/>
          </a:p>
        </p:txBody>
      </p:sp>
      <p:sp>
        <p:nvSpPr>
          <p:cNvPr id="12" name="Shape 9"/>
          <p:cNvSpPr/>
          <p:nvPr/>
        </p:nvSpPr>
        <p:spPr>
          <a:xfrm>
            <a:off x="10195560" y="1554480"/>
            <a:ext cx="1417320" cy="347472"/>
          </a:xfrm>
          <a:prstGeom prst="rect">
            <a:avLst/>
          </a:prstGeom>
          <a:solidFill>
            <a:srgbClr val="0F7D79"/>
          </a:solidFill>
          <a:ln w="12700">
            <a:solidFill>
              <a:srgbClr val="C9D6D8"/>
            </a:solidFill>
            <a:prstDash val="solid"/>
          </a:ln>
        </p:spPr>
        <p:txBody>
          <a:bodyPr/>
          <a:lstStyle/>
          <a:p>
            <a:endParaRPr lang="en-US"/>
          </a:p>
        </p:txBody>
      </p:sp>
      <p:sp>
        <p:nvSpPr>
          <p:cNvPr id="13" name="Text 10"/>
          <p:cNvSpPr/>
          <p:nvPr/>
        </p:nvSpPr>
        <p:spPr>
          <a:xfrm>
            <a:off x="10232136" y="1627632"/>
            <a:ext cx="134416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Top 2</a:t>
            </a:r>
            <a:endParaRPr lang="en-US" sz="1020" dirty="0"/>
          </a:p>
        </p:txBody>
      </p:sp>
      <p:sp>
        <p:nvSpPr>
          <p:cNvPr id="14" name="Shape 11"/>
          <p:cNvSpPr/>
          <p:nvPr/>
        </p:nvSpPr>
        <p:spPr>
          <a:xfrm>
            <a:off x="8183880" y="1901952"/>
            <a:ext cx="731520" cy="347472"/>
          </a:xfrm>
          <a:prstGeom prst="rect">
            <a:avLst/>
          </a:prstGeom>
          <a:solidFill>
            <a:srgbClr val="FFFFFF"/>
          </a:solidFill>
          <a:ln w="12700">
            <a:solidFill>
              <a:srgbClr val="C9D6D8"/>
            </a:solidFill>
            <a:prstDash val="solid"/>
          </a:ln>
        </p:spPr>
        <p:txBody>
          <a:bodyPr/>
          <a:lstStyle/>
          <a:p>
            <a:endParaRPr lang="en-US"/>
          </a:p>
        </p:txBody>
      </p:sp>
      <p:sp>
        <p:nvSpPr>
          <p:cNvPr id="15" name="Text 12"/>
          <p:cNvSpPr/>
          <p:nvPr/>
        </p:nvSpPr>
        <p:spPr>
          <a:xfrm>
            <a:off x="8229600" y="1970532"/>
            <a:ext cx="6400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Accuracy</a:t>
            </a:r>
            <a:endParaRPr lang="en-US" sz="990" dirty="0"/>
          </a:p>
        </p:txBody>
      </p:sp>
      <p:sp>
        <p:nvSpPr>
          <p:cNvPr id="16" name="Shape 13"/>
          <p:cNvSpPr/>
          <p:nvPr/>
        </p:nvSpPr>
        <p:spPr>
          <a:xfrm>
            <a:off x="8915400" y="1901952"/>
            <a:ext cx="1280160" cy="347472"/>
          </a:xfrm>
          <a:prstGeom prst="rect">
            <a:avLst/>
          </a:prstGeom>
          <a:solidFill>
            <a:srgbClr val="FFFFFF"/>
          </a:solidFill>
          <a:ln w="12700">
            <a:solidFill>
              <a:srgbClr val="C9D6D8"/>
            </a:solidFill>
            <a:prstDash val="solid"/>
          </a:ln>
        </p:spPr>
        <p:txBody>
          <a:bodyPr/>
          <a:lstStyle/>
          <a:p>
            <a:endParaRPr lang="en-US"/>
          </a:p>
        </p:txBody>
      </p:sp>
      <p:sp>
        <p:nvSpPr>
          <p:cNvPr id="17" name="Text 14"/>
          <p:cNvSpPr/>
          <p:nvPr/>
        </p:nvSpPr>
        <p:spPr>
          <a:xfrm>
            <a:off x="8961120" y="1970532"/>
            <a:ext cx="11887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NaiveBayes (0.98)</a:t>
            </a:r>
            <a:endParaRPr lang="en-US" sz="990" dirty="0"/>
          </a:p>
        </p:txBody>
      </p:sp>
      <p:sp>
        <p:nvSpPr>
          <p:cNvPr id="18" name="Shape 15"/>
          <p:cNvSpPr/>
          <p:nvPr/>
        </p:nvSpPr>
        <p:spPr>
          <a:xfrm>
            <a:off x="10195560" y="1901952"/>
            <a:ext cx="1417320" cy="347472"/>
          </a:xfrm>
          <a:prstGeom prst="rect">
            <a:avLst/>
          </a:prstGeom>
          <a:solidFill>
            <a:srgbClr val="FFFFFF"/>
          </a:solidFill>
          <a:ln w="12700">
            <a:solidFill>
              <a:srgbClr val="C9D6D8"/>
            </a:solidFill>
            <a:prstDash val="solid"/>
          </a:ln>
        </p:spPr>
        <p:txBody>
          <a:bodyPr/>
          <a:lstStyle/>
          <a:p>
            <a:endParaRPr lang="en-US"/>
          </a:p>
        </p:txBody>
      </p:sp>
      <p:sp>
        <p:nvSpPr>
          <p:cNvPr id="19" name="Text 16"/>
          <p:cNvSpPr/>
          <p:nvPr/>
        </p:nvSpPr>
        <p:spPr>
          <a:xfrm>
            <a:off x="10241280" y="1970532"/>
            <a:ext cx="13258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RandomForest (0.98)</a:t>
            </a:r>
            <a:endParaRPr lang="en-US" sz="990" dirty="0"/>
          </a:p>
        </p:txBody>
      </p:sp>
      <p:sp>
        <p:nvSpPr>
          <p:cNvPr id="20" name="Shape 17"/>
          <p:cNvSpPr/>
          <p:nvPr/>
        </p:nvSpPr>
        <p:spPr>
          <a:xfrm>
            <a:off x="8183880" y="2249424"/>
            <a:ext cx="731520" cy="347472"/>
          </a:xfrm>
          <a:prstGeom prst="rect">
            <a:avLst/>
          </a:prstGeom>
          <a:solidFill>
            <a:srgbClr val="FFFFFF"/>
          </a:solidFill>
          <a:ln w="12700">
            <a:solidFill>
              <a:srgbClr val="C9D6D8"/>
            </a:solidFill>
            <a:prstDash val="solid"/>
          </a:ln>
        </p:spPr>
        <p:txBody>
          <a:bodyPr/>
          <a:lstStyle/>
          <a:p>
            <a:endParaRPr lang="en-US"/>
          </a:p>
        </p:txBody>
      </p:sp>
      <p:sp>
        <p:nvSpPr>
          <p:cNvPr id="21" name="Text 18"/>
          <p:cNvSpPr/>
          <p:nvPr/>
        </p:nvSpPr>
        <p:spPr>
          <a:xfrm>
            <a:off x="8229600" y="2318004"/>
            <a:ext cx="6400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Precision</a:t>
            </a:r>
            <a:endParaRPr lang="en-US" sz="990" dirty="0"/>
          </a:p>
        </p:txBody>
      </p:sp>
      <p:sp>
        <p:nvSpPr>
          <p:cNvPr id="22" name="Shape 19"/>
          <p:cNvSpPr/>
          <p:nvPr/>
        </p:nvSpPr>
        <p:spPr>
          <a:xfrm>
            <a:off x="8915400" y="2249424"/>
            <a:ext cx="1280160" cy="347472"/>
          </a:xfrm>
          <a:prstGeom prst="rect">
            <a:avLst/>
          </a:prstGeom>
          <a:solidFill>
            <a:srgbClr val="FFFFFF"/>
          </a:solidFill>
          <a:ln w="12700">
            <a:solidFill>
              <a:srgbClr val="C9D6D8"/>
            </a:solidFill>
            <a:prstDash val="solid"/>
          </a:ln>
        </p:spPr>
        <p:txBody>
          <a:bodyPr/>
          <a:lstStyle/>
          <a:p>
            <a:endParaRPr lang="en-US"/>
          </a:p>
        </p:txBody>
      </p:sp>
      <p:sp>
        <p:nvSpPr>
          <p:cNvPr id="23" name="Text 20"/>
          <p:cNvSpPr/>
          <p:nvPr/>
        </p:nvSpPr>
        <p:spPr>
          <a:xfrm>
            <a:off x="8961120" y="2318004"/>
            <a:ext cx="11887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MLP (0.99)</a:t>
            </a:r>
            <a:endParaRPr lang="en-US" sz="990" dirty="0"/>
          </a:p>
        </p:txBody>
      </p:sp>
      <p:sp>
        <p:nvSpPr>
          <p:cNvPr id="24" name="Shape 21"/>
          <p:cNvSpPr/>
          <p:nvPr/>
        </p:nvSpPr>
        <p:spPr>
          <a:xfrm>
            <a:off x="10195560" y="2249424"/>
            <a:ext cx="1417320" cy="347472"/>
          </a:xfrm>
          <a:prstGeom prst="rect">
            <a:avLst/>
          </a:prstGeom>
          <a:solidFill>
            <a:srgbClr val="FFFFFF"/>
          </a:solidFill>
          <a:ln w="12700">
            <a:solidFill>
              <a:srgbClr val="C9D6D8"/>
            </a:solidFill>
            <a:prstDash val="solid"/>
          </a:ln>
        </p:spPr>
        <p:txBody>
          <a:bodyPr/>
          <a:lstStyle/>
          <a:p>
            <a:endParaRPr lang="en-US"/>
          </a:p>
        </p:txBody>
      </p:sp>
      <p:sp>
        <p:nvSpPr>
          <p:cNvPr id="25" name="Text 22"/>
          <p:cNvSpPr/>
          <p:nvPr/>
        </p:nvSpPr>
        <p:spPr>
          <a:xfrm>
            <a:off x="10241280" y="2318004"/>
            <a:ext cx="13258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NaiveBayes / RF (0.98)</a:t>
            </a:r>
            <a:endParaRPr lang="en-US" sz="990" dirty="0"/>
          </a:p>
        </p:txBody>
      </p:sp>
      <p:sp>
        <p:nvSpPr>
          <p:cNvPr id="26" name="Shape 23"/>
          <p:cNvSpPr/>
          <p:nvPr/>
        </p:nvSpPr>
        <p:spPr>
          <a:xfrm>
            <a:off x="8183880" y="2596896"/>
            <a:ext cx="731520" cy="347472"/>
          </a:xfrm>
          <a:prstGeom prst="rect">
            <a:avLst/>
          </a:prstGeom>
          <a:solidFill>
            <a:srgbClr val="FFFFFF"/>
          </a:solidFill>
          <a:ln w="12700">
            <a:solidFill>
              <a:srgbClr val="C9D6D8"/>
            </a:solidFill>
            <a:prstDash val="solid"/>
          </a:ln>
        </p:spPr>
        <p:txBody>
          <a:bodyPr/>
          <a:lstStyle/>
          <a:p>
            <a:endParaRPr lang="en-US"/>
          </a:p>
        </p:txBody>
      </p:sp>
      <p:sp>
        <p:nvSpPr>
          <p:cNvPr id="27" name="Text 24"/>
          <p:cNvSpPr/>
          <p:nvPr/>
        </p:nvSpPr>
        <p:spPr>
          <a:xfrm>
            <a:off x="8229600" y="2665476"/>
            <a:ext cx="6400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Recall</a:t>
            </a:r>
            <a:endParaRPr lang="en-US" sz="990" dirty="0"/>
          </a:p>
        </p:txBody>
      </p:sp>
      <p:sp>
        <p:nvSpPr>
          <p:cNvPr id="28" name="Shape 25"/>
          <p:cNvSpPr/>
          <p:nvPr/>
        </p:nvSpPr>
        <p:spPr>
          <a:xfrm>
            <a:off x="8915400" y="2596896"/>
            <a:ext cx="1280160" cy="347472"/>
          </a:xfrm>
          <a:prstGeom prst="rect">
            <a:avLst/>
          </a:prstGeom>
          <a:solidFill>
            <a:srgbClr val="FFFFFF"/>
          </a:solidFill>
          <a:ln w="12700">
            <a:solidFill>
              <a:srgbClr val="C9D6D8"/>
            </a:solidFill>
            <a:prstDash val="solid"/>
          </a:ln>
        </p:spPr>
        <p:txBody>
          <a:bodyPr/>
          <a:lstStyle/>
          <a:p>
            <a:endParaRPr lang="en-US"/>
          </a:p>
        </p:txBody>
      </p:sp>
      <p:sp>
        <p:nvSpPr>
          <p:cNvPr id="29" name="Text 26"/>
          <p:cNvSpPr/>
          <p:nvPr/>
        </p:nvSpPr>
        <p:spPr>
          <a:xfrm>
            <a:off x="8961120" y="2665476"/>
            <a:ext cx="11887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NaiveBayes (0.98)</a:t>
            </a:r>
            <a:endParaRPr lang="en-US" sz="990" dirty="0"/>
          </a:p>
        </p:txBody>
      </p:sp>
      <p:sp>
        <p:nvSpPr>
          <p:cNvPr id="30" name="Shape 27"/>
          <p:cNvSpPr/>
          <p:nvPr/>
        </p:nvSpPr>
        <p:spPr>
          <a:xfrm>
            <a:off x="10195560" y="2596896"/>
            <a:ext cx="1417320" cy="347472"/>
          </a:xfrm>
          <a:prstGeom prst="rect">
            <a:avLst/>
          </a:prstGeom>
          <a:solidFill>
            <a:srgbClr val="FFFFFF"/>
          </a:solidFill>
          <a:ln w="12700">
            <a:solidFill>
              <a:srgbClr val="C9D6D8"/>
            </a:solidFill>
            <a:prstDash val="solid"/>
          </a:ln>
        </p:spPr>
        <p:txBody>
          <a:bodyPr/>
          <a:lstStyle/>
          <a:p>
            <a:endParaRPr lang="en-US"/>
          </a:p>
        </p:txBody>
      </p:sp>
      <p:sp>
        <p:nvSpPr>
          <p:cNvPr id="31" name="Text 28"/>
          <p:cNvSpPr/>
          <p:nvPr/>
        </p:nvSpPr>
        <p:spPr>
          <a:xfrm>
            <a:off x="10241280" y="2665476"/>
            <a:ext cx="13258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RandomForest (0.98)</a:t>
            </a:r>
            <a:endParaRPr lang="en-US" sz="990" dirty="0"/>
          </a:p>
        </p:txBody>
      </p:sp>
      <p:sp>
        <p:nvSpPr>
          <p:cNvPr id="32" name="Shape 29"/>
          <p:cNvSpPr/>
          <p:nvPr/>
        </p:nvSpPr>
        <p:spPr>
          <a:xfrm>
            <a:off x="8183880" y="2944368"/>
            <a:ext cx="731520" cy="347472"/>
          </a:xfrm>
          <a:prstGeom prst="rect">
            <a:avLst/>
          </a:prstGeom>
          <a:solidFill>
            <a:srgbClr val="FFFFFF"/>
          </a:solidFill>
          <a:ln w="12700">
            <a:solidFill>
              <a:srgbClr val="C9D6D8"/>
            </a:solidFill>
            <a:prstDash val="solid"/>
          </a:ln>
        </p:spPr>
        <p:txBody>
          <a:bodyPr/>
          <a:lstStyle/>
          <a:p>
            <a:endParaRPr lang="en-US"/>
          </a:p>
        </p:txBody>
      </p:sp>
      <p:sp>
        <p:nvSpPr>
          <p:cNvPr id="33" name="Text 30"/>
          <p:cNvSpPr/>
          <p:nvPr/>
        </p:nvSpPr>
        <p:spPr>
          <a:xfrm>
            <a:off x="8229600" y="3012948"/>
            <a:ext cx="6400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F1-score</a:t>
            </a:r>
            <a:endParaRPr lang="en-US" sz="990" dirty="0"/>
          </a:p>
        </p:txBody>
      </p:sp>
      <p:sp>
        <p:nvSpPr>
          <p:cNvPr id="34" name="Shape 31"/>
          <p:cNvSpPr/>
          <p:nvPr/>
        </p:nvSpPr>
        <p:spPr>
          <a:xfrm>
            <a:off x="8915400" y="2944368"/>
            <a:ext cx="1280160" cy="347472"/>
          </a:xfrm>
          <a:prstGeom prst="rect">
            <a:avLst/>
          </a:prstGeom>
          <a:solidFill>
            <a:srgbClr val="FFFFFF"/>
          </a:solidFill>
          <a:ln w="12700">
            <a:solidFill>
              <a:srgbClr val="C9D6D8"/>
            </a:solidFill>
            <a:prstDash val="solid"/>
          </a:ln>
        </p:spPr>
        <p:txBody>
          <a:bodyPr/>
          <a:lstStyle/>
          <a:p>
            <a:endParaRPr lang="en-US"/>
          </a:p>
        </p:txBody>
      </p:sp>
      <p:sp>
        <p:nvSpPr>
          <p:cNvPr id="35" name="Text 32"/>
          <p:cNvSpPr/>
          <p:nvPr/>
        </p:nvSpPr>
        <p:spPr>
          <a:xfrm>
            <a:off x="8961120" y="3012948"/>
            <a:ext cx="11887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NaiveBayes (0.98)</a:t>
            </a:r>
            <a:endParaRPr lang="en-US" sz="990" dirty="0"/>
          </a:p>
        </p:txBody>
      </p:sp>
      <p:sp>
        <p:nvSpPr>
          <p:cNvPr id="36" name="Shape 33"/>
          <p:cNvSpPr/>
          <p:nvPr/>
        </p:nvSpPr>
        <p:spPr>
          <a:xfrm>
            <a:off x="10195560" y="2944368"/>
            <a:ext cx="1417320" cy="347472"/>
          </a:xfrm>
          <a:prstGeom prst="rect">
            <a:avLst/>
          </a:prstGeom>
          <a:solidFill>
            <a:srgbClr val="FFFFFF"/>
          </a:solidFill>
          <a:ln w="12700">
            <a:solidFill>
              <a:srgbClr val="C9D6D8"/>
            </a:solidFill>
            <a:prstDash val="solid"/>
          </a:ln>
        </p:spPr>
        <p:txBody>
          <a:bodyPr/>
          <a:lstStyle/>
          <a:p>
            <a:endParaRPr lang="en-US"/>
          </a:p>
        </p:txBody>
      </p:sp>
      <p:sp>
        <p:nvSpPr>
          <p:cNvPr id="37" name="Text 34"/>
          <p:cNvSpPr/>
          <p:nvPr/>
        </p:nvSpPr>
        <p:spPr>
          <a:xfrm>
            <a:off x="10241280" y="3012948"/>
            <a:ext cx="13258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RandomForest (0.98)</a:t>
            </a:r>
            <a:endParaRPr lang="en-US" sz="990" dirty="0"/>
          </a:p>
        </p:txBody>
      </p:sp>
      <p:sp>
        <p:nvSpPr>
          <p:cNvPr id="38" name="Shape 35"/>
          <p:cNvSpPr/>
          <p:nvPr/>
        </p:nvSpPr>
        <p:spPr>
          <a:xfrm>
            <a:off x="8183880" y="3291840"/>
            <a:ext cx="731520" cy="347472"/>
          </a:xfrm>
          <a:prstGeom prst="rect">
            <a:avLst/>
          </a:prstGeom>
          <a:solidFill>
            <a:srgbClr val="FFFFFF"/>
          </a:solidFill>
          <a:ln w="12700">
            <a:solidFill>
              <a:srgbClr val="C9D6D8"/>
            </a:solidFill>
            <a:prstDash val="solid"/>
          </a:ln>
        </p:spPr>
        <p:txBody>
          <a:bodyPr/>
          <a:lstStyle/>
          <a:p>
            <a:endParaRPr lang="en-US"/>
          </a:p>
        </p:txBody>
      </p:sp>
      <p:sp>
        <p:nvSpPr>
          <p:cNvPr id="39" name="Text 36"/>
          <p:cNvSpPr/>
          <p:nvPr/>
        </p:nvSpPr>
        <p:spPr>
          <a:xfrm>
            <a:off x="8229600" y="3360420"/>
            <a:ext cx="6400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AUC</a:t>
            </a:r>
            <a:endParaRPr lang="en-US" sz="990" dirty="0"/>
          </a:p>
        </p:txBody>
      </p:sp>
      <p:sp>
        <p:nvSpPr>
          <p:cNvPr id="40" name="Shape 37"/>
          <p:cNvSpPr/>
          <p:nvPr/>
        </p:nvSpPr>
        <p:spPr>
          <a:xfrm>
            <a:off x="8915400" y="3291840"/>
            <a:ext cx="1280160" cy="347472"/>
          </a:xfrm>
          <a:prstGeom prst="rect">
            <a:avLst/>
          </a:prstGeom>
          <a:solidFill>
            <a:srgbClr val="FFFFFF"/>
          </a:solidFill>
          <a:ln w="12700">
            <a:solidFill>
              <a:srgbClr val="C9D6D8"/>
            </a:solidFill>
            <a:prstDash val="solid"/>
          </a:ln>
        </p:spPr>
        <p:txBody>
          <a:bodyPr/>
          <a:lstStyle/>
          <a:p>
            <a:endParaRPr lang="en-US"/>
          </a:p>
        </p:txBody>
      </p:sp>
      <p:sp>
        <p:nvSpPr>
          <p:cNvPr id="41" name="Text 38"/>
          <p:cNvSpPr/>
          <p:nvPr/>
        </p:nvSpPr>
        <p:spPr>
          <a:xfrm>
            <a:off x="8961120" y="3360420"/>
            <a:ext cx="11887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Nhiều mô hình = 1.00</a:t>
            </a:r>
            <a:endParaRPr lang="en-US" sz="990" dirty="0"/>
          </a:p>
        </p:txBody>
      </p:sp>
      <p:sp>
        <p:nvSpPr>
          <p:cNvPr id="42" name="Shape 39"/>
          <p:cNvSpPr/>
          <p:nvPr/>
        </p:nvSpPr>
        <p:spPr>
          <a:xfrm>
            <a:off x="10195560" y="3291840"/>
            <a:ext cx="1417320" cy="347472"/>
          </a:xfrm>
          <a:prstGeom prst="rect">
            <a:avLst/>
          </a:prstGeom>
          <a:solidFill>
            <a:srgbClr val="FFFFFF"/>
          </a:solidFill>
          <a:ln w="12700">
            <a:solidFill>
              <a:srgbClr val="C9D6D8"/>
            </a:solidFill>
            <a:prstDash val="solid"/>
          </a:ln>
        </p:spPr>
        <p:txBody>
          <a:bodyPr/>
          <a:lstStyle/>
          <a:p>
            <a:endParaRPr lang="en-US"/>
          </a:p>
        </p:txBody>
      </p:sp>
      <p:sp>
        <p:nvSpPr>
          <p:cNvPr id="43" name="Text 40"/>
          <p:cNvSpPr/>
          <p:nvPr/>
        </p:nvSpPr>
        <p:spPr>
          <a:xfrm>
            <a:off x="10241280" y="3360420"/>
            <a:ext cx="13258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DecisionTree = 0.93</a:t>
            </a:r>
            <a:endParaRPr lang="en-US" sz="990" dirty="0"/>
          </a:p>
        </p:txBody>
      </p:sp>
      <p:sp>
        <p:nvSpPr>
          <p:cNvPr id="44" name="Shape 41"/>
          <p:cNvSpPr/>
          <p:nvPr/>
        </p:nvSpPr>
        <p:spPr>
          <a:xfrm>
            <a:off x="731520" y="4617720"/>
            <a:ext cx="10881360" cy="822960"/>
          </a:xfrm>
          <a:prstGeom prst="roundRect">
            <a:avLst/>
          </a:prstGeom>
          <a:solidFill>
            <a:srgbClr val="F4F7F7"/>
          </a:solidFill>
          <a:ln w="12700">
            <a:solidFill>
              <a:srgbClr val="D6E1E2"/>
            </a:solidFill>
            <a:prstDash val="solid"/>
          </a:ln>
        </p:spPr>
        <p:txBody>
          <a:bodyPr/>
          <a:lstStyle/>
          <a:p>
            <a:endParaRPr lang="en-US"/>
          </a:p>
        </p:txBody>
      </p:sp>
      <p:sp>
        <p:nvSpPr>
          <p:cNvPr id="45" name="Text 42"/>
          <p:cNvSpPr/>
          <p:nvPr/>
        </p:nvSpPr>
        <p:spPr>
          <a:xfrm>
            <a:off x="914400" y="4892040"/>
            <a:ext cx="10515600" cy="292608"/>
          </a:xfrm>
          <a:prstGeom prst="rect">
            <a:avLst/>
          </a:prstGeom>
          <a:noFill/>
          <a:ln/>
        </p:spPr>
        <p:txBody>
          <a:bodyPr wrap="square" lIns="0" tIns="0" rIns="0" bIns="0" rtlCol="0" anchor="ctr"/>
          <a:lstStyle/>
          <a:p>
            <a:pPr marL="0" indent="0" algn="ctr">
              <a:buNone/>
            </a:pPr>
            <a:r>
              <a:rPr lang="en-US" sz="1400" b="1" dirty="0">
                <a:solidFill>
                  <a:srgbClr val="116466"/>
                </a:solidFill>
              </a:rPr>
              <a:t>Điểm nổi bật: dataset new-thyroid khá “dễ tách lớp”, nên nhiều mô hình đạt AUC = 1.00. Tuy vậy, weighted F1 vẫn hữu ích hơn accuracy khi so sánh chất lượng dự đoán nhãn thực tế.</a:t>
            </a:r>
            <a:endParaRPr lang="en-US" sz="1400" dirty="0"/>
          </a:p>
        </p:txBody>
      </p:sp>
      <p:sp>
        <p:nvSpPr>
          <p:cNvPr id="46" name="Text 43"/>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47" name="Text 44"/>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Các mô hình nổi bật theo từng metric</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Không chỉ nhìn metric cuối cùng; cần kiểm tra cả độ ổn định và chi phí huấn luyện</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sp>
        <p:nvSpPr>
          <p:cNvPr id="6" name="Shape 4"/>
          <p:cNvSpPr/>
          <p:nvPr/>
        </p:nvSpPr>
        <p:spPr>
          <a:xfrm>
            <a:off x="640080" y="1234440"/>
            <a:ext cx="1417320" cy="347472"/>
          </a:xfrm>
          <a:prstGeom prst="rect">
            <a:avLst/>
          </a:prstGeom>
          <a:solidFill>
            <a:srgbClr val="0F7D79"/>
          </a:solidFill>
          <a:ln w="12700">
            <a:solidFill>
              <a:srgbClr val="C9D6D8"/>
            </a:solidFill>
            <a:prstDash val="solid"/>
          </a:ln>
        </p:spPr>
        <p:txBody>
          <a:bodyPr/>
          <a:lstStyle/>
          <a:p>
            <a:endParaRPr lang="en-US"/>
          </a:p>
        </p:txBody>
      </p:sp>
      <p:sp>
        <p:nvSpPr>
          <p:cNvPr id="7" name="Text 5"/>
          <p:cNvSpPr/>
          <p:nvPr/>
        </p:nvSpPr>
        <p:spPr>
          <a:xfrm>
            <a:off x="676656" y="1307592"/>
            <a:ext cx="134416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Mô hình</a:t>
            </a:r>
            <a:endParaRPr lang="en-US" sz="1020" dirty="0"/>
          </a:p>
        </p:txBody>
      </p:sp>
      <p:sp>
        <p:nvSpPr>
          <p:cNvPr id="8" name="Shape 6"/>
          <p:cNvSpPr/>
          <p:nvPr/>
        </p:nvSpPr>
        <p:spPr>
          <a:xfrm>
            <a:off x="2057400" y="1234440"/>
            <a:ext cx="777240" cy="347472"/>
          </a:xfrm>
          <a:prstGeom prst="rect">
            <a:avLst/>
          </a:prstGeom>
          <a:solidFill>
            <a:srgbClr val="0F7D79"/>
          </a:solidFill>
          <a:ln w="12700">
            <a:solidFill>
              <a:srgbClr val="C9D6D8"/>
            </a:solidFill>
            <a:prstDash val="solid"/>
          </a:ln>
        </p:spPr>
        <p:txBody>
          <a:bodyPr/>
          <a:lstStyle/>
          <a:p>
            <a:endParaRPr lang="en-US"/>
          </a:p>
        </p:txBody>
      </p:sp>
      <p:sp>
        <p:nvSpPr>
          <p:cNvPr id="9" name="Text 7"/>
          <p:cNvSpPr/>
          <p:nvPr/>
        </p:nvSpPr>
        <p:spPr>
          <a:xfrm>
            <a:off x="2093976" y="1307592"/>
            <a:ext cx="70408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CV F1</a:t>
            </a:r>
            <a:endParaRPr lang="en-US" sz="1020" dirty="0"/>
          </a:p>
        </p:txBody>
      </p:sp>
      <p:sp>
        <p:nvSpPr>
          <p:cNvPr id="10" name="Shape 8"/>
          <p:cNvSpPr/>
          <p:nvPr/>
        </p:nvSpPr>
        <p:spPr>
          <a:xfrm>
            <a:off x="2834640" y="1234440"/>
            <a:ext cx="868680" cy="347472"/>
          </a:xfrm>
          <a:prstGeom prst="rect">
            <a:avLst/>
          </a:prstGeom>
          <a:solidFill>
            <a:srgbClr val="0F7D79"/>
          </a:solidFill>
          <a:ln w="12700">
            <a:solidFill>
              <a:srgbClr val="C9D6D8"/>
            </a:solidFill>
            <a:prstDash val="solid"/>
          </a:ln>
        </p:spPr>
        <p:txBody>
          <a:bodyPr/>
          <a:lstStyle/>
          <a:p>
            <a:endParaRPr lang="en-US"/>
          </a:p>
        </p:txBody>
      </p:sp>
      <p:sp>
        <p:nvSpPr>
          <p:cNvPr id="11" name="Text 9"/>
          <p:cNvSpPr/>
          <p:nvPr/>
        </p:nvSpPr>
        <p:spPr>
          <a:xfrm>
            <a:off x="2871216" y="1307592"/>
            <a:ext cx="79552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Test F1</a:t>
            </a:r>
            <a:endParaRPr lang="en-US" sz="1020" dirty="0"/>
          </a:p>
        </p:txBody>
      </p:sp>
      <p:sp>
        <p:nvSpPr>
          <p:cNvPr id="12" name="Shape 10"/>
          <p:cNvSpPr/>
          <p:nvPr/>
        </p:nvSpPr>
        <p:spPr>
          <a:xfrm>
            <a:off x="3703320" y="1234440"/>
            <a:ext cx="594360" cy="347472"/>
          </a:xfrm>
          <a:prstGeom prst="rect">
            <a:avLst/>
          </a:prstGeom>
          <a:solidFill>
            <a:srgbClr val="0F7D79"/>
          </a:solidFill>
          <a:ln w="12700">
            <a:solidFill>
              <a:srgbClr val="C9D6D8"/>
            </a:solidFill>
            <a:prstDash val="solid"/>
          </a:ln>
        </p:spPr>
        <p:txBody>
          <a:bodyPr/>
          <a:lstStyle/>
          <a:p>
            <a:endParaRPr lang="en-US"/>
          </a:p>
        </p:txBody>
      </p:sp>
      <p:sp>
        <p:nvSpPr>
          <p:cNvPr id="13" name="Text 11"/>
          <p:cNvSpPr/>
          <p:nvPr/>
        </p:nvSpPr>
        <p:spPr>
          <a:xfrm>
            <a:off x="3739896" y="1307592"/>
            <a:ext cx="52120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AUC</a:t>
            </a:r>
            <a:endParaRPr lang="en-US" sz="1020" dirty="0"/>
          </a:p>
        </p:txBody>
      </p:sp>
      <p:sp>
        <p:nvSpPr>
          <p:cNvPr id="14" name="Shape 12"/>
          <p:cNvSpPr/>
          <p:nvPr/>
        </p:nvSpPr>
        <p:spPr>
          <a:xfrm>
            <a:off x="4297680" y="1234440"/>
            <a:ext cx="2788920" cy="347472"/>
          </a:xfrm>
          <a:prstGeom prst="rect">
            <a:avLst/>
          </a:prstGeom>
          <a:solidFill>
            <a:srgbClr val="0F7D79"/>
          </a:solidFill>
          <a:ln w="12700">
            <a:solidFill>
              <a:srgbClr val="C9D6D8"/>
            </a:solidFill>
            <a:prstDash val="solid"/>
          </a:ln>
        </p:spPr>
        <p:txBody>
          <a:bodyPr/>
          <a:lstStyle/>
          <a:p>
            <a:endParaRPr lang="en-US"/>
          </a:p>
        </p:txBody>
      </p:sp>
      <p:sp>
        <p:nvSpPr>
          <p:cNvPr id="15" name="Text 13"/>
          <p:cNvSpPr/>
          <p:nvPr/>
        </p:nvSpPr>
        <p:spPr>
          <a:xfrm>
            <a:off x="4334256" y="1307592"/>
            <a:ext cx="271576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Ghi chú</a:t>
            </a:r>
            <a:endParaRPr lang="en-US" sz="1020" dirty="0"/>
          </a:p>
        </p:txBody>
      </p:sp>
      <p:sp>
        <p:nvSpPr>
          <p:cNvPr id="16" name="Shape 14"/>
          <p:cNvSpPr/>
          <p:nvPr/>
        </p:nvSpPr>
        <p:spPr>
          <a:xfrm>
            <a:off x="640080" y="1581912"/>
            <a:ext cx="1417320" cy="347472"/>
          </a:xfrm>
          <a:prstGeom prst="rect">
            <a:avLst/>
          </a:prstGeom>
          <a:solidFill>
            <a:srgbClr val="FFFFFF"/>
          </a:solidFill>
          <a:ln w="12700">
            <a:solidFill>
              <a:srgbClr val="C9D6D8"/>
            </a:solidFill>
            <a:prstDash val="solid"/>
          </a:ln>
        </p:spPr>
        <p:txBody>
          <a:bodyPr/>
          <a:lstStyle/>
          <a:p>
            <a:endParaRPr lang="en-US"/>
          </a:p>
        </p:txBody>
      </p:sp>
      <p:sp>
        <p:nvSpPr>
          <p:cNvPr id="17" name="Text 15"/>
          <p:cNvSpPr/>
          <p:nvPr/>
        </p:nvSpPr>
        <p:spPr>
          <a:xfrm>
            <a:off x="685800" y="1650492"/>
            <a:ext cx="13258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NaiveBayes</a:t>
            </a:r>
            <a:endParaRPr lang="en-US" sz="990" dirty="0"/>
          </a:p>
        </p:txBody>
      </p:sp>
      <p:sp>
        <p:nvSpPr>
          <p:cNvPr id="18" name="Shape 16"/>
          <p:cNvSpPr/>
          <p:nvPr/>
        </p:nvSpPr>
        <p:spPr>
          <a:xfrm>
            <a:off x="2057400" y="1581912"/>
            <a:ext cx="777240" cy="347472"/>
          </a:xfrm>
          <a:prstGeom prst="rect">
            <a:avLst/>
          </a:prstGeom>
          <a:solidFill>
            <a:srgbClr val="FFFFFF"/>
          </a:solidFill>
          <a:ln w="12700">
            <a:solidFill>
              <a:srgbClr val="C9D6D8"/>
            </a:solidFill>
            <a:prstDash val="solid"/>
          </a:ln>
        </p:spPr>
        <p:txBody>
          <a:bodyPr/>
          <a:lstStyle/>
          <a:p>
            <a:endParaRPr lang="en-US"/>
          </a:p>
        </p:txBody>
      </p:sp>
      <p:sp>
        <p:nvSpPr>
          <p:cNvPr id="19" name="Text 17"/>
          <p:cNvSpPr/>
          <p:nvPr/>
        </p:nvSpPr>
        <p:spPr>
          <a:xfrm>
            <a:off x="2103120" y="1650492"/>
            <a:ext cx="68580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0.95</a:t>
            </a:r>
            <a:endParaRPr lang="en-US" sz="990" dirty="0"/>
          </a:p>
        </p:txBody>
      </p:sp>
      <p:sp>
        <p:nvSpPr>
          <p:cNvPr id="20" name="Shape 18"/>
          <p:cNvSpPr/>
          <p:nvPr/>
        </p:nvSpPr>
        <p:spPr>
          <a:xfrm>
            <a:off x="2834640" y="1581912"/>
            <a:ext cx="868680" cy="347472"/>
          </a:xfrm>
          <a:prstGeom prst="rect">
            <a:avLst/>
          </a:prstGeom>
          <a:solidFill>
            <a:srgbClr val="FFFFFF"/>
          </a:solidFill>
          <a:ln w="12700">
            <a:solidFill>
              <a:srgbClr val="C9D6D8"/>
            </a:solidFill>
            <a:prstDash val="solid"/>
          </a:ln>
        </p:spPr>
        <p:txBody>
          <a:bodyPr/>
          <a:lstStyle/>
          <a:p>
            <a:endParaRPr lang="en-US"/>
          </a:p>
        </p:txBody>
      </p:sp>
      <p:sp>
        <p:nvSpPr>
          <p:cNvPr id="21" name="Text 19"/>
          <p:cNvSpPr/>
          <p:nvPr/>
        </p:nvSpPr>
        <p:spPr>
          <a:xfrm>
            <a:off x="2880360" y="1650492"/>
            <a:ext cx="7772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0.98</a:t>
            </a:r>
            <a:endParaRPr lang="en-US" sz="990" dirty="0"/>
          </a:p>
        </p:txBody>
      </p:sp>
      <p:sp>
        <p:nvSpPr>
          <p:cNvPr id="22" name="Shape 20"/>
          <p:cNvSpPr/>
          <p:nvPr/>
        </p:nvSpPr>
        <p:spPr>
          <a:xfrm>
            <a:off x="3703320" y="1581912"/>
            <a:ext cx="594360" cy="347472"/>
          </a:xfrm>
          <a:prstGeom prst="rect">
            <a:avLst/>
          </a:prstGeom>
          <a:solidFill>
            <a:srgbClr val="FFFFFF"/>
          </a:solidFill>
          <a:ln w="12700">
            <a:solidFill>
              <a:srgbClr val="C9D6D8"/>
            </a:solidFill>
            <a:prstDash val="solid"/>
          </a:ln>
        </p:spPr>
        <p:txBody>
          <a:bodyPr/>
          <a:lstStyle/>
          <a:p>
            <a:endParaRPr lang="en-US"/>
          </a:p>
        </p:txBody>
      </p:sp>
      <p:sp>
        <p:nvSpPr>
          <p:cNvPr id="23" name="Text 21"/>
          <p:cNvSpPr/>
          <p:nvPr/>
        </p:nvSpPr>
        <p:spPr>
          <a:xfrm>
            <a:off x="3749040" y="1650492"/>
            <a:ext cx="5029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24" name="Shape 22"/>
          <p:cNvSpPr/>
          <p:nvPr/>
        </p:nvSpPr>
        <p:spPr>
          <a:xfrm>
            <a:off x="4297680" y="1581912"/>
            <a:ext cx="2788920" cy="347472"/>
          </a:xfrm>
          <a:prstGeom prst="rect">
            <a:avLst/>
          </a:prstGeom>
          <a:solidFill>
            <a:srgbClr val="FFFFFF"/>
          </a:solidFill>
          <a:ln w="12700">
            <a:solidFill>
              <a:srgbClr val="C9D6D8"/>
            </a:solidFill>
            <a:prstDash val="solid"/>
          </a:ln>
        </p:spPr>
        <p:txBody>
          <a:bodyPr/>
          <a:lstStyle/>
          <a:p>
            <a:endParaRPr lang="en-US"/>
          </a:p>
        </p:txBody>
      </p:sp>
      <p:sp>
        <p:nvSpPr>
          <p:cNvPr id="25" name="Text 23"/>
          <p:cNvSpPr/>
          <p:nvPr/>
        </p:nvSpPr>
        <p:spPr>
          <a:xfrm>
            <a:off x="4343400" y="1650492"/>
            <a:ext cx="26974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Mạnh nhất cả CV và test</a:t>
            </a:r>
            <a:endParaRPr lang="en-US" sz="990" dirty="0"/>
          </a:p>
        </p:txBody>
      </p:sp>
      <p:sp>
        <p:nvSpPr>
          <p:cNvPr id="26" name="Shape 24"/>
          <p:cNvSpPr/>
          <p:nvPr/>
        </p:nvSpPr>
        <p:spPr>
          <a:xfrm>
            <a:off x="640080" y="1929384"/>
            <a:ext cx="1417320" cy="347472"/>
          </a:xfrm>
          <a:prstGeom prst="rect">
            <a:avLst/>
          </a:prstGeom>
          <a:solidFill>
            <a:srgbClr val="FFFFFF"/>
          </a:solidFill>
          <a:ln w="12700">
            <a:solidFill>
              <a:srgbClr val="C9D6D8"/>
            </a:solidFill>
            <a:prstDash val="solid"/>
          </a:ln>
        </p:spPr>
        <p:txBody>
          <a:bodyPr/>
          <a:lstStyle/>
          <a:p>
            <a:endParaRPr lang="en-US"/>
          </a:p>
        </p:txBody>
      </p:sp>
      <p:sp>
        <p:nvSpPr>
          <p:cNvPr id="27" name="Text 25"/>
          <p:cNvSpPr/>
          <p:nvPr/>
        </p:nvSpPr>
        <p:spPr>
          <a:xfrm>
            <a:off x="685800" y="1997964"/>
            <a:ext cx="13258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RandomForest</a:t>
            </a:r>
            <a:endParaRPr lang="en-US" sz="990" dirty="0"/>
          </a:p>
        </p:txBody>
      </p:sp>
      <p:sp>
        <p:nvSpPr>
          <p:cNvPr id="28" name="Shape 26"/>
          <p:cNvSpPr/>
          <p:nvPr/>
        </p:nvSpPr>
        <p:spPr>
          <a:xfrm>
            <a:off x="2057400" y="1929384"/>
            <a:ext cx="777240" cy="347472"/>
          </a:xfrm>
          <a:prstGeom prst="rect">
            <a:avLst/>
          </a:prstGeom>
          <a:solidFill>
            <a:srgbClr val="FFFFFF"/>
          </a:solidFill>
          <a:ln w="12700">
            <a:solidFill>
              <a:srgbClr val="C9D6D8"/>
            </a:solidFill>
            <a:prstDash val="solid"/>
          </a:ln>
        </p:spPr>
        <p:txBody>
          <a:bodyPr/>
          <a:lstStyle/>
          <a:p>
            <a:endParaRPr lang="en-US"/>
          </a:p>
        </p:txBody>
      </p:sp>
      <p:sp>
        <p:nvSpPr>
          <p:cNvPr id="29" name="Text 27"/>
          <p:cNvSpPr/>
          <p:nvPr/>
        </p:nvSpPr>
        <p:spPr>
          <a:xfrm>
            <a:off x="2103120" y="1997964"/>
            <a:ext cx="68580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0.94</a:t>
            </a:r>
            <a:endParaRPr lang="en-US" sz="990" dirty="0"/>
          </a:p>
        </p:txBody>
      </p:sp>
      <p:sp>
        <p:nvSpPr>
          <p:cNvPr id="30" name="Shape 28"/>
          <p:cNvSpPr/>
          <p:nvPr/>
        </p:nvSpPr>
        <p:spPr>
          <a:xfrm>
            <a:off x="2834640" y="1929384"/>
            <a:ext cx="868680" cy="347472"/>
          </a:xfrm>
          <a:prstGeom prst="rect">
            <a:avLst/>
          </a:prstGeom>
          <a:solidFill>
            <a:srgbClr val="FFFFFF"/>
          </a:solidFill>
          <a:ln w="12700">
            <a:solidFill>
              <a:srgbClr val="C9D6D8"/>
            </a:solidFill>
            <a:prstDash val="solid"/>
          </a:ln>
        </p:spPr>
        <p:txBody>
          <a:bodyPr/>
          <a:lstStyle/>
          <a:p>
            <a:endParaRPr lang="en-US"/>
          </a:p>
        </p:txBody>
      </p:sp>
      <p:sp>
        <p:nvSpPr>
          <p:cNvPr id="31" name="Text 29"/>
          <p:cNvSpPr/>
          <p:nvPr/>
        </p:nvSpPr>
        <p:spPr>
          <a:xfrm>
            <a:off x="2880360" y="1997964"/>
            <a:ext cx="7772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0.98</a:t>
            </a:r>
            <a:endParaRPr lang="en-US" sz="990" dirty="0"/>
          </a:p>
        </p:txBody>
      </p:sp>
      <p:sp>
        <p:nvSpPr>
          <p:cNvPr id="32" name="Shape 30"/>
          <p:cNvSpPr/>
          <p:nvPr/>
        </p:nvSpPr>
        <p:spPr>
          <a:xfrm>
            <a:off x="3703320" y="1929384"/>
            <a:ext cx="594360" cy="347472"/>
          </a:xfrm>
          <a:prstGeom prst="rect">
            <a:avLst/>
          </a:prstGeom>
          <a:solidFill>
            <a:srgbClr val="FFFFFF"/>
          </a:solidFill>
          <a:ln w="12700">
            <a:solidFill>
              <a:srgbClr val="C9D6D8"/>
            </a:solidFill>
            <a:prstDash val="solid"/>
          </a:ln>
        </p:spPr>
        <p:txBody>
          <a:bodyPr/>
          <a:lstStyle/>
          <a:p>
            <a:endParaRPr lang="en-US"/>
          </a:p>
        </p:txBody>
      </p:sp>
      <p:sp>
        <p:nvSpPr>
          <p:cNvPr id="33" name="Text 31"/>
          <p:cNvSpPr/>
          <p:nvPr/>
        </p:nvSpPr>
        <p:spPr>
          <a:xfrm>
            <a:off x="3749040" y="1997964"/>
            <a:ext cx="5029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34" name="Shape 32"/>
          <p:cNvSpPr/>
          <p:nvPr/>
        </p:nvSpPr>
        <p:spPr>
          <a:xfrm>
            <a:off x="4297680" y="1929384"/>
            <a:ext cx="2788920" cy="347472"/>
          </a:xfrm>
          <a:prstGeom prst="rect">
            <a:avLst/>
          </a:prstGeom>
          <a:solidFill>
            <a:srgbClr val="FFFFFF"/>
          </a:solidFill>
          <a:ln w="12700">
            <a:solidFill>
              <a:srgbClr val="C9D6D8"/>
            </a:solidFill>
            <a:prstDash val="solid"/>
          </a:ln>
        </p:spPr>
        <p:txBody>
          <a:bodyPr/>
          <a:lstStyle/>
          <a:p>
            <a:endParaRPr lang="en-US"/>
          </a:p>
        </p:txBody>
      </p:sp>
      <p:sp>
        <p:nvSpPr>
          <p:cNvPr id="35" name="Text 33"/>
          <p:cNvSpPr/>
          <p:nvPr/>
        </p:nvSpPr>
        <p:spPr>
          <a:xfrm>
            <a:off x="4343400" y="1997964"/>
            <a:ext cx="26974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Ổn định, phù hợp để tuning</a:t>
            </a:r>
            <a:endParaRPr lang="en-US" sz="990" dirty="0"/>
          </a:p>
        </p:txBody>
      </p:sp>
      <p:sp>
        <p:nvSpPr>
          <p:cNvPr id="36" name="Shape 34"/>
          <p:cNvSpPr/>
          <p:nvPr/>
        </p:nvSpPr>
        <p:spPr>
          <a:xfrm>
            <a:off x="640080" y="2276856"/>
            <a:ext cx="1417320" cy="347472"/>
          </a:xfrm>
          <a:prstGeom prst="rect">
            <a:avLst/>
          </a:prstGeom>
          <a:solidFill>
            <a:srgbClr val="FFFFFF"/>
          </a:solidFill>
          <a:ln w="12700">
            <a:solidFill>
              <a:srgbClr val="C9D6D8"/>
            </a:solidFill>
            <a:prstDash val="solid"/>
          </a:ln>
        </p:spPr>
        <p:txBody>
          <a:bodyPr/>
          <a:lstStyle/>
          <a:p>
            <a:endParaRPr lang="en-US"/>
          </a:p>
        </p:txBody>
      </p:sp>
      <p:sp>
        <p:nvSpPr>
          <p:cNvPr id="37" name="Text 35"/>
          <p:cNvSpPr/>
          <p:nvPr/>
        </p:nvSpPr>
        <p:spPr>
          <a:xfrm>
            <a:off x="685800" y="2345436"/>
            <a:ext cx="13258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GradientBoosting</a:t>
            </a:r>
            <a:endParaRPr lang="en-US" sz="990" dirty="0"/>
          </a:p>
        </p:txBody>
      </p:sp>
      <p:sp>
        <p:nvSpPr>
          <p:cNvPr id="38" name="Shape 36"/>
          <p:cNvSpPr/>
          <p:nvPr/>
        </p:nvSpPr>
        <p:spPr>
          <a:xfrm>
            <a:off x="2057400" y="2276856"/>
            <a:ext cx="777240" cy="347472"/>
          </a:xfrm>
          <a:prstGeom prst="rect">
            <a:avLst/>
          </a:prstGeom>
          <a:solidFill>
            <a:srgbClr val="FFFFFF"/>
          </a:solidFill>
          <a:ln w="12700">
            <a:solidFill>
              <a:srgbClr val="C9D6D8"/>
            </a:solidFill>
            <a:prstDash val="solid"/>
          </a:ln>
        </p:spPr>
        <p:txBody>
          <a:bodyPr/>
          <a:lstStyle/>
          <a:p>
            <a:endParaRPr lang="en-US"/>
          </a:p>
        </p:txBody>
      </p:sp>
      <p:sp>
        <p:nvSpPr>
          <p:cNvPr id="39" name="Text 37"/>
          <p:cNvSpPr/>
          <p:nvPr/>
        </p:nvSpPr>
        <p:spPr>
          <a:xfrm>
            <a:off x="2103120" y="2345436"/>
            <a:ext cx="68580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0.94</a:t>
            </a:r>
            <a:endParaRPr lang="en-US" sz="990" dirty="0"/>
          </a:p>
        </p:txBody>
      </p:sp>
      <p:sp>
        <p:nvSpPr>
          <p:cNvPr id="40" name="Shape 38"/>
          <p:cNvSpPr/>
          <p:nvPr/>
        </p:nvSpPr>
        <p:spPr>
          <a:xfrm>
            <a:off x="2834640" y="2276856"/>
            <a:ext cx="868680" cy="347472"/>
          </a:xfrm>
          <a:prstGeom prst="rect">
            <a:avLst/>
          </a:prstGeom>
          <a:solidFill>
            <a:srgbClr val="FFFFFF"/>
          </a:solidFill>
          <a:ln w="12700">
            <a:solidFill>
              <a:srgbClr val="C9D6D8"/>
            </a:solidFill>
            <a:prstDash val="solid"/>
          </a:ln>
        </p:spPr>
        <p:txBody>
          <a:bodyPr/>
          <a:lstStyle/>
          <a:p>
            <a:endParaRPr lang="en-US"/>
          </a:p>
        </p:txBody>
      </p:sp>
      <p:sp>
        <p:nvSpPr>
          <p:cNvPr id="41" name="Text 39"/>
          <p:cNvSpPr/>
          <p:nvPr/>
        </p:nvSpPr>
        <p:spPr>
          <a:xfrm>
            <a:off x="2880360" y="2345436"/>
            <a:ext cx="7772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0.97</a:t>
            </a:r>
            <a:endParaRPr lang="en-US" sz="990" dirty="0"/>
          </a:p>
        </p:txBody>
      </p:sp>
      <p:sp>
        <p:nvSpPr>
          <p:cNvPr id="42" name="Shape 40"/>
          <p:cNvSpPr/>
          <p:nvPr/>
        </p:nvSpPr>
        <p:spPr>
          <a:xfrm>
            <a:off x="3703320" y="2276856"/>
            <a:ext cx="594360" cy="347472"/>
          </a:xfrm>
          <a:prstGeom prst="rect">
            <a:avLst/>
          </a:prstGeom>
          <a:solidFill>
            <a:srgbClr val="FFFFFF"/>
          </a:solidFill>
          <a:ln w="12700">
            <a:solidFill>
              <a:srgbClr val="C9D6D8"/>
            </a:solidFill>
            <a:prstDash val="solid"/>
          </a:ln>
        </p:spPr>
        <p:txBody>
          <a:bodyPr/>
          <a:lstStyle/>
          <a:p>
            <a:endParaRPr lang="en-US"/>
          </a:p>
        </p:txBody>
      </p:sp>
      <p:sp>
        <p:nvSpPr>
          <p:cNvPr id="43" name="Text 41"/>
          <p:cNvSpPr/>
          <p:nvPr/>
        </p:nvSpPr>
        <p:spPr>
          <a:xfrm>
            <a:off x="3749040" y="2345436"/>
            <a:ext cx="5029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44" name="Shape 42"/>
          <p:cNvSpPr/>
          <p:nvPr/>
        </p:nvSpPr>
        <p:spPr>
          <a:xfrm>
            <a:off x="4297680" y="2276856"/>
            <a:ext cx="2788920" cy="347472"/>
          </a:xfrm>
          <a:prstGeom prst="rect">
            <a:avLst/>
          </a:prstGeom>
          <a:solidFill>
            <a:srgbClr val="FFFFFF"/>
          </a:solidFill>
          <a:ln w="12700">
            <a:solidFill>
              <a:srgbClr val="C9D6D8"/>
            </a:solidFill>
            <a:prstDash val="solid"/>
          </a:ln>
        </p:spPr>
        <p:txBody>
          <a:bodyPr/>
          <a:lstStyle/>
          <a:p>
            <a:endParaRPr lang="en-US"/>
          </a:p>
        </p:txBody>
      </p:sp>
      <p:sp>
        <p:nvSpPr>
          <p:cNvPr id="45" name="Text 43"/>
          <p:cNvSpPr/>
          <p:nvPr/>
        </p:nvSpPr>
        <p:spPr>
          <a:xfrm>
            <a:off x="4343400" y="2345436"/>
            <a:ext cx="26974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CV tốt nhưng train chậm hơn</a:t>
            </a:r>
            <a:endParaRPr lang="en-US" sz="990" dirty="0"/>
          </a:p>
        </p:txBody>
      </p:sp>
      <p:sp>
        <p:nvSpPr>
          <p:cNvPr id="46" name="Shape 44"/>
          <p:cNvSpPr/>
          <p:nvPr/>
        </p:nvSpPr>
        <p:spPr>
          <a:xfrm>
            <a:off x="640080" y="2624328"/>
            <a:ext cx="1417320" cy="347472"/>
          </a:xfrm>
          <a:prstGeom prst="rect">
            <a:avLst/>
          </a:prstGeom>
          <a:solidFill>
            <a:srgbClr val="FFFFFF"/>
          </a:solidFill>
          <a:ln w="12700">
            <a:solidFill>
              <a:srgbClr val="C9D6D8"/>
            </a:solidFill>
            <a:prstDash val="solid"/>
          </a:ln>
        </p:spPr>
        <p:txBody>
          <a:bodyPr/>
          <a:lstStyle/>
          <a:p>
            <a:endParaRPr lang="en-US"/>
          </a:p>
        </p:txBody>
      </p:sp>
      <p:sp>
        <p:nvSpPr>
          <p:cNvPr id="47" name="Text 45"/>
          <p:cNvSpPr/>
          <p:nvPr/>
        </p:nvSpPr>
        <p:spPr>
          <a:xfrm>
            <a:off x="685800" y="2692908"/>
            <a:ext cx="13258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MLP</a:t>
            </a:r>
            <a:endParaRPr lang="en-US" sz="990" dirty="0"/>
          </a:p>
        </p:txBody>
      </p:sp>
      <p:sp>
        <p:nvSpPr>
          <p:cNvPr id="48" name="Shape 46"/>
          <p:cNvSpPr/>
          <p:nvPr/>
        </p:nvSpPr>
        <p:spPr>
          <a:xfrm>
            <a:off x="2057400" y="2624328"/>
            <a:ext cx="777240" cy="347472"/>
          </a:xfrm>
          <a:prstGeom prst="rect">
            <a:avLst/>
          </a:prstGeom>
          <a:solidFill>
            <a:srgbClr val="FFFFFF"/>
          </a:solidFill>
          <a:ln w="12700">
            <a:solidFill>
              <a:srgbClr val="C9D6D8"/>
            </a:solidFill>
            <a:prstDash val="solid"/>
          </a:ln>
        </p:spPr>
        <p:txBody>
          <a:bodyPr/>
          <a:lstStyle/>
          <a:p>
            <a:endParaRPr lang="en-US"/>
          </a:p>
        </p:txBody>
      </p:sp>
      <p:sp>
        <p:nvSpPr>
          <p:cNvPr id="49" name="Text 47"/>
          <p:cNvSpPr/>
          <p:nvPr/>
        </p:nvSpPr>
        <p:spPr>
          <a:xfrm>
            <a:off x="2103120" y="2692908"/>
            <a:ext cx="68580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0.93</a:t>
            </a:r>
            <a:endParaRPr lang="en-US" sz="990" dirty="0"/>
          </a:p>
        </p:txBody>
      </p:sp>
      <p:sp>
        <p:nvSpPr>
          <p:cNvPr id="50" name="Shape 48"/>
          <p:cNvSpPr/>
          <p:nvPr/>
        </p:nvSpPr>
        <p:spPr>
          <a:xfrm>
            <a:off x="2834640" y="2624328"/>
            <a:ext cx="868680" cy="347472"/>
          </a:xfrm>
          <a:prstGeom prst="rect">
            <a:avLst/>
          </a:prstGeom>
          <a:solidFill>
            <a:srgbClr val="FFFFFF"/>
          </a:solidFill>
          <a:ln w="12700">
            <a:solidFill>
              <a:srgbClr val="C9D6D8"/>
            </a:solidFill>
            <a:prstDash val="solid"/>
          </a:ln>
        </p:spPr>
        <p:txBody>
          <a:bodyPr/>
          <a:lstStyle/>
          <a:p>
            <a:endParaRPr lang="en-US"/>
          </a:p>
        </p:txBody>
      </p:sp>
      <p:sp>
        <p:nvSpPr>
          <p:cNvPr id="51" name="Text 49"/>
          <p:cNvSpPr/>
          <p:nvPr/>
        </p:nvSpPr>
        <p:spPr>
          <a:xfrm>
            <a:off x="2880360" y="2692908"/>
            <a:ext cx="7772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0.98</a:t>
            </a:r>
            <a:endParaRPr lang="en-US" sz="990" dirty="0"/>
          </a:p>
        </p:txBody>
      </p:sp>
      <p:sp>
        <p:nvSpPr>
          <p:cNvPr id="52" name="Shape 50"/>
          <p:cNvSpPr/>
          <p:nvPr/>
        </p:nvSpPr>
        <p:spPr>
          <a:xfrm>
            <a:off x="3703320" y="2624328"/>
            <a:ext cx="594360" cy="347472"/>
          </a:xfrm>
          <a:prstGeom prst="rect">
            <a:avLst/>
          </a:prstGeom>
          <a:solidFill>
            <a:srgbClr val="FFFFFF"/>
          </a:solidFill>
          <a:ln w="12700">
            <a:solidFill>
              <a:srgbClr val="C9D6D8"/>
            </a:solidFill>
            <a:prstDash val="solid"/>
          </a:ln>
        </p:spPr>
        <p:txBody>
          <a:bodyPr/>
          <a:lstStyle/>
          <a:p>
            <a:endParaRPr lang="en-US"/>
          </a:p>
        </p:txBody>
      </p:sp>
      <p:sp>
        <p:nvSpPr>
          <p:cNvPr id="53" name="Text 51"/>
          <p:cNvSpPr/>
          <p:nvPr/>
        </p:nvSpPr>
        <p:spPr>
          <a:xfrm>
            <a:off x="3749040" y="2692908"/>
            <a:ext cx="5029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54" name="Shape 52"/>
          <p:cNvSpPr/>
          <p:nvPr/>
        </p:nvSpPr>
        <p:spPr>
          <a:xfrm>
            <a:off x="4297680" y="2624328"/>
            <a:ext cx="2788920" cy="347472"/>
          </a:xfrm>
          <a:prstGeom prst="rect">
            <a:avLst/>
          </a:prstGeom>
          <a:solidFill>
            <a:srgbClr val="FFFFFF"/>
          </a:solidFill>
          <a:ln w="12700">
            <a:solidFill>
              <a:srgbClr val="C9D6D8"/>
            </a:solidFill>
            <a:prstDash val="solid"/>
          </a:ln>
        </p:spPr>
        <p:txBody>
          <a:bodyPr/>
          <a:lstStyle/>
          <a:p>
            <a:endParaRPr lang="en-US"/>
          </a:p>
        </p:txBody>
      </p:sp>
      <p:sp>
        <p:nvSpPr>
          <p:cNvPr id="55" name="Text 53"/>
          <p:cNvSpPr/>
          <p:nvPr/>
        </p:nvSpPr>
        <p:spPr>
          <a:xfrm>
            <a:off x="4343400" y="2692908"/>
            <a:ext cx="26974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Precision cao nhất</a:t>
            </a:r>
            <a:endParaRPr lang="en-US" sz="990" dirty="0"/>
          </a:p>
        </p:txBody>
      </p:sp>
      <p:sp>
        <p:nvSpPr>
          <p:cNvPr id="56" name="Shape 54"/>
          <p:cNvSpPr/>
          <p:nvPr/>
        </p:nvSpPr>
        <p:spPr>
          <a:xfrm>
            <a:off x="640080" y="2971800"/>
            <a:ext cx="1417320" cy="347472"/>
          </a:xfrm>
          <a:prstGeom prst="rect">
            <a:avLst/>
          </a:prstGeom>
          <a:solidFill>
            <a:srgbClr val="FFFFFF"/>
          </a:solidFill>
          <a:ln w="12700">
            <a:solidFill>
              <a:srgbClr val="C9D6D8"/>
            </a:solidFill>
            <a:prstDash val="solid"/>
          </a:ln>
        </p:spPr>
        <p:txBody>
          <a:bodyPr/>
          <a:lstStyle/>
          <a:p>
            <a:endParaRPr lang="en-US"/>
          </a:p>
        </p:txBody>
      </p:sp>
      <p:sp>
        <p:nvSpPr>
          <p:cNvPr id="57" name="Text 55"/>
          <p:cNvSpPr/>
          <p:nvPr/>
        </p:nvSpPr>
        <p:spPr>
          <a:xfrm>
            <a:off x="685800" y="3040380"/>
            <a:ext cx="13258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LogisticRegression</a:t>
            </a:r>
            <a:endParaRPr lang="en-US" sz="990" dirty="0"/>
          </a:p>
        </p:txBody>
      </p:sp>
      <p:sp>
        <p:nvSpPr>
          <p:cNvPr id="58" name="Shape 56"/>
          <p:cNvSpPr/>
          <p:nvPr/>
        </p:nvSpPr>
        <p:spPr>
          <a:xfrm>
            <a:off x="2057400" y="2971800"/>
            <a:ext cx="777240" cy="347472"/>
          </a:xfrm>
          <a:prstGeom prst="rect">
            <a:avLst/>
          </a:prstGeom>
          <a:solidFill>
            <a:srgbClr val="FFFFFF"/>
          </a:solidFill>
          <a:ln w="12700">
            <a:solidFill>
              <a:srgbClr val="C9D6D8"/>
            </a:solidFill>
            <a:prstDash val="solid"/>
          </a:ln>
        </p:spPr>
        <p:txBody>
          <a:bodyPr/>
          <a:lstStyle/>
          <a:p>
            <a:endParaRPr lang="en-US"/>
          </a:p>
        </p:txBody>
      </p:sp>
      <p:sp>
        <p:nvSpPr>
          <p:cNvPr id="59" name="Text 57"/>
          <p:cNvSpPr/>
          <p:nvPr/>
        </p:nvSpPr>
        <p:spPr>
          <a:xfrm>
            <a:off x="2103120" y="3040380"/>
            <a:ext cx="68580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0.93</a:t>
            </a:r>
            <a:endParaRPr lang="en-US" sz="990" dirty="0"/>
          </a:p>
        </p:txBody>
      </p:sp>
      <p:sp>
        <p:nvSpPr>
          <p:cNvPr id="60" name="Shape 58"/>
          <p:cNvSpPr/>
          <p:nvPr/>
        </p:nvSpPr>
        <p:spPr>
          <a:xfrm>
            <a:off x="2834640" y="2971800"/>
            <a:ext cx="868680" cy="347472"/>
          </a:xfrm>
          <a:prstGeom prst="rect">
            <a:avLst/>
          </a:prstGeom>
          <a:solidFill>
            <a:srgbClr val="FFFFFF"/>
          </a:solidFill>
          <a:ln w="12700">
            <a:solidFill>
              <a:srgbClr val="C9D6D8"/>
            </a:solidFill>
            <a:prstDash val="solid"/>
          </a:ln>
        </p:spPr>
        <p:txBody>
          <a:bodyPr/>
          <a:lstStyle/>
          <a:p>
            <a:endParaRPr lang="en-US"/>
          </a:p>
        </p:txBody>
      </p:sp>
      <p:sp>
        <p:nvSpPr>
          <p:cNvPr id="61" name="Text 59"/>
          <p:cNvSpPr/>
          <p:nvPr/>
        </p:nvSpPr>
        <p:spPr>
          <a:xfrm>
            <a:off x="2880360" y="3040380"/>
            <a:ext cx="7772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0.98</a:t>
            </a:r>
            <a:endParaRPr lang="en-US" sz="990" dirty="0"/>
          </a:p>
        </p:txBody>
      </p:sp>
      <p:sp>
        <p:nvSpPr>
          <p:cNvPr id="62" name="Shape 60"/>
          <p:cNvSpPr/>
          <p:nvPr/>
        </p:nvSpPr>
        <p:spPr>
          <a:xfrm>
            <a:off x="3703320" y="2971800"/>
            <a:ext cx="594360" cy="347472"/>
          </a:xfrm>
          <a:prstGeom prst="rect">
            <a:avLst/>
          </a:prstGeom>
          <a:solidFill>
            <a:srgbClr val="FFFFFF"/>
          </a:solidFill>
          <a:ln w="12700">
            <a:solidFill>
              <a:srgbClr val="C9D6D8"/>
            </a:solidFill>
            <a:prstDash val="solid"/>
          </a:ln>
        </p:spPr>
        <p:txBody>
          <a:bodyPr/>
          <a:lstStyle/>
          <a:p>
            <a:endParaRPr lang="en-US"/>
          </a:p>
        </p:txBody>
      </p:sp>
      <p:sp>
        <p:nvSpPr>
          <p:cNvPr id="63" name="Text 61"/>
          <p:cNvSpPr/>
          <p:nvPr/>
        </p:nvSpPr>
        <p:spPr>
          <a:xfrm>
            <a:off x="3749040" y="3040380"/>
            <a:ext cx="5029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64" name="Shape 62"/>
          <p:cNvSpPr/>
          <p:nvPr/>
        </p:nvSpPr>
        <p:spPr>
          <a:xfrm>
            <a:off x="4297680" y="2971800"/>
            <a:ext cx="2788920" cy="347472"/>
          </a:xfrm>
          <a:prstGeom prst="rect">
            <a:avLst/>
          </a:prstGeom>
          <a:solidFill>
            <a:srgbClr val="FFFFFF"/>
          </a:solidFill>
          <a:ln w="12700">
            <a:solidFill>
              <a:srgbClr val="C9D6D8"/>
            </a:solidFill>
            <a:prstDash val="solid"/>
          </a:ln>
        </p:spPr>
        <p:txBody>
          <a:bodyPr/>
          <a:lstStyle/>
          <a:p>
            <a:endParaRPr lang="en-US"/>
          </a:p>
        </p:txBody>
      </p:sp>
      <p:sp>
        <p:nvSpPr>
          <p:cNvPr id="65" name="Text 63"/>
          <p:cNvSpPr/>
          <p:nvPr/>
        </p:nvSpPr>
        <p:spPr>
          <a:xfrm>
            <a:off x="4343400" y="3040380"/>
            <a:ext cx="269748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Đơn giản, dễ giải thích</a:t>
            </a:r>
            <a:endParaRPr lang="en-US" sz="990" dirty="0"/>
          </a:p>
        </p:txBody>
      </p:sp>
      <p:pic>
        <p:nvPicPr>
          <p:cNvPr id="66" name="Image 0" descr="/mnt/data/docx_extract/word/media/image4.png"/>
          <p:cNvPicPr>
            <a:picLocks noChangeAspect="1"/>
          </p:cNvPicPr>
          <p:nvPr/>
        </p:nvPicPr>
        <p:blipFill>
          <a:blip r:embed="rId3"/>
          <a:stretch>
            <a:fillRect/>
          </a:stretch>
        </p:blipFill>
        <p:spPr>
          <a:xfrm>
            <a:off x="7726680" y="1446160"/>
            <a:ext cx="3840480" cy="2274039"/>
          </a:xfrm>
          <a:prstGeom prst="rect">
            <a:avLst/>
          </a:prstGeom>
        </p:spPr>
      </p:pic>
      <p:sp>
        <p:nvSpPr>
          <p:cNvPr id="67" name="Text 64"/>
          <p:cNvSpPr/>
          <p:nvPr/>
        </p:nvSpPr>
        <p:spPr>
          <a:xfrm>
            <a:off x="658368" y="4114800"/>
            <a:ext cx="2560320" cy="201168"/>
          </a:xfrm>
          <a:prstGeom prst="rect">
            <a:avLst/>
          </a:prstGeom>
          <a:noFill/>
          <a:ln/>
        </p:spPr>
        <p:txBody>
          <a:bodyPr wrap="square" lIns="0" tIns="0" rIns="0" bIns="0" rtlCol="0" anchor="ctr"/>
          <a:lstStyle/>
          <a:p>
            <a:pPr marL="0" indent="0">
              <a:buNone/>
            </a:pPr>
            <a:r>
              <a:rPr lang="en-US" sz="1650" b="1" dirty="0">
                <a:solidFill>
                  <a:srgbClr val="183B4E"/>
                </a:solidFill>
              </a:rPr>
              <a:t>Ứng viên cuối cùng sau tuning</a:t>
            </a:r>
            <a:endParaRPr lang="en-US" sz="1650" dirty="0"/>
          </a:p>
        </p:txBody>
      </p:sp>
      <p:sp>
        <p:nvSpPr>
          <p:cNvPr id="68" name="Shape 65"/>
          <p:cNvSpPr/>
          <p:nvPr/>
        </p:nvSpPr>
        <p:spPr>
          <a:xfrm>
            <a:off x="658368" y="4498848"/>
            <a:ext cx="2331720" cy="347472"/>
          </a:xfrm>
          <a:prstGeom prst="rect">
            <a:avLst/>
          </a:prstGeom>
          <a:solidFill>
            <a:srgbClr val="1384AB"/>
          </a:solidFill>
          <a:ln w="12700">
            <a:solidFill>
              <a:srgbClr val="C9D6D8"/>
            </a:solidFill>
            <a:prstDash val="solid"/>
          </a:ln>
        </p:spPr>
        <p:txBody>
          <a:bodyPr/>
          <a:lstStyle/>
          <a:p>
            <a:endParaRPr lang="en-US"/>
          </a:p>
        </p:txBody>
      </p:sp>
      <p:sp>
        <p:nvSpPr>
          <p:cNvPr id="69" name="Text 66"/>
          <p:cNvSpPr/>
          <p:nvPr/>
        </p:nvSpPr>
        <p:spPr>
          <a:xfrm>
            <a:off x="694944" y="4572000"/>
            <a:ext cx="225856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Mô hình</a:t>
            </a:r>
            <a:endParaRPr lang="en-US" sz="1020" dirty="0"/>
          </a:p>
        </p:txBody>
      </p:sp>
      <p:sp>
        <p:nvSpPr>
          <p:cNvPr id="70" name="Shape 67"/>
          <p:cNvSpPr/>
          <p:nvPr/>
        </p:nvSpPr>
        <p:spPr>
          <a:xfrm>
            <a:off x="2990088" y="4498848"/>
            <a:ext cx="822960" cy="347472"/>
          </a:xfrm>
          <a:prstGeom prst="rect">
            <a:avLst/>
          </a:prstGeom>
          <a:solidFill>
            <a:srgbClr val="1384AB"/>
          </a:solidFill>
          <a:ln w="12700">
            <a:solidFill>
              <a:srgbClr val="C9D6D8"/>
            </a:solidFill>
            <a:prstDash val="solid"/>
          </a:ln>
        </p:spPr>
        <p:txBody>
          <a:bodyPr/>
          <a:lstStyle/>
          <a:p>
            <a:endParaRPr lang="en-US"/>
          </a:p>
        </p:txBody>
      </p:sp>
      <p:sp>
        <p:nvSpPr>
          <p:cNvPr id="71" name="Text 68"/>
          <p:cNvSpPr/>
          <p:nvPr/>
        </p:nvSpPr>
        <p:spPr>
          <a:xfrm>
            <a:off x="3026664" y="4572000"/>
            <a:ext cx="74980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Accuracy</a:t>
            </a:r>
            <a:endParaRPr lang="en-US" sz="1020" dirty="0"/>
          </a:p>
        </p:txBody>
      </p:sp>
      <p:sp>
        <p:nvSpPr>
          <p:cNvPr id="72" name="Shape 69"/>
          <p:cNvSpPr/>
          <p:nvPr/>
        </p:nvSpPr>
        <p:spPr>
          <a:xfrm>
            <a:off x="3813048" y="4498848"/>
            <a:ext cx="640080" cy="347472"/>
          </a:xfrm>
          <a:prstGeom prst="rect">
            <a:avLst/>
          </a:prstGeom>
          <a:solidFill>
            <a:srgbClr val="1384AB"/>
          </a:solidFill>
          <a:ln w="12700">
            <a:solidFill>
              <a:srgbClr val="C9D6D8"/>
            </a:solidFill>
            <a:prstDash val="solid"/>
          </a:ln>
        </p:spPr>
        <p:txBody>
          <a:bodyPr/>
          <a:lstStyle/>
          <a:p>
            <a:endParaRPr lang="en-US"/>
          </a:p>
        </p:txBody>
      </p:sp>
      <p:sp>
        <p:nvSpPr>
          <p:cNvPr id="73" name="Text 70"/>
          <p:cNvSpPr/>
          <p:nvPr/>
        </p:nvSpPr>
        <p:spPr>
          <a:xfrm>
            <a:off x="3849624" y="4572000"/>
            <a:ext cx="566928" cy="237744"/>
          </a:xfrm>
          <a:prstGeom prst="rect">
            <a:avLst/>
          </a:prstGeom>
          <a:noFill/>
          <a:ln/>
        </p:spPr>
        <p:txBody>
          <a:bodyPr wrap="square" lIns="0" tIns="0" rIns="0" bIns="0" rtlCol="0" anchor="ctr"/>
          <a:lstStyle/>
          <a:p>
            <a:pPr marL="0" indent="0" algn="ctr">
              <a:buNone/>
            </a:pPr>
            <a:r>
              <a:rPr lang="en-US" sz="1020" b="1" dirty="0">
                <a:solidFill>
                  <a:srgbClr val="FFFFFF"/>
                </a:solidFill>
                <a:latin typeface="Arial" pitchFamily="34" charset="0"/>
                <a:ea typeface="Arial" pitchFamily="34" charset="-122"/>
                <a:cs typeface="Arial" pitchFamily="34" charset="-120"/>
              </a:rPr>
              <a:t>AUC</a:t>
            </a:r>
            <a:endParaRPr lang="en-US" sz="1020" dirty="0"/>
          </a:p>
        </p:txBody>
      </p:sp>
      <p:sp>
        <p:nvSpPr>
          <p:cNvPr id="74" name="Shape 71"/>
          <p:cNvSpPr/>
          <p:nvPr/>
        </p:nvSpPr>
        <p:spPr>
          <a:xfrm>
            <a:off x="658368" y="4846320"/>
            <a:ext cx="2331720" cy="347472"/>
          </a:xfrm>
          <a:prstGeom prst="rect">
            <a:avLst/>
          </a:prstGeom>
          <a:solidFill>
            <a:srgbClr val="FFFFFF"/>
          </a:solidFill>
          <a:ln w="12700">
            <a:solidFill>
              <a:srgbClr val="C9D6D8"/>
            </a:solidFill>
            <a:prstDash val="solid"/>
          </a:ln>
        </p:spPr>
        <p:txBody>
          <a:bodyPr/>
          <a:lstStyle/>
          <a:p>
            <a:endParaRPr lang="en-US"/>
          </a:p>
        </p:txBody>
      </p:sp>
      <p:sp>
        <p:nvSpPr>
          <p:cNvPr id="75" name="Text 72"/>
          <p:cNvSpPr/>
          <p:nvPr/>
        </p:nvSpPr>
        <p:spPr>
          <a:xfrm>
            <a:off x="704088" y="4914900"/>
            <a:ext cx="22402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RandomForest (baseline)</a:t>
            </a:r>
            <a:endParaRPr lang="en-US" sz="990" dirty="0"/>
          </a:p>
        </p:txBody>
      </p:sp>
      <p:sp>
        <p:nvSpPr>
          <p:cNvPr id="76" name="Shape 73"/>
          <p:cNvSpPr/>
          <p:nvPr/>
        </p:nvSpPr>
        <p:spPr>
          <a:xfrm>
            <a:off x="2990088" y="4846320"/>
            <a:ext cx="822960" cy="347472"/>
          </a:xfrm>
          <a:prstGeom prst="rect">
            <a:avLst/>
          </a:prstGeom>
          <a:solidFill>
            <a:srgbClr val="FFFFFF"/>
          </a:solidFill>
          <a:ln w="12700">
            <a:solidFill>
              <a:srgbClr val="C9D6D8"/>
            </a:solidFill>
            <a:prstDash val="solid"/>
          </a:ln>
        </p:spPr>
        <p:txBody>
          <a:bodyPr/>
          <a:lstStyle/>
          <a:p>
            <a:endParaRPr lang="en-US"/>
          </a:p>
        </p:txBody>
      </p:sp>
      <p:sp>
        <p:nvSpPr>
          <p:cNvPr id="77" name="Text 74"/>
          <p:cNvSpPr/>
          <p:nvPr/>
        </p:nvSpPr>
        <p:spPr>
          <a:xfrm>
            <a:off x="3035808" y="4914900"/>
            <a:ext cx="7315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0.98</a:t>
            </a:r>
            <a:endParaRPr lang="en-US" sz="990" dirty="0"/>
          </a:p>
        </p:txBody>
      </p:sp>
      <p:sp>
        <p:nvSpPr>
          <p:cNvPr id="78" name="Shape 75"/>
          <p:cNvSpPr/>
          <p:nvPr/>
        </p:nvSpPr>
        <p:spPr>
          <a:xfrm>
            <a:off x="3813048" y="4846320"/>
            <a:ext cx="640080" cy="347472"/>
          </a:xfrm>
          <a:prstGeom prst="rect">
            <a:avLst/>
          </a:prstGeom>
          <a:solidFill>
            <a:srgbClr val="FFFFFF"/>
          </a:solidFill>
          <a:ln w="12700">
            <a:solidFill>
              <a:srgbClr val="C9D6D8"/>
            </a:solidFill>
            <a:prstDash val="solid"/>
          </a:ln>
        </p:spPr>
        <p:txBody>
          <a:bodyPr/>
          <a:lstStyle/>
          <a:p>
            <a:endParaRPr lang="en-US"/>
          </a:p>
        </p:txBody>
      </p:sp>
      <p:sp>
        <p:nvSpPr>
          <p:cNvPr id="79" name="Text 76"/>
          <p:cNvSpPr/>
          <p:nvPr/>
        </p:nvSpPr>
        <p:spPr>
          <a:xfrm>
            <a:off x="3858768" y="4914900"/>
            <a:ext cx="5486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80" name="Shape 77"/>
          <p:cNvSpPr/>
          <p:nvPr/>
        </p:nvSpPr>
        <p:spPr>
          <a:xfrm>
            <a:off x="658368" y="5193792"/>
            <a:ext cx="2331720" cy="347472"/>
          </a:xfrm>
          <a:prstGeom prst="rect">
            <a:avLst/>
          </a:prstGeom>
          <a:solidFill>
            <a:srgbClr val="FFFFFF"/>
          </a:solidFill>
          <a:ln w="12700">
            <a:solidFill>
              <a:srgbClr val="C9D6D8"/>
            </a:solidFill>
            <a:prstDash val="solid"/>
          </a:ln>
        </p:spPr>
        <p:txBody>
          <a:bodyPr/>
          <a:lstStyle/>
          <a:p>
            <a:endParaRPr lang="en-US"/>
          </a:p>
        </p:txBody>
      </p:sp>
      <p:sp>
        <p:nvSpPr>
          <p:cNvPr id="81" name="Text 78"/>
          <p:cNvSpPr/>
          <p:nvPr/>
        </p:nvSpPr>
        <p:spPr>
          <a:xfrm>
            <a:off x="704088" y="5262372"/>
            <a:ext cx="22402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Tuned RandomForest</a:t>
            </a:r>
            <a:endParaRPr lang="en-US" sz="990" dirty="0"/>
          </a:p>
        </p:txBody>
      </p:sp>
      <p:sp>
        <p:nvSpPr>
          <p:cNvPr id="82" name="Shape 79"/>
          <p:cNvSpPr/>
          <p:nvPr/>
        </p:nvSpPr>
        <p:spPr>
          <a:xfrm>
            <a:off x="2990088" y="5193792"/>
            <a:ext cx="822960" cy="347472"/>
          </a:xfrm>
          <a:prstGeom prst="rect">
            <a:avLst/>
          </a:prstGeom>
          <a:solidFill>
            <a:srgbClr val="FFFFFF"/>
          </a:solidFill>
          <a:ln w="12700">
            <a:solidFill>
              <a:srgbClr val="C9D6D8"/>
            </a:solidFill>
            <a:prstDash val="solid"/>
          </a:ln>
        </p:spPr>
        <p:txBody>
          <a:bodyPr/>
          <a:lstStyle/>
          <a:p>
            <a:endParaRPr lang="en-US"/>
          </a:p>
        </p:txBody>
      </p:sp>
      <p:sp>
        <p:nvSpPr>
          <p:cNvPr id="83" name="Text 80"/>
          <p:cNvSpPr/>
          <p:nvPr/>
        </p:nvSpPr>
        <p:spPr>
          <a:xfrm>
            <a:off x="3035808" y="5262372"/>
            <a:ext cx="7315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0.98</a:t>
            </a:r>
            <a:endParaRPr lang="en-US" sz="990" dirty="0"/>
          </a:p>
        </p:txBody>
      </p:sp>
      <p:sp>
        <p:nvSpPr>
          <p:cNvPr id="84" name="Shape 81"/>
          <p:cNvSpPr/>
          <p:nvPr/>
        </p:nvSpPr>
        <p:spPr>
          <a:xfrm>
            <a:off x="3813048" y="5193792"/>
            <a:ext cx="640080" cy="347472"/>
          </a:xfrm>
          <a:prstGeom prst="rect">
            <a:avLst/>
          </a:prstGeom>
          <a:solidFill>
            <a:srgbClr val="FFFFFF"/>
          </a:solidFill>
          <a:ln w="12700">
            <a:solidFill>
              <a:srgbClr val="C9D6D8"/>
            </a:solidFill>
            <a:prstDash val="solid"/>
          </a:ln>
        </p:spPr>
        <p:txBody>
          <a:bodyPr/>
          <a:lstStyle/>
          <a:p>
            <a:endParaRPr lang="en-US"/>
          </a:p>
        </p:txBody>
      </p:sp>
      <p:sp>
        <p:nvSpPr>
          <p:cNvPr id="85" name="Text 82"/>
          <p:cNvSpPr/>
          <p:nvPr/>
        </p:nvSpPr>
        <p:spPr>
          <a:xfrm>
            <a:off x="3858768" y="5262372"/>
            <a:ext cx="5486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86" name="Shape 83"/>
          <p:cNvSpPr/>
          <p:nvPr/>
        </p:nvSpPr>
        <p:spPr>
          <a:xfrm>
            <a:off x="658368" y="5541264"/>
            <a:ext cx="2331720" cy="347472"/>
          </a:xfrm>
          <a:prstGeom prst="rect">
            <a:avLst/>
          </a:prstGeom>
          <a:solidFill>
            <a:srgbClr val="FFFFFF"/>
          </a:solidFill>
          <a:ln w="12700">
            <a:solidFill>
              <a:srgbClr val="C9D6D8"/>
            </a:solidFill>
            <a:prstDash val="solid"/>
          </a:ln>
        </p:spPr>
        <p:txBody>
          <a:bodyPr/>
          <a:lstStyle/>
          <a:p>
            <a:endParaRPr lang="en-US"/>
          </a:p>
        </p:txBody>
      </p:sp>
      <p:sp>
        <p:nvSpPr>
          <p:cNvPr id="87" name="Text 84"/>
          <p:cNvSpPr/>
          <p:nvPr/>
        </p:nvSpPr>
        <p:spPr>
          <a:xfrm>
            <a:off x="704088" y="5609844"/>
            <a:ext cx="2240280" cy="237744"/>
          </a:xfrm>
          <a:prstGeom prst="rect">
            <a:avLst/>
          </a:prstGeom>
          <a:noFill/>
          <a:ln/>
        </p:spPr>
        <p:txBody>
          <a:bodyPr wrap="square" lIns="0" tIns="0" rIns="0" bIns="0" rtlCol="0" anchor="ctr"/>
          <a:lstStyle/>
          <a:p>
            <a:pPr marL="0" indent="0" algn="l">
              <a:buNone/>
            </a:pPr>
            <a:r>
              <a:rPr lang="en-US" sz="990" dirty="0">
                <a:solidFill>
                  <a:srgbClr val="183B4E"/>
                </a:solidFill>
                <a:latin typeface="Arial" pitchFamily="34" charset="0"/>
                <a:ea typeface="Arial" pitchFamily="34" charset="-122"/>
                <a:cs typeface="Arial" pitchFamily="34" charset="-120"/>
              </a:rPr>
              <a:t>Tuned SVM</a:t>
            </a:r>
            <a:endParaRPr lang="en-US" sz="990" dirty="0"/>
          </a:p>
        </p:txBody>
      </p:sp>
      <p:sp>
        <p:nvSpPr>
          <p:cNvPr id="88" name="Shape 85"/>
          <p:cNvSpPr/>
          <p:nvPr/>
        </p:nvSpPr>
        <p:spPr>
          <a:xfrm>
            <a:off x="2990088" y="5541264"/>
            <a:ext cx="822960" cy="347472"/>
          </a:xfrm>
          <a:prstGeom prst="rect">
            <a:avLst/>
          </a:prstGeom>
          <a:solidFill>
            <a:srgbClr val="FFFFFF"/>
          </a:solidFill>
          <a:ln w="12700">
            <a:solidFill>
              <a:srgbClr val="C9D6D8"/>
            </a:solidFill>
            <a:prstDash val="solid"/>
          </a:ln>
        </p:spPr>
        <p:txBody>
          <a:bodyPr/>
          <a:lstStyle/>
          <a:p>
            <a:endParaRPr lang="en-US"/>
          </a:p>
        </p:txBody>
      </p:sp>
      <p:sp>
        <p:nvSpPr>
          <p:cNvPr id="89" name="Text 86"/>
          <p:cNvSpPr/>
          <p:nvPr/>
        </p:nvSpPr>
        <p:spPr>
          <a:xfrm>
            <a:off x="3035808" y="5609844"/>
            <a:ext cx="73152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0.97</a:t>
            </a:r>
            <a:endParaRPr lang="en-US" sz="990" dirty="0"/>
          </a:p>
        </p:txBody>
      </p:sp>
      <p:sp>
        <p:nvSpPr>
          <p:cNvPr id="90" name="Shape 87"/>
          <p:cNvSpPr/>
          <p:nvPr/>
        </p:nvSpPr>
        <p:spPr>
          <a:xfrm>
            <a:off x="3813048" y="5541264"/>
            <a:ext cx="640080" cy="347472"/>
          </a:xfrm>
          <a:prstGeom prst="rect">
            <a:avLst/>
          </a:prstGeom>
          <a:solidFill>
            <a:srgbClr val="FFFFFF"/>
          </a:solidFill>
          <a:ln w="12700">
            <a:solidFill>
              <a:srgbClr val="C9D6D8"/>
            </a:solidFill>
            <a:prstDash val="solid"/>
          </a:ln>
        </p:spPr>
        <p:txBody>
          <a:bodyPr/>
          <a:lstStyle/>
          <a:p>
            <a:endParaRPr lang="en-US"/>
          </a:p>
        </p:txBody>
      </p:sp>
      <p:sp>
        <p:nvSpPr>
          <p:cNvPr id="91" name="Text 88"/>
          <p:cNvSpPr/>
          <p:nvPr/>
        </p:nvSpPr>
        <p:spPr>
          <a:xfrm>
            <a:off x="3858768" y="5609844"/>
            <a:ext cx="548640" cy="237744"/>
          </a:xfrm>
          <a:prstGeom prst="rect">
            <a:avLst/>
          </a:prstGeom>
          <a:noFill/>
          <a:ln/>
        </p:spPr>
        <p:txBody>
          <a:bodyPr wrap="square" lIns="0" tIns="0" rIns="0" bIns="0" rtlCol="0" anchor="ctr"/>
          <a:lstStyle/>
          <a:p>
            <a:pPr marL="0" indent="0" algn="ctr">
              <a:buNone/>
            </a:pPr>
            <a:r>
              <a:rPr lang="en-US" sz="990" dirty="0">
                <a:solidFill>
                  <a:srgbClr val="183B4E"/>
                </a:solidFill>
                <a:latin typeface="Arial" pitchFamily="34" charset="0"/>
                <a:ea typeface="Arial" pitchFamily="34" charset="-122"/>
                <a:cs typeface="Arial" pitchFamily="34" charset="-120"/>
              </a:rPr>
              <a:t>1.00</a:t>
            </a:r>
            <a:endParaRPr lang="en-US" sz="990" dirty="0"/>
          </a:p>
        </p:txBody>
      </p:sp>
      <p:sp>
        <p:nvSpPr>
          <p:cNvPr id="92" name="Text 89"/>
          <p:cNvSpPr/>
          <p:nvPr/>
        </p:nvSpPr>
        <p:spPr>
          <a:xfrm>
            <a:off x="5303520" y="4389120"/>
            <a:ext cx="5669280" cy="822960"/>
          </a:xfrm>
          <a:prstGeom prst="rect">
            <a:avLst/>
          </a:prstGeom>
          <a:noFill/>
          <a:ln/>
        </p:spPr>
        <p:txBody>
          <a:bodyPr wrap="square" lIns="0" tIns="0" rIns="0" bIns="0" rtlCol="0" anchor="ctr"/>
          <a:lstStyle/>
          <a:p>
            <a:pPr marL="0" indent="0">
              <a:buNone/>
            </a:pPr>
            <a:r>
              <a:rPr lang="en-US" sz="1400" b="1" dirty="0">
                <a:solidFill>
                  <a:srgbClr val="116466"/>
                </a:solidFill>
              </a:rPr>
              <a:t>Insight chính: NaiveBayes nổi bật về điểm số, nhưng RandomForest được chọn cho bước tuning vì vừa ổn định, vừa linh hoạt hơn khi triển khai và ít phụ thuộc giả định phân phối.</a:t>
            </a:r>
            <a:endParaRPr lang="en-US" sz="1400" dirty="0"/>
          </a:p>
        </p:txBody>
      </p:sp>
      <p:sp>
        <p:nvSpPr>
          <p:cNvPr id="93" name="Text 90"/>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94" name="Text 91"/>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Tối ưu siêu tham số</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Tập trung vào các mô hình có khả năng cải thiện và dễ diễn giải</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sp>
        <p:nvSpPr>
          <p:cNvPr id="6" name="Shape 4"/>
          <p:cNvSpPr/>
          <p:nvPr/>
        </p:nvSpPr>
        <p:spPr>
          <a:xfrm>
            <a:off x="658368" y="1234440"/>
            <a:ext cx="3246120" cy="1783080"/>
          </a:xfrm>
          <a:prstGeom prst="roundRect">
            <a:avLst/>
          </a:prstGeom>
          <a:solidFill>
            <a:srgbClr val="F4F7F7"/>
          </a:solidFill>
          <a:ln w="12700">
            <a:solidFill>
              <a:srgbClr val="D7E1E3"/>
            </a:solidFill>
            <a:prstDash val="solid"/>
          </a:ln>
        </p:spPr>
        <p:txBody>
          <a:bodyPr/>
          <a:lstStyle/>
          <a:p>
            <a:endParaRPr lang="en-US"/>
          </a:p>
        </p:txBody>
      </p:sp>
      <p:sp>
        <p:nvSpPr>
          <p:cNvPr id="7" name="Text 5"/>
          <p:cNvSpPr/>
          <p:nvPr/>
        </p:nvSpPr>
        <p:spPr>
          <a:xfrm>
            <a:off x="868680" y="1417320"/>
            <a:ext cx="2011680" cy="182880"/>
          </a:xfrm>
          <a:prstGeom prst="rect">
            <a:avLst/>
          </a:prstGeom>
          <a:noFill/>
          <a:ln/>
        </p:spPr>
        <p:txBody>
          <a:bodyPr wrap="square" lIns="0" tIns="0" rIns="0" bIns="0" rtlCol="0" anchor="ctr"/>
          <a:lstStyle/>
          <a:p>
            <a:pPr marL="0" indent="0">
              <a:buNone/>
            </a:pPr>
            <a:r>
              <a:rPr lang="en-US" sz="1650" b="1" dirty="0">
                <a:solidFill>
                  <a:srgbClr val="183B4E"/>
                </a:solidFill>
              </a:rPr>
              <a:t>Kỹ thuật tuning đã thử</a:t>
            </a:r>
            <a:endParaRPr lang="en-US" sz="1650" dirty="0"/>
          </a:p>
        </p:txBody>
      </p:sp>
      <p:sp>
        <p:nvSpPr>
          <p:cNvPr id="8" name="Shape 6"/>
          <p:cNvSpPr/>
          <p:nvPr/>
        </p:nvSpPr>
        <p:spPr>
          <a:xfrm>
            <a:off x="868680" y="1856232"/>
            <a:ext cx="73152" cy="73152"/>
          </a:xfrm>
          <a:prstGeom prst="ellipse">
            <a:avLst/>
          </a:prstGeom>
          <a:solidFill>
            <a:srgbClr val="2BAE9B"/>
          </a:solidFill>
          <a:ln w="12700">
            <a:solidFill>
              <a:srgbClr val="2BAE9B"/>
            </a:solidFill>
            <a:prstDash val="solid"/>
          </a:ln>
        </p:spPr>
        <p:txBody>
          <a:bodyPr/>
          <a:lstStyle/>
          <a:p>
            <a:endParaRPr lang="en-US"/>
          </a:p>
        </p:txBody>
      </p:sp>
      <p:sp>
        <p:nvSpPr>
          <p:cNvPr id="9" name="Text 7"/>
          <p:cNvSpPr/>
          <p:nvPr/>
        </p:nvSpPr>
        <p:spPr>
          <a:xfrm>
            <a:off x="1014984" y="1764792"/>
            <a:ext cx="269748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GridSearchCV cho Random Forest</a:t>
            </a:r>
            <a:endParaRPr lang="en-US" sz="1280" dirty="0"/>
          </a:p>
        </p:txBody>
      </p:sp>
      <p:sp>
        <p:nvSpPr>
          <p:cNvPr id="10" name="Shape 8"/>
          <p:cNvSpPr/>
          <p:nvPr/>
        </p:nvSpPr>
        <p:spPr>
          <a:xfrm>
            <a:off x="868680" y="2112264"/>
            <a:ext cx="73152" cy="73152"/>
          </a:xfrm>
          <a:prstGeom prst="ellipse">
            <a:avLst/>
          </a:prstGeom>
          <a:solidFill>
            <a:srgbClr val="2BAE9B"/>
          </a:solidFill>
          <a:ln w="12700">
            <a:solidFill>
              <a:srgbClr val="2BAE9B"/>
            </a:solidFill>
            <a:prstDash val="solid"/>
          </a:ln>
        </p:spPr>
        <p:txBody>
          <a:bodyPr/>
          <a:lstStyle/>
          <a:p>
            <a:endParaRPr lang="en-US"/>
          </a:p>
        </p:txBody>
      </p:sp>
      <p:sp>
        <p:nvSpPr>
          <p:cNvPr id="11" name="Text 9"/>
          <p:cNvSpPr/>
          <p:nvPr/>
        </p:nvSpPr>
        <p:spPr>
          <a:xfrm>
            <a:off x="1014984" y="2020824"/>
            <a:ext cx="269748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GridSearchCV cho SVM</a:t>
            </a:r>
            <a:endParaRPr lang="en-US" sz="1280" dirty="0"/>
          </a:p>
        </p:txBody>
      </p:sp>
      <p:sp>
        <p:nvSpPr>
          <p:cNvPr id="12" name="Shape 10"/>
          <p:cNvSpPr/>
          <p:nvPr/>
        </p:nvSpPr>
        <p:spPr>
          <a:xfrm>
            <a:off x="868680" y="2368296"/>
            <a:ext cx="73152" cy="73152"/>
          </a:xfrm>
          <a:prstGeom prst="ellipse">
            <a:avLst/>
          </a:prstGeom>
          <a:solidFill>
            <a:srgbClr val="2BAE9B"/>
          </a:solidFill>
          <a:ln w="12700">
            <a:solidFill>
              <a:srgbClr val="2BAE9B"/>
            </a:solidFill>
            <a:prstDash val="solid"/>
          </a:ln>
        </p:spPr>
        <p:txBody>
          <a:bodyPr/>
          <a:lstStyle/>
          <a:p>
            <a:endParaRPr lang="en-US"/>
          </a:p>
        </p:txBody>
      </p:sp>
      <p:sp>
        <p:nvSpPr>
          <p:cNvPr id="13" name="Text 11"/>
          <p:cNvSpPr/>
          <p:nvPr/>
        </p:nvSpPr>
        <p:spPr>
          <a:xfrm>
            <a:off x="1014984" y="2276856"/>
            <a:ext cx="269748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GridSearchCV cho kNN</a:t>
            </a:r>
            <a:endParaRPr lang="en-US" sz="1280" dirty="0"/>
          </a:p>
        </p:txBody>
      </p:sp>
      <p:sp>
        <p:nvSpPr>
          <p:cNvPr id="14" name="Shape 12"/>
          <p:cNvSpPr/>
          <p:nvPr/>
        </p:nvSpPr>
        <p:spPr>
          <a:xfrm>
            <a:off x="868680" y="2624328"/>
            <a:ext cx="73152" cy="73152"/>
          </a:xfrm>
          <a:prstGeom prst="ellipse">
            <a:avLst/>
          </a:prstGeom>
          <a:solidFill>
            <a:srgbClr val="2BAE9B"/>
          </a:solidFill>
          <a:ln w="12700">
            <a:solidFill>
              <a:srgbClr val="2BAE9B"/>
            </a:solidFill>
            <a:prstDash val="solid"/>
          </a:ln>
        </p:spPr>
        <p:txBody>
          <a:bodyPr/>
          <a:lstStyle/>
          <a:p>
            <a:endParaRPr lang="en-US"/>
          </a:p>
        </p:txBody>
      </p:sp>
      <p:sp>
        <p:nvSpPr>
          <p:cNvPr id="15" name="Text 13"/>
          <p:cNvSpPr/>
          <p:nvPr/>
        </p:nvSpPr>
        <p:spPr>
          <a:xfrm>
            <a:off x="1014984" y="2532888"/>
            <a:ext cx="269748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RandomForest + class_weight='balanced'</a:t>
            </a:r>
            <a:endParaRPr lang="en-US" sz="1280" dirty="0"/>
          </a:p>
        </p:txBody>
      </p:sp>
      <p:sp>
        <p:nvSpPr>
          <p:cNvPr id="16" name="Shape 14"/>
          <p:cNvSpPr/>
          <p:nvPr/>
        </p:nvSpPr>
        <p:spPr>
          <a:xfrm>
            <a:off x="868680" y="2880360"/>
            <a:ext cx="73152" cy="73152"/>
          </a:xfrm>
          <a:prstGeom prst="ellipse">
            <a:avLst/>
          </a:prstGeom>
          <a:solidFill>
            <a:srgbClr val="2BAE9B"/>
          </a:solidFill>
          <a:ln w="12700">
            <a:solidFill>
              <a:srgbClr val="2BAE9B"/>
            </a:solidFill>
            <a:prstDash val="solid"/>
          </a:ln>
        </p:spPr>
        <p:txBody>
          <a:bodyPr/>
          <a:lstStyle/>
          <a:p>
            <a:endParaRPr lang="en-US"/>
          </a:p>
        </p:txBody>
      </p:sp>
      <p:sp>
        <p:nvSpPr>
          <p:cNvPr id="17" name="Text 15"/>
          <p:cNvSpPr/>
          <p:nvPr/>
        </p:nvSpPr>
        <p:spPr>
          <a:xfrm>
            <a:off x="1014984" y="2788920"/>
            <a:ext cx="269748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Stacking ensemble (RF + SVM + kNN)</a:t>
            </a:r>
            <a:endParaRPr lang="en-US" sz="1280" dirty="0"/>
          </a:p>
        </p:txBody>
      </p:sp>
      <p:sp>
        <p:nvSpPr>
          <p:cNvPr id="18" name="Shape 16"/>
          <p:cNvSpPr/>
          <p:nvPr/>
        </p:nvSpPr>
        <p:spPr>
          <a:xfrm>
            <a:off x="4160520" y="1234440"/>
            <a:ext cx="2926080" cy="1783080"/>
          </a:xfrm>
          <a:prstGeom prst="roundRect">
            <a:avLst/>
          </a:prstGeom>
          <a:solidFill>
            <a:srgbClr val="F4F7F7"/>
          </a:solidFill>
          <a:ln w="12700">
            <a:solidFill>
              <a:srgbClr val="D7E1E3"/>
            </a:solidFill>
            <a:prstDash val="solid"/>
          </a:ln>
        </p:spPr>
        <p:txBody>
          <a:bodyPr/>
          <a:lstStyle/>
          <a:p>
            <a:endParaRPr lang="en-US"/>
          </a:p>
        </p:txBody>
      </p:sp>
      <p:sp>
        <p:nvSpPr>
          <p:cNvPr id="19" name="Text 17"/>
          <p:cNvSpPr/>
          <p:nvPr/>
        </p:nvSpPr>
        <p:spPr>
          <a:xfrm>
            <a:off x="4389120" y="1417320"/>
            <a:ext cx="1645920" cy="182880"/>
          </a:xfrm>
          <a:prstGeom prst="rect">
            <a:avLst/>
          </a:prstGeom>
          <a:noFill/>
          <a:ln/>
        </p:spPr>
        <p:txBody>
          <a:bodyPr wrap="square" lIns="0" tIns="0" rIns="0" bIns="0" rtlCol="0" anchor="ctr"/>
          <a:lstStyle/>
          <a:p>
            <a:pPr marL="0" indent="0">
              <a:buNone/>
            </a:pPr>
            <a:r>
              <a:rPr lang="en-US" sz="1650" b="1" dirty="0">
                <a:solidFill>
                  <a:srgbClr val="183B4E"/>
                </a:solidFill>
              </a:rPr>
              <a:t>Kết quả ngắn gọn</a:t>
            </a:r>
            <a:endParaRPr lang="en-US" sz="1650" dirty="0"/>
          </a:p>
        </p:txBody>
      </p:sp>
      <p:sp>
        <p:nvSpPr>
          <p:cNvPr id="20" name="Shape 18"/>
          <p:cNvSpPr/>
          <p:nvPr/>
        </p:nvSpPr>
        <p:spPr>
          <a:xfrm>
            <a:off x="4389120" y="1856232"/>
            <a:ext cx="73152" cy="73152"/>
          </a:xfrm>
          <a:prstGeom prst="ellipse">
            <a:avLst/>
          </a:prstGeom>
          <a:solidFill>
            <a:srgbClr val="2BAE9B"/>
          </a:solidFill>
          <a:ln w="12700">
            <a:solidFill>
              <a:srgbClr val="2BAE9B"/>
            </a:solidFill>
            <a:prstDash val="solid"/>
          </a:ln>
        </p:spPr>
        <p:txBody>
          <a:bodyPr/>
          <a:lstStyle/>
          <a:p>
            <a:endParaRPr lang="en-US"/>
          </a:p>
        </p:txBody>
      </p:sp>
      <p:sp>
        <p:nvSpPr>
          <p:cNvPr id="21" name="Text 19"/>
          <p:cNvSpPr/>
          <p:nvPr/>
        </p:nvSpPr>
        <p:spPr>
          <a:xfrm>
            <a:off x="4535424" y="1764792"/>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RF GridSearch: Accuracy/F1 = 0.98</a:t>
            </a:r>
            <a:endParaRPr lang="en-US" sz="1280" dirty="0"/>
          </a:p>
        </p:txBody>
      </p:sp>
      <p:sp>
        <p:nvSpPr>
          <p:cNvPr id="22" name="Shape 20"/>
          <p:cNvSpPr/>
          <p:nvPr/>
        </p:nvSpPr>
        <p:spPr>
          <a:xfrm>
            <a:off x="4389120" y="2112264"/>
            <a:ext cx="73152" cy="73152"/>
          </a:xfrm>
          <a:prstGeom prst="ellipse">
            <a:avLst/>
          </a:prstGeom>
          <a:solidFill>
            <a:srgbClr val="2BAE9B"/>
          </a:solidFill>
          <a:ln w="12700">
            <a:solidFill>
              <a:srgbClr val="2BAE9B"/>
            </a:solidFill>
            <a:prstDash val="solid"/>
          </a:ln>
        </p:spPr>
        <p:txBody>
          <a:bodyPr/>
          <a:lstStyle/>
          <a:p>
            <a:endParaRPr lang="en-US"/>
          </a:p>
        </p:txBody>
      </p:sp>
      <p:sp>
        <p:nvSpPr>
          <p:cNvPr id="23" name="Text 21"/>
          <p:cNvSpPr/>
          <p:nvPr/>
        </p:nvSpPr>
        <p:spPr>
          <a:xfrm>
            <a:off x="4535424" y="2020824"/>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SVM GridSearch: F1 = 0.97</a:t>
            </a:r>
            <a:endParaRPr lang="en-US" sz="1280" dirty="0"/>
          </a:p>
        </p:txBody>
      </p:sp>
      <p:sp>
        <p:nvSpPr>
          <p:cNvPr id="24" name="Shape 22"/>
          <p:cNvSpPr/>
          <p:nvPr/>
        </p:nvSpPr>
        <p:spPr>
          <a:xfrm>
            <a:off x="4389120" y="2368296"/>
            <a:ext cx="73152" cy="73152"/>
          </a:xfrm>
          <a:prstGeom prst="ellipse">
            <a:avLst/>
          </a:prstGeom>
          <a:solidFill>
            <a:srgbClr val="2BAE9B"/>
          </a:solidFill>
          <a:ln w="12700">
            <a:solidFill>
              <a:srgbClr val="2BAE9B"/>
            </a:solidFill>
            <a:prstDash val="solid"/>
          </a:ln>
        </p:spPr>
        <p:txBody>
          <a:bodyPr/>
          <a:lstStyle/>
          <a:p>
            <a:endParaRPr lang="en-US"/>
          </a:p>
        </p:txBody>
      </p:sp>
      <p:sp>
        <p:nvSpPr>
          <p:cNvPr id="25" name="Text 23"/>
          <p:cNvSpPr/>
          <p:nvPr/>
        </p:nvSpPr>
        <p:spPr>
          <a:xfrm>
            <a:off x="4535424" y="2276856"/>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kNN GridSearch: F1 = 0.95</a:t>
            </a:r>
            <a:endParaRPr lang="en-US" sz="1280" dirty="0"/>
          </a:p>
        </p:txBody>
      </p:sp>
      <p:sp>
        <p:nvSpPr>
          <p:cNvPr id="26" name="Shape 24"/>
          <p:cNvSpPr/>
          <p:nvPr/>
        </p:nvSpPr>
        <p:spPr>
          <a:xfrm>
            <a:off x="4389120" y="2624328"/>
            <a:ext cx="73152" cy="73152"/>
          </a:xfrm>
          <a:prstGeom prst="ellipse">
            <a:avLst/>
          </a:prstGeom>
          <a:solidFill>
            <a:srgbClr val="2BAE9B"/>
          </a:solidFill>
          <a:ln w="12700">
            <a:solidFill>
              <a:srgbClr val="2BAE9B"/>
            </a:solidFill>
            <a:prstDash val="solid"/>
          </a:ln>
        </p:spPr>
        <p:txBody>
          <a:bodyPr/>
          <a:lstStyle/>
          <a:p>
            <a:endParaRPr lang="en-US"/>
          </a:p>
        </p:txBody>
      </p:sp>
      <p:sp>
        <p:nvSpPr>
          <p:cNvPr id="27" name="Text 25"/>
          <p:cNvSpPr/>
          <p:nvPr/>
        </p:nvSpPr>
        <p:spPr>
          <a:xfrm>
            <a:off x="4535424" y="2532888"/>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RF balanced bị giảm hiệu năng</a:t>
            </a:r>
            <a:endParaRPr lang="en-US" sz="1280" dirty="0"/>
          </a:p>
        </p:txBody>
      </p:sp>
      <p:sp>
        <p:nvSpPr>
          <p:cNvPr id="28" name="Shape 26"/>
          <p:cNvSpPr/>
          <p:nvPr/>
        </p:nvSpPr>
        <p:spPr>
          <a:xfrm>
            <a:off x="4389120" y="2880360"/>
            <a:ext cx="73152" cy="73152"/>
          </a:xfrm>
          <a:prstGeom prst="ellipse">
            <a:avLst/>
          </a:prstGeom>
          <a:solidFill>
            <a:srgbClr val="2BAE9B"/>
          </a:solidFill>
          <a:ln w="12700">
            <a:solidFill>
              <a:srgbClr val="2BAE9B"/>
            </a:solidFill>
            <a:prstDash val="solid"/>
          </a:ln>
        </p:spPr>
        <p:txBody>
          <a:bodyPr/>
          <a:lstStyle/>
          <a:p>
            <a:endParaRPr lang="en-US"/>
          </a:p>
        </p:txBody>
      </p:sp>
      <p:sp>
        <p:nvSpPr>
          <p:cNvPr id="29" name="Text 27"/>
          <p:cNvSpPr/>
          <p:nvPr/>
        </p:nvSpPr>
        <p:spPr>
          <a:xfrm>
            <a:off x="4535424" y="2788920"/>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Stacking đạt ngang RF tuned</a:t>
            </a:r>
            <a:endParaRPr lang="en-US" sz="1280" dirty="0"/>
          </a:p>
        </p:txBody>
      </p:sp>
      <p:pic>
        <p:nvPicPr>
          <p:cNvPr id="30" name="Image 0" descr="/mnt/data/docx_extract/word/media/image5.png"/>
          <p:cNvPicPr>
            <a:picLocks noChangeAspect="1"/>
          </p:cNvPicPr>
          <p:nvPr/>
        </p:nvPicPr>
        <p:blipFill>
          <a:blip r:embed="rId3"/>
          <a:stretch>
            <a:fillRect/>
          </a:stretch>
        </p:blipFill>
        <p:spPr>
          <a:xfrm>
            <a:off x="7315200" y="1269896"/>
            <a:ext cx="4206240" cy="2489407"/>
          </a:xfrm>
          <a:prstGeom prst="rect">
            <a:avLst/>
          </a:prstGeom>
        </p:spPr>
      </p:pic>
      <p:sp>
        <p:nvSpPr>
          <p:cNvPr id="31" name="Shape 28"/>
          <p:cNvSpPr/>
          <p:nvPr/>
        </p:nvSpPr>
        <p:spPr>
          <a:xfrm>
            <a:off x="713232" y="4251960"/>
            <a:ext cx="10808208" cy="1005840"/>
          </a:xfrm>
          <a:prstGeom prst="roundRect">
            <a:avLst/>
          </a:prstGeom>
          <a:solidFill>
            <a:srgbClr val="EFF6F6"/>
          </a:solidFill>
          <a:ln w="12700">
            <a:solidFill>
              <a:srgbClr val="DDECEC"/>
            </a:solidFill>
            <a:prstDash val="solid"/>
          </a:ln>
        </p:spPr>
        <p:txBody>
          <a:bodyPr/>
          <a:lstStyle/>
          <a:p>
            <a:endParaRPr lang="en-US"/>
          </a:p>
        </p:txBody>
      </p:sp>
      <p:sp>
        <p:nvSpPr>
          <p:cNvPr id="32" name="Text 29"/>
          <p:cNvSpPr/>
          <p:nvPr/>
        </p:nvSpPr>
        <p:spPr>
          <a:xfrm>
            <a:off x="914400" y="4572000"/>
            <a:ext cx="10424160" cy="411480"/>
          </a:xfrm>
          <a:prstGeom prst="rect">
            <a:avLst/>
          </a:prstGeom>
          <a:noFill/>
          <a:ln/>
        </p:spPr>
        <p:txBody>
          <a:bodyPr wrap="square" lIns="0" tIns="0" rIns="0" bIns="0" rtlCol="0" anchor="ctr"/>
          <a:lstStyle/>
          <a:p>
            <a:pPr marL="0" indent="0" algn="ctr">
              <a:buNone/>
            </a:pPr>
            <a:r>
              <a:rPr lang="en-US" sz="1420" b="1" dirty="0">
                <a:solidFill>
                  <a:srgbClr val="116466"/>
                </a:solidFill>
              </a:rPr>
              <a:t>Kết luận từ tuning: dữ liệu đã có mức phân tách cao nên việc tối ưu không tạo “bước nhảy” lớn về điểm số; giá trị lớn nhất của tuning ở đây là xác nhận tính bền vững của mô hình.</a:t>
            </a:r>
            <a:endParaRPr lang="en-US" sz="1420" dirty="0"/>
          </a:p>
        </p:txBody>
      </p:sp>
      <p:sp>
        <p:nvSpPr>
          <p:cNvPr id="33" name="Text 30"/>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34" name="Text 31"/>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Mô hình cuối cùng và kiểm thử</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Random Forest tuned được chọn làm mô hình final</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sp>
        <p:nvSpPr>
          <p:cNvPr id="6" name="Shape 4"/>
          <p:cNvSpPr/>
          <p:nvPr/>
        </p:nvSpPr>
        <p:spPr>
          <a:xfrm>
            <a:off x="749808" y="1078992"/>
            <a:ext cx="155448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7" name="Text 5"/>
          <p:cNvSpPr/>
          <p:nvPr/>
        </p:nvSpPr>
        <p:spPr>
          <a:xfrm>
            <a:off x="822960" y="1179576"/>
            <a:ext cx="14081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0.9846</a:t>
            </a:r>
            <a:endParaRPr lang="en-US" sz="1800" dirty="0"/>
          </a:p>
        </p:txBody>
      </p:sp>
      <p:sp>
        <p:nvSpPr>
          <p:cNvPr id="8" name="Text 6"/>
          <p:cNvSpPr/>
          <p:nvPr/>
        </p:nvSpPr>
        <p:spPr>
          <a:xfrm>
            <a:off x="822960" y="1435608"/>
            <a:ext cx="14081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Accuracy</a:t>
            </a:r>
            <a:endParaRPr lang="en-US" sz="850" dirty="0"/>
          </a:p>
        </p:txBody>
      </p:sp>
      <p:sp>
        <p:nvSpPr>
          <p:cNvPr id="9" name="Shape 7"/>
          <p:cNvSpPr/>
          <p:nvPr/>
        </p:nvSpPr>
        <p:spPr>
          <a:xfrm>
            <a:off x="2487168" y="1078992"/>
            <a:ext cx="155448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10" name="Text 8"/>
          <p:cNvSpPr/>
          <p:nvPr/>
        </p:nvSpPr>
        <p:spPr>
          <a:xfrm>
            <a:off x="2560320" y="1179576"/>
            <a:ext cx="14081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0.9849</a:t>
            </a:r>
            <a:endParaRPr lang="en-US" sz="1800" dirty="0"/>
          </a:p>
        </p:txBody>
      </p:sp>
      <p:sp>
        <p:nvSpPr>
          <p:cNvPr id="11" name="Text 9"/>
          <p:cNvSpPr/>
          <p:nvPr/>
        </p:nvSpPr>
        <p:spPr>
          <a:xfrm>
            <a:off x="2560320" y="1435608"/>
            <a:ext cx="14081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Precision</a:t>
            </a:r>
            <a:endParaRPr lang="en-US" sz="850" dirty="0"/>
          </a:p>
        </p:txBody>
      </p:sp>
      <p:sp>
        <p:nvSpPr>
          <p:cNvPr id="12" name="Shape 10"/>
          <p:cNvSpPr/>
          <p:nvPr/>
        </p:nvSpPr>
        <p:spPr>
          <a:xfrm>
            <a:off x="4224528" y="1078992"/>
            <a:ext cx="155448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13" name="Text 11"/>
          <p:cNvSpPr/>
          <p:nvPr/>
        </p:nvSpPr>
        <p:spPr>
          <a:xfrm>
            <a:off x="4297680" y="1179576"/>
            <a:ext cx="14081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0.9846</a:t>
            </a:r>
            <a:endParaRPr lang="en-US" sz="1800" dirty="0"/>
          </a:p>
        </p:txBody>
      </p:sp>
      <p:sp>
        <p:nvSpPr>
          <p:cNvPr id="14" name="Text 12"/>
          <p:cNvSpPr/>
          <p:nvPr/>
        </p:nvSpPr>
        <p:spPr>
          <a:xfrm>
            <a:off x="4297680" y="1435608"/>
            <a:ext cx="14081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Recall</a:t>
            </a:r>
            <a:endParaRPr lang="en-US" sz="850" dirty="0"/>
          </a:p>
        </p:txBody>
      </p:sp>
      <p:sp>
        <p:nvSpPr>
          <p:cNvPr id="15" name="Shape 13"/>
          <p:cNvSpPr/>
          <p:nvPr/>
        </p:nvSpPr>
        <p:spPr>
          <a:xfrm>
            <a:off x="5961888" y="1078992"/>
            <a:ext cx="155448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16" name="Text 14"/>
          <p:cNvSpPr/>
          <p:nvPr/>
        </p:nvSpPr>
        <p:spPr>
          <a:xfrm>
            <a:off x="6035040" y="1179576"/>
            <a:ext cx="14081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0.9843</a:t>
            </a:r>
            <a:endParaRPr lang="en-US" sz="1800" dirty="0"/>
          </a:p>
        </p:txBody>
      </p:sp>
      <p:sp>
        <p:nvSpPr>
          <p:cNvPr id="17" name="Text 15"/>
          <p:cNvSpPr/>
          <p:nvPr/>
        </p:nvSpPr>
        <p:spPr>
          <a:xfrm>
            <a:off x="6035040" y="1435608"/>
            <a:ext cx="14081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Weighted F1</a:t>
            </a:r>
            <a:endParaRPr lang="en-US" sz="850" dirty="0"/>
          </a:p>
        </p:txBody>
      </p:sp>
      <p:sp>
        <p:nvSpPr>
          <p:cNvPr id="18" name="Shape 16"/>
          <p:cNvSpPr/>
          <p:nvPr/>
        </p:nvSpPr>
        <p:spPr>
          <a:xfrm>
            <a:off x="7699248" y="1078992"/>
            <a:ext cx="1554480" cy="713232"/>
          </a:xfrm>
          <a:prstGeom prst="roundRect">
            <a:avLst>
              <a:gd name="adj" fmla="val 10256"/>
            </a:avLst>
          </a:prstGeom>
          <a:solidFill>
            <a:srgbClr val="EFF6F6"/>
          </a:solidFill>
          <a:ln w="12700">
            <a:solidFill>
              <a:srgbClr val="D7E6E6"/>
            </a:solidFill>
            <a:prstDash val="solid"/>
          </a:ln>
        </p:spPr>
        <p:txBody>
          <a:bodyPr/>
          <a:lstStyle/>
          <a:p>
            <a:endParaRPr lang="en-US"/>
          </a:p>
        </p:txBody>
      </p:sp>
      <p:sp>
        <p:nvSpPr>
          <p:cNvPr id="19" name="Text 17"/>
          <p:cNvSpPr/>
          <p:nvPr/>
        </p:nvSpPr>
        <p:spPr>
          <a:xfrm>
            <a:off x="7772400" y="1179576"/>
            <a:ext cx="1408176" cy="201168"/>
          </a:xfrm>
          <a:prstGeom prst="rect">
            <a:avLst/>
          </a:prstGeom>
          <a:noFill/>
          <a:ln/>
        </p:spPr>
        <p:txBody>
          <a:bodyPr wrap="square" rtlCol="0" anchor="ctr"/>
          <a:lstStyle/>
          <a:p>
            <a:pPr marL="0" indent="0" algn="ctr">
              <a:buNone/>
            </a:pPr>
            <a:r>
              <a:rPr lang="en-US" sz="1800" b="1" dirty="0">
                <a:solidFill>
                  <a:srgbClr val="116466"/>
                </a:solidFill>
                <a:latin typeface="Arial" pitchFamily="34" charset="0"/>
                <a:ea typeface="Arial" pitchFamily="34" charset="-122"/>
                <a:cs typeface="Arial" pitchFamily="34" charset="-120"/>
              </a:rPr>
              <a:t>≈ 1.00</a:t>
            </a:r>
            <a:endParaRPr lang="en-US" sz="1800" dirty="0"/>
          </a:p>
        </p:txBody>
      </p:sp>
      <p:sp>
        <p:nvSpPr>
          <p:cNvPr id="20" name="Text 18"/>
          <p:cNvSpPr/>
          <p:nvPr/>
        </p:nvSpPr>
        <p:spPr>
          <a:xfrm>
            <a:off x="7772400" y="1435608"/>
            <a:ext cx="1408176" cy="146304"/>
          </a:xfrm>
          <a:prstGeom prst="rect">
            <a:avLst/>
          </a:prstGeom>
          <a:noFill/>
          <a:ln/>
        </p:spPr>
        <p:txBody>
          <a:bodyPr wrap="square" rtlCol="0" anchor="ctr"/>
          <a:lstStyle/>
          <a:p>
            <a:pPr marL="0" indent="0" algn="ctr">
              <a:buNone/>
            </a:pPr>
            <a:r>
              <a:rPr lang="en-US" sz="850" dirty="0">
                <a:solidFill>
                  <a:srgbClr val="5F6B6D"/>
                </a:solidFill>
                <a:latin typeface="Arial" pitchFamily="34" charset="0"/>
                <a:ea typeface="Arial" pitchFamily="34" charset="-122"/>
                <a:cs typeface="Arial" pitchFamily="34" charset="-120"/>
              </a:rPr>
              <a:t>OvR AUC</a:t>
            </a:r>
            <a:endParaRPr lang="en-US" sz="850" dirty="0"/>
          </a:p>
        </p:txBody>
      </p:sp>
      <p:pic>
        <p:nvPicPr>
          <p:cNvPr id="21" name="Image 0" descr="/mnt/data/docx_extract/word/media/image6.png"/>
          <p:cNvPicPr>
            <a:picLocks noChangeAspect="1"/>
          </p:cNvPicPr>
          <p:nvPr/>
        </p:nvPicPr>
        <p:blipFill>
          <a:blip r:embed="rId3"/>
          <a:stretch>
            <a:fillRect/>
          </a:stretch>
        </p:blipFill>
        <p:spPr>
          <a:xfrm>
            <a:off x="1117527" y="2011680"/>
            <a:ext cx="3479945" cy="3291840"/>
          </a:xfrm>
          <a:prstGeom prst="rect">
            <a:avLst/>
          </a:prstGeom>
        </p:spPr>
      </p:pic>
      <p:pic>
        <p:nvPicPr>
          <p:cNvPr id="22" name="Image 1" descr="/mnt/data/docx_extract/word/media/image7.png"/>
          <p:cNvPicPr>
            <a:picLocks noChangeAspect="1"/>
          </p:cNvPicPr>
          <p:nvPr/>
        </p:nvPicPr>
        <p:blipFill>
          <a:blip r:embed="rId4"/>
          <a:stretch>
            <a:fillRect/>
          </a:stretch>
        </p:blipFill>
        <p:spPr>
          <a:xfrm>
            <a:off x="5074920" y="2013684"/>
            <a:ext cx="3977640" cy="3287832"/>
          </a:xfrm>
          <a:prstGeom prst="rect">
            <a:avLst/>
          </a:prstGeom>
        </p:spPr>
      </p:pic>
      <p:sp>
        <p:nvSpPr>
          <p:cNvPr id="23" name="Text 19"/>
          <p:cNvSpPr/>
          <p:nvPr/>
        </p:nvSpPr>
        <p:spPr>
          <a:xfrm>
            <a:off x="9418320" y="2240280"/>
            <a:ext cx="1737360" cy="182880"/>
          </a:xfrm>
          <a:prstGeom prst="rect">
            <a:avLst/>
          </a:prstGeom>
          <a:noFill/>
          <a:ln/>
        </p:spPr>
        <p:txBody>
          <a:bodyPr wrap="square" lIns="0" tIns="0" rIns="0" bIns="0" rtlCol="0" anchor="ctr"/>
          <a:lstStyle/>
          <a:p>
            <a:pPr marL="0" indent="0">
              <a:buNone/>
            </a:pPr>
            <a:r>
              <a:rPr lang="en-US" sz="1700" b="1" dirty="0">
                <a:solidFill>
                  <a:srgbClr val="183B4E"/>
                </a:solidFill>
              </a:rPr>
              <a:t>Diễn giải nhanh</a:t>
            </a:r>
            <a:endParaRPr lang="en-US" sz="1700" dirty="0"/>
          </a:p>
        </p:txBody>
      </p:sp>
      <p:sp>
        <p:nvSpPr>
          <p:cNvPr id="24" name="Shape 20"/>
          <p:cNvSpPr/>
          <p:nvPr/>
        </p:nvSpPr>
        <p:spPr>
          <a:xfrm>
            <a:off x="9464040" y="2697480"/>
            <a:ext cx="73152" cy="73152"/>
          </a:xfrm>
          <a:prstGeom prst="ellipse">
            <a:avLst/>
          </a:prstGeom>
          <a:solidFill>
            <a:srgbClr val="2BAE9B"/>
          </a:solidFill>
          <a:ln w="12700">
            <a:solidFill>
              <a:srgbClr val="2BAE9B"/>
            </a:solidFill>
            <a:prstDash val="solid"/>
          </a:ln>
        </p:spPr>
        <p:txBody>
          <a:bodyPr/>
          <a:lstStyle/>
          <a:p>
            <a:endParaRPr lang="en-US"/>
          </a:p>
        </p:txBody>
      </p:sp>
      <p:sp>
        <p:nvSpPr>
          <p:cNvPr id="25" name="Text 21"/>
          <p:cNvSpPr/>
          <p:nvPr/>
        </p:nvSpPr>
        <p:spPr>
          <a:xfrm>
            <a:off x="9610344" y="2606040"/>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Dự đoán đúng toàn bộ lớp Normal và Hypo trên test set.</a:t>
            </a:r>
            <a:endParaRPr lang="en-US" sz="1280" dirty="0"/>
          </a:p>
        </p:txBody>
      </p:sp>
      <p:sp>
        <p:nvSpPr>
          <p:cNvPr id="26" name="Shape 22"/>
          <p:cNvSpPr/>
          <p:nvPr/>
        </p:nvSpPr>
        <p:spPr>
          <a:xfrm>
            <a:off x="9464040" y="3172968"/>
            <a:ext cx="73152" cy="73152"/>
          </a:xfrm>
          <a:prstGeom prst="ellipse">
            <a:avLst/>
          </a:prstGeom>
          <a:solidFill>
            <a:srgbClr val="2BAE9B"/>
          </a:solidFill>
          <a:ln w="12700">
            <a:solidFill>
              <a:srgbClr val="2BAE9B"/>
            </a:solidFill>
            <a:prstDash val="solid"/>
          </a:ln>
        </p:spPr>
        <p:txBody>
          <a:bodyPr/>
          <a:lstStyle/>
          <a:p>
            <a:endParaRPr lang="en-US"/>
          </a:p>
        </p:txBody>
      </p:sp>
      <p:sp>
        <p:nvSpPr>
          <p:cNvPr id="27" name="Text 23"/>
          <p:cNvSpPr/>
          <p:nvPr/>
        </p:nvSpPr>
        <p:spPr>
          <a:xfrm>
            <a:off x="9610344" y="3081528"/>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Chỉ nhầm 1 mẫu Hyper sang lớp Normal.</a:t>
            </a:r>
            <a:endParaRPr lang="en-US" sz="1280" dirty="0"/>
          </a:p>
        </p:txBody>
      </p:sp>
      <p:sp>
        <p:nvSpPr>
          <p:cNvPr id="28" name="Shape 24"/>
          <p:cNvSpPr/>
          <p:nvPr/>
        </p:nvSpPr>
        <p:spPr>
          <a:xfrm>
            <a:off x="9464040" y="3648456"/>
            <a:ext cx="73152" cy="73152"/>
          </a:xfrm>
          <a:prstGeom prst="ellipse">
            <a:avLst/>
          </a:prstGeom>
          <a:solidFill>
            <a:srgbClr val="2BAE9B"/>
          </a:solidFill>
          <a:ln w="12700">
            <a:solidFill>
              <a:srgbClr val="2BAE9B"/>
            </a:solidFill>
            <a:prstDash val="solid"/>
          </a:ln>
        </p:spPr>
        <p:txBody>
          <a:bodyPr/>
          <a:lstStyle/>
          <a:p>
            <a:endParaRPr lang="en-US"/>
          </a:p>
        </p:txBody>
      </p:sp>
      <p:sp>
        <p:nvSpPr>
          <p:cNvPr id="29" name="Text 25"/>
          <p:cNvSpPr/>
          <p:nvPr/>
        </p:nvSpPr>
        <p:spPr>
          <a:xfrm>
            <a:off x="9610344" y="3557016"/>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Các đường ROC áp sát góc trái trên cho cả 3 lớp.</a:t>
            </a:r>
            <a:endParaRPr lang="en-US" sz="1280" dirty="0"/>
          </a:p>
        </p:txBody>
      </p:sp>
      <p:sp>
        <p:nvSpPr>
          <p:cNvPr id="30" name="Shape 26"/>
          <p:cNvSpPr/>
          <p:nvPr/>
        </p:nvSpPr>
        <p:spPr>
          <a:xfrm>
            <a:off x="9464040" y="4123944"/>
            <a:ext cx="73152" cy="73152"/>
          </a:xfrm>
          <a:prstGeom prst="ellipse">
            <a:avLst/>
          </a:prstGeom>
          <a:solidFill>
            <a:srgbClr val="2BAE9B"/>
          </a:solidFill>
          <a:ln w="12700">
            <a:solidFill>
              <a:srgbClr val="2BAE9B"/>
            </a:solidFill>
            <a:prstDash val="solid"/>
          </a:ln>
        </p:spPr>
        <p:txBody>
          <a:bodyPr/>
          <a:lstStyle/>
          <a:p>
            <a:endParaRPr lang="en-US"/>
          </a:p>
        </p:txBody>
      </p:sp>
      <p:sp>
        <p:nvSpPr>
          <p:cNvPr id="31" name="Text 27"/>
          <p:cNvSpPr/>
          <p:nvPr/>
        </p:nvSpPr>
        <p:spPr>
          <a:xfrm>
            <a:off x="9610344" y="4032504"/>
            <a:ext cx="2331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Mô hình phù hợp nhất để lưu và triển khai trong thư mục models/tuned.</a:t>
            </a:r>
            <a:endParaRPr lang="en-US" sz="1280" dirty="0"/>
          </a:p>
        </p:txBody>
      </p:sp>
      <p:sp>
        <p:nvSpPr>
          <p:cNvPr id="32" name="Text 28"/>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33" name="Text 29"/>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16466"/>
          </a:solidFill>
          <a:ln w="12700">
            <a:solidFill>
              <a:srgbClr val="116466"/>
            </a:solidFill>
            <a:prstDash val="solid"/>
          </a:ln>
        </p:spPr>
        <p:txBody>
          <a:bodyPr/>
          <a:lstStyle/>
          <a:p>
            <a:endParaRPr lang="en-US"/>
          </a:p>
        </p:txBody>
      </p:sp>
      <p:sp>
        <p:nvSpPr>
          <p:cNvPr id="3" name="Text 1"/>
          <p:cNvSpPr/>
          <p:nvPr/>
        </p:nvSpPr>
        <p:spPr>
          <a:xfrm>
            <a:off x="438912" y="164592"/>
            <a:ext cx="6035040" cy="384048"/>
          </a:xfrm>
          <a:prstGeom prst="rect">
            <a:avLst/>
          </a:prstGeom>
          <a:noFill/>
          <a:ln/>
        </p:spPr>
        <p:txBody>
          <a:bodyPr wrap="square" lIns="0" tIns="0" rIns="0" bIns="0" rtlCol="0" anchor="ctr"/>
          <a:lstStyle/>
          <a:p>
            <a:pPr marL="0" indent="0">
              <a:buNone/>
            </a:pPr>
            <a:r>
              <a:rPr lang="en-US" sz="2400" b="1" dirty="0">
                <a:solidFill>
                  <a:srgbClr val="183B4E"/>
                </a:solidFill>
                <a:latin typeface="Arial" pitchFamily="34" charset="0"/>
                <a:ea typeface="Arial" pitchFamily="34" charset="-122"/>
                <a:cs typeface="Arial" pitchFamily="34" charset="-120"/>
              </a:rPr>
              <a:t>Kết luận và hướng phát triển</a:t>
            </a:r>
            <a:endParaRPr lang="en-US" sz="2400" dirty="0"/>
          </a:p>
        </p:txBody>
      </p:sp>
      <p:sp>
        <p:nvSpPr>
          <p:cNvPr id="4" name="Text 2"/>
          <p:cNvSpPr/>
          <p:nvPr/>
        </p:nvSpPr>
        <p:spPr>
          <a:xfrm>
            <a:off x="438912" y="548640"/>
            <a:ext cx="7498080" cy="219456"/>
          </a:xfrm>
          <a:prstGeom prst="rect">
            <a:avLst/>
          </a:prstGeom>
          <a:noFill/>
          <a:ln/>
        </p:spPr>
        <p:txBody>
          <a:bodyPr wrap="square" lIns="0" tIns="0" rIns="0" bIns="0" rtlCol="0" anchor="ctr"/>
          <a:lstStyle/>
          <a:p>
            <a:pPr marL="0" indent="0">
              <a:buNone/>
            </a:pPr>
            <a:r>
              <a:rPr lang="en-US" sz="950" i="1" dirty="0">
                <a:solidFill>
                  <a:srgbClr val="6E7E80"/>
                </a:solidFill>
                <a:latin typeface="Arial" pitchFamily="34" charset="0"/>
                <a:ea typeface="Arial" pitchFamily="34" charset="-122"/>
                <a:cs typeface="Arial" pitchFamily="34" charset="-120"/>
              </a:rPr>
              <a:t>Kết quả cuối cùng phản ánh cả hiệu năng lẫn tính đúng quy trình</a:t>
            </a:r>
            <a:endParaRPr lang="en-US" sz="950" dirty="0"/>
          </a:p>
        </p:txBody>
      </p:sp>
      <p:sp>
        <p:nvSpPr>
          <p:cNvPr id="5" name="Shape 3"/>
          <p:cNvSpPr/>
          <p:nvPr/>
        </p:nvSpPr>
        <p:spPr>
          <a:xfrm>
            <a:off x="438912" y="868680"/>
            <a:ext cx="11247120" cy="0"/>
          </a:xfrm>
          <a:prstGeom prst="line">
            <a:avLst/>
          </a:prstGeom>
          <a:noFill/>
          <a:ln w="12700">
            <a:solidFill>
              <a:srgbClr val="D8E1E3"/>
            </a:solidFill>
            <a:prstDash val="solid"/>
          </a:ln>
        </p:spPr>
        <p:txBody>
          <a:bodyPr/>
          <a:lstStyle/>
          <a:p>
            <a:endParaRPr lang="en-US"/>
          </a:p>
        </p:txBody>
      </p:sp>
      <p:sp>
        <p:nvSpPr>
          <p:cNvPr id="6" name="Text 4"/>
          <p:cNvSpPr/>
          <p:nvPr/>
        </p:nvSpPr>
        <p:spPr>
          <a:xfrm>
            <a:off x="749808" y="1078992"/>
            <a:ext cx="2194560" cy="219456"/>
          </a:xfrm>
          <a:prstGeom prst="rect">
            <a:avLst/>
          </a:prstGeom>
          <a:noFill/>
          <a:ln/>
        </p:spPr>
        <p:txBody>
          <a:bodyPr wrap="square" lIns="0" tIns="0" rIns="0" bIns="0" rtlCol="0" anchor="ctr"/>
          <a:lstStyle/>
          <a:p>
            <a:pPr marL="0" indent="0">
              <a:buNone/>
            </a:pPr>
            <a:r>
              <a:rPr lang="en-US" sz="1700" b="1" dirty="0">
                <a:solidFill>
                  <a:srgbClr val="183B4E"/>
                </a:solidFill>
              </a:rPr>
              <a:t>Ba kết luận chính</a:t>
            </a:r>
            <a:endParaRPr lang="en-US" sz="1700" dirty="0"/>
          </a:p>
        </p:txBody>
      </p:sp>
      <p:sp>
        <p:nvSpPr>
          <p:cNvPr id="7" name="Shape 5"/>
          <p:cNvSpPr/>
          <p:nvPr/>
        </p:nvSpPr>
        <p:spPr>
          <a:xfrm>
            <a:off x="749808" y="1508760"/>
            <a:ext cx="6035040" cy="713232"/>
          </a:xfrm>
          <a:prstGeom prst="roundRect">
            <a:avLst/>
          </a:prstGeom>
          <a:solidFill>
            <a:srgbClr val="F6F8F8"/>
          </a:solidFill>
          <a:ln w="12700">
            <a:solidFill>
              <a:srgbClr val="DFE7E8"/>
            </a:solidFill>
            <a:prstDash val="solid"/>
          </a:ln>
        </p:spPr>
        <p:txBody>
          <a:bodyPr/>
          <a:lstStyle/>
          <a:p>
            <a:endParaRPr lang="en-US"/>
          </a:p>
        </p:txBody>
      </p:sp>
      <p:sp>
        <p:nvSpPr>
          <p:cNvPr id="8" name="Text 6"/>
          <p:cNvSpPr/>
          <p:nvPr/>
        </p:nvSpPr>
        <p:spPr>
          <a:xfrm>
            <a:off x="950976" y="1709928"/>
            <a:ext cx="310896" cy="164592"/>
          </a:xfrm>
          <a:prstGeom prst="rect">
            <a:avLst/>
          </a:prstGeom>
          <a:noFill/>
          <a:ln/>
        </p:spPr>
        <p:txBody>
          <a:bodyPr wrap="square" lIns="0" tIns="0" rIns="0" bIns="0" rtlCol="0" anchor="ctr"/>
          <a:lstStyle/>
          <a:p>
            <a:pPr marL="0" indent="0">
              <a:buNone/>
            </a:pPr>
            <a:r>
              <a:rPr lang="en-US" sz="1200" b="1" dirty="0">
                <a:solidFill>
                  <a:srgbClr val="2BAE9B"/>
                </a:solidFill>
              </a:rPr>
              <a:t>01</a:t>
            </a:r>
            <a:endParaRPr lang="en-US" sz="1200" dirty="0"/>
          </a:p>
        </p:txBody>
      </p:sp>
      <p:sp>
        <p:nvSpPr>
          <p:cNvPr id="9" name="Text 7"/>
          <p:cNvSpPr/>
          <p:nvPr/>
        </p:nvSpPr>
        <p:spPr>
          <a:xfrm>
            <a:off x="1389888" y="1618488"/>
            <a:ext cx="3474720" cy="182880"/>
          </a:xfrm>
          <a:prstGeom prst="rect">
            <a:avLst/>
          </a:prstGeom>
          <a:noFill/>
          <a:ln/>
        </p:spPr>
        <p:txBody>
          <a:bodyPr wrap="square" lIns="0" tIns="0" rIns="0" bIns="0" rtlCol="0" anchor="ctr"/>
          <a:lstStyle/>
          <a:p>
            <a:pPr marL="0" indent="0">
              <a:buNone/>
            </a:pPr>
            <a:r>
              <a:rPr lang="en-US" sz="1420" b="1" dirty="0">
                <a:solidFill>
                  <a:srgbClr val="183B4E"/>
                </a:solidFill>
              </a:rPr>
              <a:t>Bộ dữ liệu sạch và có khả năng phân tách cao</a:t>
            </a:r>
            <a:endParaRPr lang="en-US" sz="1420" dirty="0"/>
          </a:p>
        </p:txBody>
      </p:sp>
      <p:sp>
        <p:nvSpPr>
          <p:cNvPr id="10" name="Text 8"/>
          <p:cNvSpPr/>
          <p:nvPr/>
        </p:nvSpPr>
        <p:spPr>
          <a:xfrm>
            <a:off x="1389888" y="1856232"/>
            <a:ext cx="5029200" cy="201168"/>
          </a:xfrm>
          <a:prstGeom prst="rect">
            <a:avLst/>
          </a:prstGeom>
          <a:noFill/>
          <a:ln/>
        </p:spPr>
        <p:txBody>
          <a:bodyPr wrap="square" lIns="0" tIns="0" rIns="0" bIns="0" rtlCol="0" anchor="ctr"/>
          <a:lstStyle/>
          <a:p>
            <a:pPr marL="0" indent="0">
              <a:buNone/>
            </a:pPr>
            <a:r>
              <a:rPr lang="en-US" sz="1180" dirty="0">
                <a:solidFill>
                  <a:srgbClr val="5F6B6D"/>
                </a:solidFill>
              </a:rPr>
              <a:t>Không có missing values, kích thước nhỏ nhưng hợp lý cho mô hình cổ điển.</a:t>
            </a:r>
            <a:endParaRPr lang="en-US" sz="1180" dirty="0"/>
          </a:p>
        </p:txBody>
      </p:sp>
      <p:sp>
        <p:nvSpPr>
          <p:cNvPr id="11" name="Shape 9"/>
          <p:cNvSpPr/>
          <p:nvPr/>
        </p:nvSpPr>
        <p:spPr>
          <a:xfrm>
            <a:off x="749808" y="2468880"/>
            <a:ext cx="6035040" cy="713232"/>
          </a:xfrm>
          <a:prstGeom prst="roundRect">
            <a:avLst/>
          </a:prstGeom>
          <a:solidFill>
            <a:srgbClr val="F6F8F8"/>
          </a:solidFill>
          <a:ln w="12700">
            <a:solidFill>
              <a:srgbClr val="DFE7E8"/>
            </a:solidFill>
            <a:prstDash val="solid"/>
          </a:ln>
        </p:spPr>
        <p:txBody>
          <a:bodyPr/>
          <a:lstStyle/>
          <a:p>
            <a:endParaRPr lang="en-US"/>
          </a:p>
        </p:txBody>
      </p:sp>
      <p:sp>
        <p:nvSpPr>
          <p:cNvPr id="12" name="Text 10"/>
          <p:cNvSpPr/>
          <p:nvPr/>
        </p:nvSpPr>
        <p:spPr>
          <a:xfrm>
            <a:off x="950976" y="2670048"/>
            <a:ext cx="310896" cy="164592"/>
          </a:xfrm>
          <a:prstGeom prst="rect">
            <a:avLst/>
          </a:prstGeom>
          <a:noFill/>
          <a:ln/>
        </p:spPr>
        <p:txBody>
          <a:bodyPr wrap="square" lIns="0" tIns="0" rIns="0" bIns="0" rtlCol="0" anchor="ctr"/>
          <a:lstStyle/>
          <a:p>
            <a:pPr marL="0" indent="0">
              <a:buNone/>
            </a:pPr>
            <a:r>
              <a:rPr lang="en-US" sz="1200" b="1" dirty="0">
                <a:solidFill>
                  <a:srgbClr val="2BAE9B"/>
                </a:solidFill>
              </a:rPr>
              <a:t>02</a:t>
            </a:r>
            <a:endParaRPr lang="en-US" sz="1200" dirty="0"/>
          </a:p>
        </p:txBody>
      </p:sp>
      <p:sp>
        <p:nvSpPr>
          <p:cNvPr id="13" name="Text 11"/>
          <p:cNvSpPr/>
          <p:nvPr/>
        </p:nvSpPr>
        <p:spPr>
          <a:xfrm>
            <a:off x="1389888" y="2578608"/>
            <a:ext cx="3474720" cy="182880"/>
          </a:xfrm>
          <a:prstGeom prst="rect">
            <a:avLst/>
          </a:prstGeom>
          <a:noFill/>
          <a:ln/>
        </p:spPr>
        <p:txBody>
          <a:bodyPr wrap="square" lIns="0" tIns="0" rIns="0" bIns="0" rtlCol="0" anchor="ctr"/>
          <a:lstStyle/>
          <a:p>
            <a:pPr marL="0" indent="0">
              <a:buNone/>
            </a:pPr>
            <a:r>
              <a:rPr lang="en-US" sz="1420" b="1" dirty="0">
                <a:solidFill>
                  <a:srgbClr val="183B4E"/>
                </a:solidFill>
              </a:rPr>
              <a:t>Random Forest tuned là lựa chọn cân bằng</a:t>
            </a:r>
            <a:endParaRPr lang="en-US" sz="1420" dirty="0"/>
          </a:p>
        </p:txBody>
      </p:sp>
      <p:sp>
        <p:nvSpPr>
          <p:cNvPr id="14" name="Text 12"/>
          <p:cNvSpPr/>
          <p:nvPr/>
        </p:nvSpPr>
        <p:spPr>
          <a:xfrm>
            <a:off x="1389888" y="2816352"/>
            <a:ext cx="5029200" cy="201168"/>
          </a:xfrm>
          <a:prstGeom prst="rect">
            <a:avLst/>
          </a:prstGeom>
          <a:noFill/>
          <a:ln/>
        </p:spPr>
        <p:txBody>
          <a:bodyPr wrap="square" lIns="0" tIns="0" rIns="0" bIns="0" rtlCol="0" anchor="ctr"/>
          <a:lstStyle/>
          <a:p>
            <a:pPr marL="0" indent="0">
              <a:buNone/>
            </a:pPr>
            <a:r>
              <a:rPr lang="en-US" sz="1180" dirty="0">
                <a:solidFill>
                  <a:srgbClr val="5F6B6D"/>
                </a:solidFill>
              </a:rPr>
              <a:t>Hiệu năng cao, ổn định, dễ lưu mô hình và dễ triển khai hơn một số phương án khác.</a:t>
            </a:r>
            <a:endParaRPr lang="en-US" sz="1180" dirty="0"/>
          </a:p>
        </p:txBody>
      </p:sp>
      <p:sp>
        <p:nvSpPr>
          <p:cNvPr id="15" name="Shape 13"/>
          <p:cNvSpPr/>
          <p:nvPr/>
        </p:nvSpPr>
        <p:spPr>
          <a:xfrm>
            <a:off x="749808" y="3429000"/>
            <a:ext cx="6035040" cy="713232"/>
          </a:xfrm>
          <a:prstGeom prst="roundRect">
            <a:avLst/>
          </a:prstGeom>
          <a:solidFill>
            <a:srgbClr val="F6F8F8"/>
          </a:solidFill>
          <a:ln w="12700">
            <a:solidFill>
              <a:srgbClr val="DFE7E8"/>
            </a:solidFill>
            <a:prstDash val="solid"/>
          </a:ln>
        </p:spPr>
        <p:txBody>
          <a:bodyPr/>
          <a:lstStyle/>
          <a:p>
            <a:endParaRPr lang="en-US"/>
          </a:p>
        </p:txBody>
      </p:sp>
      <p:sp>
        <p:nvSpPr>
          <p:cNvPr id="16" name="Text 14"/>
          <p:cNvSpPr/>
          <p:nvPr/>
        </p:nvSpPr>
        <p:spPr>
          <a:xfrm>
            <a:off x="950976" y="3630168"/>
            <a:ext cx="310896" cy="164592"/>
          </a:xfrm>
          <a:prstGeom prst="rect">
            <a:avLst/>
          </a:prstGeom>
          <a:noFill/>
          <a:ln/>
        </p:spPr>
        <p:txBody>
          <a:bodyPr wrap="square" lIns="0" tIns="0" rIns="0" bIns="0" rtlCol="0" anchor="ctr"/>
          <a:lstStyle/>
          <a:p>
            <a:pPr marL="0" indent="0">
              <a:buNone/>
            </a:pPr>
            <a:r>
              <a:rPr lang="en-US" sz="1200" b="1" dirty="0">
                <a:solidFill>
                  <a:srgbClr val="2BAE9B"/>
                </a:solidFill>
              </a:rPr>
              <a:t>03</a:t>
            </a:r>
            <a:endParaRPr lang="en-US" sz="1200" dirty="0"/>
          </a:p>
        </p:txBody>
      </p:sp>
      <p:sp>
        <p:nvSpPr>
          <p:cNvPr id="17" name="Text 15"/>
          <p:cNvSpPr/>
          <p:nvPr/>
        </p:nvSpPr>
        <p:spPr>
          <a:xfrm>
            <a:off x="1389888" y="3538728"/>
            <a:ext cx="3474720" cy="182880"/>
          </a:xfrm>
          <a:prstGeom prst="rect">
            <a:avLst/>
          </a:prstGeom>
          <a:noFill/>
          <a:ln/>
        </p:spPr>
        <p:txBody>
          <a:bodyPr wrap="square" lIns="0" tIns="0" rIns="0" bIns="0" rtlCol="0" anchor="ctr"/>
          <a:lstStyle/>
          <a:p>
            <a:pPr marL="0" indent="0">
              <a:buNone/>
            </a:pPr>
            <a:r>
              <a:rPr lang="en-US" sz="1420" b="1" dirty="0">
                <a:solidFill>
                  <a:srgbClr val="183B4E"/>
                </a:solidFill>
              </a:rPr>
              <a:t>Quy trình đúng quan trọng không kém điểm số</a:t>
            </a:r>
            <a:endParaRPr lang="en-US" sz="1420" dirty="0"/>
          </a:p>
        </p:txBody>
      </p:sp>
      <p:sp>
        <p:nvSpPr>
          <p:cNvPr id="18" name="Text 16"/>
          <p:cNvSpPr/>
          <p:nvPr/>
        </p:nvSpPr>
        <p:spPr>
          <a:xfrm>
            <a:off x="1389888" y="3776472"/>
            <a:ext cx="5029200" cy="201168"/>
          </a:xfrm>
          <a:prstGeom prst="rect">
            <a:avLst/>
          </a:prstGeom>
          <a:noFill/>
          <a:ln/>
        </p:spPr>
        <p:txBody>
          <a:bodyPr wrap="square" lIns="0" tIns="0" rIns="0" bIns="0" rtlCol="0" anchor="ctr"/>
          <a:lstStyle/>
          <a:p>
            <a:pPr marL="0" indent="0">
              <a:buNone/>
            </a:pPr>
            <a:r>
              <a:rPr lang="en-US" sz="1180" dirty="0">
                <a:solidFill>
                  <a:srgbClr val="5F6B6D"/>
                </a:solidFill>
              </a:rPr>
              <a:t>Dùng pipeline + stratified CV giúp tránh leakage và làm cho kết quả đáng tin hơn.</a:t>
            </a:r>
            <a:endParaRPr lang="en-US" sz="1180" dirty="0"/>
          </a:p>
        </p:txBody>
      </p:sp>
      <p:sp>
        <p:nvSpPr>
          <p:cNvPr id="19" name="Shape 17"/>
          <p:cNvSpPr/>
          <p:nvPr/>
        </p:nvSpPr>
        <p:spPr>
          <a:xfrm>
            <a:off x="7589520" y="1417320"/>
            <a:ext cx="3794760" cy="1143000"/>
          </a:xfrm>
          <a:prstGeom prst="roundRect">
            <a:avLst/>
          </a:prstGeom>
          <a:solidFill>
            <a:srgbClr val="E8F4F1"/>
          </a:solidFill>
          <a:ln w="12700">
            <a:solidFill>
              <a:srgbClr val="D2EAE3"/>
            </a:solidFill>
            <a:prstDash val="solid"/>
          </a:ln>
        </p:spPr>
        <p:txBody>
          <a:bodyPr/>
          <a:lstStyle/>
          <a:p>
            <a:endParaRPr lang="en-US"/>
          </a:p>
        </p:txBody>
      </p:sp>
      <p:sp>
        <p:nvSpPr>
          <p:cNvPr id="20" name="Text 18"/>
          <p:cNvSpPr/>
          <p:nvPr/>
        </p:nvSpPr>
        <p:spPr>
          <a:xfrm>
            <a:off x="7818120" y="1664208"/>
            <a:ext cx="1051560" cy="365760"/>
          </a:xfrm>
          <a:prstGeom prst="rect">
            <a:avLst/>
          </a:prstGeom>
          <a:noFill/>
          <a:ln/>
        </p:spPr>
        <p:txBody>
          <a:bodyPr wrap="square" lIns="0" tIns="0" rIns="0" bIns="0" rtlCol="0" anchor="ctr"/>
          <a:lstStyle/>
          <a:p>
            <a:pPr marL="0" indent="0">
              <a:buNone/>
            </a:pPr>
            <a:r>
              <a:rPr lang="en-US" sz="3000" b="1" dirty="0">
                <a:solidFill>
                  <a:srgbClr val="116466"/>
                </a:solidFill>
              </a:rPr>
              <a:t>0.98</a:t>
            </a:r>
            <a:endParaRPr lang="en-US" sz="3000" dirty="0"/>
          </a:p>
        </p:txBody>
      </p:sp>
      <p:sp>
        <p:nvSpPr>
          <p:cNvPr id="21" name="Text 19"/>
          <p:cNvSpPr/>
          <p:nvPr/>
        </p:nvSpPr>
        <p:spPr>
          <a:xfrm>
            <a:off x="8869680" y="1737360"/>
            <a:ext cx="2148840" cy="411480"/>
          </a:xfrm>
          <a:prstGeom prst="rect">
            <a:avLst/>
          </a:prstGeom>
          <a:noFill/>
          <a:ln/>
        </p:spPr>
        <p:txBody>
          <a:bodyPr wrap="square" lIns="0" tIns="0" rIns="0" bIns="0" rtlCol="0" anchor="ctr"/>
          <a:lstStyle/>
          <a:p>
            <a:pPr marL="0" indent="0">
              <a:buNone/>
            </a:pPr>
            <a:r>
              <a:rPr lang="en-US" sz="1320" b="1" dirty="0">
                <a:solidFill>
                  <a:srgbClr val="183B4E"/>
                </a:solidFill>
              </a:rPr>
              <a:t>Weighted F1 của mô hình</a:t>
            </a:r>
            <a:endParaRPr lang="en-US" sz="1320" dirty="0"/>
          </a:p>
          <a:p>
            <a:pPr marL="0" indent="0">
              <a:buNone/>
            </a:pPr>
            <a:r>
              <a:rPr lang="en-US" sz="1320" b="1" dirty="0">
                <a:solidFill>
                  <a:srgbClr val="183B4E"/>
                </a:solidFill>
              </a:rPr>
              <a:t>Random Forest tuned</a:t>
            </a:r>
            <a:endParaRPr lang="en-US" sz="1320" dirty="0"/>
          </a:p>
        </p:txBody>
      </p:sp>
      <p:sp>
        <p:nvSpPr>
          <p:cNvPr id="22" name="Text 20"/>
          <p:cNvSpPr/>
          <p:nvPr/>
        </p:nvSpPr>
        <p:spPr>
          <a:xfrm>
            <a:off x="7635240" y="2971800"/>
            <a:ext cx="2286000" cy="201168"/>
          </a:xfrm>
          <a:prstGeom prst="rect">
            <a:avLst/>
          </a:prstGeom>
          <a:noFill/>
          <a:ln/>
        </p:spPr>
        <p:txBody>
          <a:bodyPr wrap="square" lIns="0" tIns="0" rIns="0" bIns="0" rtlCol="0" anchor="ctr"/>
          <a:lstStyle/>
          <a:p>
            <a:pPr marL="0" indent="0">
              <a:buNone/>
            </a:pPr>
            <a:r>
              <a:rPr lang="en-US" sz="1650" b="1" dirty="0">
                <a:solidFill>
                  <a:srgbClr val="183B4E"/>
                </a:solidFill>
              </a:rPr>
              <a:t>Hướng phát triển tiếp theo</a:t>
            </a:r>
            <a:endParaRPr lang="en-US" sz="1650" dirty="0"/>
          </a:p>
        </p:txBody>
      </p:sp>
      <p:sp>
        <p:nvSpPr>
          <p:cNvPr id="23" name="Shape 21"/>
          <p:cNvSpPr/>
          <p:nvPr/>
        </p:nvSpPr>
        <p:spPr>
          <a:xfrm>
            <a:off x="7662672" y="3429000"/>
            <a:ext cx="73152" cy="73152"/>
          </a:xfrm>
          <a:prstGeom prst="ellipse">
            <a:avLst/>
          </a:prstGeom>
          <a:solidFill>
            <a:srgbClr val="2BAE9B"/>
          </a:solidFill>
          <a:ln w="12700">
            <a:solidFill>
              <a:srgbClr val="2BAE9B"/>
            </a:solidFill>
            <a:prstDash val="solid"/>
          </a:ln>
        </p:spPr>
        <p:txBody>
          <a:bodyPr/>
          <a:lstStyle/>
          <a:p>
            <a:endParaRPr lang="en-US"/>
          </a:p>
        </p:txBody>
      </p:sp>
      <p:sp>
        <p:nvSpPr>
          <p:cNvPr id="24" name="Text 22"/>
          <p:cNvSpPr/>
          <p:nvPr/>
        </p:nvSpPr>
        <p:spPr>
          <a:xfrm>
            <a:off x="7808976" y="3337560"/>
            <a:ext cx="3474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Thử repeated stratified CV để đánh giá kỹ hơn.</a:t>
            </a:r>
            <a:endParaRPr lang="en-US" sz="1280" dirty="0"/>
          </a:p>
        </p:txBody>
      </p:sp>
      <p:sp>
        <p:nvSpPr>
          <p:cNvPr id="25" name="Shape 23"/>
          <p:cNvSpPr/>
          <p:nvPr/>
        </p:nvSpPr>
        <p:spPr>
          <a:xfrm>
            <a:off x="7662672" y="3831336"/>
            <a:ext cx="73152" cy="73152"/>
          </a:xfrm>
          <a:prstGeom prst="ellipse">
            <a:avLst/>
          </a:prstGeom>
          <a:solidFill>
            <a:srgbClr val="2BAE9B"/>
          </a:solidFill>
          <a:ln w="12700">
            <a:solidFill>
              <a:srgbClr val="2BAE9B"/>
            </a:solidFill>
            <a:prstDash val="solid"/>
          </a:ln>
        </p:spPr>
        <p:txBody>
          <a:bodyPr/>
          <a:lstStyle/>
          <a:p>
            <a:endParaRPr lang="en-US"/>
          </a:p>
        </p:txBody>
      </p:sp>
      <p:sp>
        <p:nvSpPr>
          <p:cNvPr id="26" name="Text 24"/>
          <p:cNvSpPr/>
          <p:nvPr/>
        </p:nvSpPr>
        <p:spPr>
          <a:xfrm>
            <a:off x="7808976" y="3739896"/>
            <a:ext cx="3474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Phân tích feature importance hoặc SHAP.</a:t>
            </a:r>
            <a:endParaRPr lang="en-US" sz="1280" dirty="0"/>
          </a:p>
        </p:txBody>
      </p:sp>
      <p:sp>
        <p:nvSpPr>
          <p:cNvPr id="27" name="Shape 25"/>
          <p:cNvSpPr/>
          <p:nvPr/>
        </p:nvSpPr>
        <p:spPr>
          <a:xfrm>
            <a:off x="7662672" y="4233672"/>
            <a:ext cx="73152" cy="73152"/>
          </a:xfrm>
          <a:prstGeom prst="ellipse">
            <a:avLst/>
          </a:prstGeom>
          <a:solidFill>
            <a:srgbClr val="2BAE9B"/>
          </a:solidFill>
          <a:ln w="12700">
            <a:solidFill>
              <a:srgbClr val="2BAE9B"/>
            </a:solidFill>
            <a:prstDash val="solid"/>
          </a:ln>
        </p:spPr>
        <p:txBody>
          <a:bodyPr/>
          <a:lstStyle/>
          <a:p>
            <a:endParaRPr lang="en-US"/>
          </a:p>
        </p:txBody>
      </p:sp>
      <p:sp>
        <p:nvSpPr>
          <p:cNvPr id="28" name="Text 26"/>
          <p:cNvSpPr/>
          <p:nvPr/>
        </p:nvSpPr>
        <p:spPr>
          <a:xfrm>
            <a:off x="7808976" y="4142232"/>
            <a:ext cx="3474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Hiệu chỉnh xác suất (probability calibration).</a:t>
            </a:r>
            <a:endParaRPr lang="en-US" sz="1280" dirty="0"/>
          </a:p>
        </p:txBody>
      </p:sp>
      <p:sp>
        <p:nvSpPr>
          <p:cNvPr id="29" name="Shape 27"/>
          <p:cNvSpPr/>
          <p:nvPr/>
        </p:nvSpPr>
        <p:spPr>
          <a:xfrm>
            <a:off x="7662672" y="4636008"/>
            <a:ext cx="73152" cy="73152"/>
          </a:xfrm>
          <a:prstGeom prst="ellipse">
            <a:avLst/>
          </a:prstGeom>
          <a:solidFill>
            <a:srgbClr val="2BAE9B"/>
          </a:solidFill>
          <a:ln w="12700">
            <a:solidFill>
              <a:srgbClr val="2BAE9B"/>
            </a:solidFill>
            <a:prstDash val="solid"/>
          </a:ln>
        </p:spPr>
        <p:txBody>
          <a:bodyPr/>
          <a:lstStyle/>
          <a:p>
            <a:endParaRPr lang="en-US"/>
          </a:p>
        </p:txBody>
      </p:sp>
      <p:sp>
        <p:nvSpPr>
          <p:cNvPr id="30" name="Text 28"/>
          <p:cNvSpPr/>
          <p:nvPr/>
        </p:nvSpPr>
        <p:spPr>
          <a:xfrm>
            <a:off x="7808976" y="4544568"/>
            <a:ext cx="3474720" cy="228600"/>
          </a:xfrm>
          <a:prstGeom prst="rect">
            <a:avLst/>
          </a:prstGeom>
          <a:noFill/>
          <a:ln/>
        </p:spPr>
        <p:txBody>
          <a:bodyPr wrap="square" lIns="0" tIns="0" rIns="0" bIns="0" rtlCol="0" anchor="ctr"/>
          <a:lstStyle/>
          <a:p>
            <a:pPr marL="0" indent="0">
              <a:buNone/>
            </a:pPr>
            <a:r>
              <a:rPr lang="en-US" sz="1280" dirty="0">
                <a:solidFill>
                  <a:srgbClr val="183B4E"/>
                </a:solidFill>
                <a:latin typeface="Arial" pitchFamily="34" charset="0"/>
                <a:ea typeface="Arial" pitchFamily="34" charset="-122"/>
                <a:cs typeface="Arial" pitchFamily="34" charset="-120"/>
              </a:rPr>
              <a:t>Kiểm định trên dữ liệu ngoài mẫu hoặc dữ liệu bệnh viện thực tế.</a:t>
            </a:r>
            <a:endParaRPr lang="en-US" sz="1280" dirty="0"/>
          </a:p>
        </p:txBody>
      </p:sp>
      <p:sp>
        <p:nvSpPr>
          <p:cNvPr id="31" name="Text 29"/>
          <p:cNvSpPr/>
          <p:nvPr/>
        </p:nvSpPr>
        <p:spPr>
          <a:xfrm>
            <a:off x="9144000" y="5989320"/>
            <a:ext cx="1920240" cy="237744"/>
          </a:xfrm>
          <a:prstGeom prst="rect">
            <a:avLst/>
          </a:prstGeom>
          <a:noFill/>
          <a:ln/>
        </p:spPr>
        <p:txBody>
          <a:bodyPr wrap="square" lIns="0" tIns="0" rIns="0" bIns="0" rtlCol="0" anchor="ctr"/>
          <a:lstStyle/>
          <a:p>
            <a:pPr marL="0" indent="0">
              <a:buNone/>
            </a:pPr>
            <a:r>
              <a:rPr lang="en-US" sz="2000" b="1" dirty="0">
                <a:solidFill>
                  <a:srgbClr val="116466"/>
                </a:solidFill>
              </a:rPr>
              <a:t>Xin cảm ơn!</a:t>
            </a:r>
            <a:endParaRPr lang="en-US" sz="2000" dirty="0"/>
          </a:p>
        </p:txBody>
      </p:sp>
      <p:sp>
        <p:nvSpPr>
          <p:cNvPr id="32" name="Text 30"/>
          <p:cNvSpPr/>
          <p:nvPr/>
        </p:nvSpPr>
        <p:spPr>
          <a:xfrm>
            <a:off x="438912" y="6510528"/>
            <a:ext cx="4389120" cy="146304"/>
          </a:xfrm>
          <a:prstGeom prst="rect">
            <a:avLst/>
          </a:prstGeom>
          <a:noFill/>
          <a:ln/>
        </p:spPr>
        <p:txBody>
          <a:bodyPr wrap="square" lIns="0" tIns="0" rIns="0" bIns="0" rtlCol="0" anchor="ctr"/>
          <a:lstStyle/>
          <a:p>
            <a:pPr marL="0" indent="0">
              <a:buNone/>
            </a:pPr>
            <a:r>
              <a:rPr lang="en-US" sz="750" dirty="0">
                <a:solidFill>
                  <a:srgbClr val="7A8688"/>
                </a:solidFill>
                <a:latin typeface="Arial" pitchFamily="34" charset="0"/>
                <a:ea typeface="Arial" pitchFamily="34" charset="-122"/>
                <a:cs typeface="Arial" pitchFamily="34" charset="-120"/>
              </a:rPr>
              <a:t>Thyroid Gland Classification • Artificial Intelligence</a:t>
            </a:r>
            <a:endParaRPr lang="en-US" sz="750" dirty="0"/>
          </a:p>
        </p:txBody>
      </p:sp>
      <p:sp>
        <p:nvSpPr>
          <p:cNvPr id="33" name="Text 31"/>
          <p:cNvSpPr/>
          <p:nvPr/>
        </p:nvSpPr>
        <p:spPr>
          <a:xfrm>
            <a:off x="11475720" y="6492240"/>
            <a:ext cx="274320" cy="146304"/>
          </a:xfrm>
          <a:prstGeom prst="rect">
            <a:avLst/>
          </a:prstGeom>
          <a:noFill/>
          <a:ln/>
        </p:spPr>
        <p:txBody>
          <a:bodyPr wrap="square" lIns="0" tIns="0" rIns="0" bIns="0" rtlCol="0" anchor="ctr"/>
          <a:lstStyle/>
          <a:p>
            <a:pPr marL="0" indent="0" algn="r">
              <a:buNone/>
            </a:pPr>
            <a:r>
              <a:rPr lang="en-US" sz="750" dirty="0">
                <a:solidFill>
                  <a:srgbClr val="7A8688"/>
                </a:solidFill>
                <a:latin typeface="Arial" pitchFamily="34" charset="0"/>
                <a:ea typeface="Arial" pitchFamily="34" charset="-122"/>
                <a:cs typeface="Arial" pitchFamily="34" charset="-120"/>
              </a:rPr>
              <a:t>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1821</Words>
  <Application>Microsoft Office PowerPoint</Application>
  <PresentationFormat>Widescreen</PresentationFormat>
  <Paragraphs>266</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lớp dữ liệu Thyroid Gland</dc:title>
  <dc:subject>AI Final Project - Thyroid Gland Classification</dc:subject>
  <dc:creator>OpenAI</dc:creator>
  <cp:lastModifiedBy>Nguyễn Khải Hoàn Ca</cp:lastModifiedBy>
  <cp:revision>2</cp:revision>
  <dcterms:created xsi:type="dcterms:W3CDTF">2026-04-05T05:34:33Z</dcterms:created>
  <dcterms:modified xsi:type="dcterms:W3CDTF">2026-04-05T05:41:29Z</dcterms:modified>
</cp:coreProperties>
</file>